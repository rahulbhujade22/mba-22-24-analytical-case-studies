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8" r:id="rId2"/>
  </p:sldMasterIdLst>
  <p:sldIdLst>
    <p:sldId id="257" r:id="rId3"/>
    <p:sldId id="299" r:id="rId4"/>
    <p:sldId id="302" r:id="rId5"/>
    <p:sldId id="306" r:id="rId6"/>
    <p:sldId id="294" r:id="rId7"/>
    <p:sldId id="267" r:id="rId8"/>
    <p:sldId id="268" r:id="rId9"/>
    <p:sldId id="266" r:id="rId10"/>
    <p:sldId id="269" r:id="rId11"/>
    <p:sldId id="270" r:id="rId12"/>
    <p:sldId id="293" r:id="rId13"/>
    <p:sldId id="271" r:id="rId14"/>
    <p:sldId id="305" r:id="rId15"/>
    <p:sldId id="273" r:id="rId16"/>
    <p:sldId id="274" r:id="rId17"/>
    <p:sldId id="276" r:id="rId18"/>
    <p:sldId id="279" r:id="rId19"/>
    <p:sldId id="291" r:id="rId20"/>
    <p:sldId id="281" r:id="rId21"/>
    <p:sldId id="282" r:id="rId22"/>
    <p:sldId id="292" r:id="rId23"/>
    <p:sldId id="286" r:id="rId24"/>
    <p:sldId id="288" r:id="rId25"/>
    <p:sldId id="300" r:id="rId26"/>
    <p:sldId id="30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0585C2-CC52-079E-BFDD-4D0403A1957F}" v="50" dt="2023-01-30T19:54:13.449"/>
    <p1510:client id="{45092477-3A8C-85A5-6E86-84DF4D32AB40}" v="145" dt="2023-01-31T15:31:00.633"/>
    <p1510:client id="{7F55939F-4D3A-9EB0-EFB9-E56FC67B8E65}" v="24" dt="2023-01-31T15:42:10.315"/>
    <p1510:client id="{8AC7C8C1-CF6C-3C77-1929-47408BAC623A}" v="2" dt="2023-01-30T17:46:05.281"/>
    <p1510:client id="{902B0AE9-C28C-44B6-19FF-FAA1C39F07C0}" v="85" dt="2023-01-31T15:43:35.953"/>
    <p1510:client id="{A59FAAA1-6402-820D-4F05-7F3D6EF1F38E}" v="52" dt="2023-01-30T18:57:28.494"/>
    <p1510:client id="{AD737DA2-47A4-5C0B-DF5B-4A9422B7892F}" v="281" dt="2023-01-30T21:05:09.255"/>
    <p1510:client id="{D06D2291-6F38-6C83-B07B-5C315A152A06}" v="7" dt="2023-01-31T14:31:41.706"/>
    <p1510:client id="{E079FE28-A843-FADA-3FF9-F954F2D72119}" v="1" dt="2023-01-31T10:15:48.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heme" Target="theme/theme1.xml"/></Relationships>
</file>

<file path=ppt/diagrams/_rels/data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0CE288-3898-4389-9CE7-DE35BBF72098}"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90E0E0B0-AF86-436F-9721-EF81D2975A05}">
      <dgm:prSet/>
      <dgm:spPr/>
      <dgm:t>
        <a:bodyPr/>
        <a:lstStyle/>
        <a:p>
          <a:r>
            <a:rPr lang="en-US"/>
            <a:t>L</a:t>
          </a:r>
          <a:r>
            <a:rPr lang="en-US" b="1"/>
            <a:t>ack of education and skills:</a:t>
          </a:r>
          <a:r>
            <a:rPr lang="en-US"/>
            <a:t> Many women in rural areas do not have the education or skills necessary to secure formal employment</a:t>
          </a:r>
        </a:p>
      </dgm:t>
    </dgm:pt>
    <dgm:pt modelId="{94D4DADF-A403-41B7-A6DE-DFF869A4D95A}" type="parTrans" cxnId="{33A11CC5-1C32-4629-8202-2667597B311B}">
      <dgm:prSet/>
      <dgm:spPr/>
      <dgm:t>
        <a:bodyPr/>
        <a:lstStyle/>
        <a:p>
          <a:endParaRPr lang="en-US"/>
        </a:p>
      </dgm:t>
    </dgm:pt>
    <dgm:pt modelId="{A7F938BD-79E7-46EF-8444-C01554700D1A}" type="sibTrans" cxnId="{33A11CC5-1C32-4629-8202-2667597B311B}">
      <dgm:prSet/>
      <dgm:spPr/>
      <dgm:t>
        <a:bodyPr/>
        <a:lstStyle/>
        <a:p>
          <a:endParaRPr lang="en-US"/>
        </a:p>
      </dgm:t>
    </dgm:pt>
    <dgm:pt modelId="{5D0A1BD2-BD09-448C-9FAE-5AB7B1EA33B0}">
      <dgm:prSet/>
      <dgm:spPr/>
      <dgm:t>
        <a:bodyPr/>
        <a:lstStyle/>
        <a:p>
          <a:r>
            <a:rPr lang="en-US" b="1"/>
            <a:t>Social and cultural norms</a:t>
          </a:r>
          <a:r>
            <a:rPr lang="en-US"/>
            <a:t>: Traditional gender roles and cultural norms can limit women's opportunities for employment, particularly in more conservative communities</a:t>
          </a:r>
        </a:p>
      </dgm:t>
    </dgm:pt>
    <dgm:pt modelId="{B8F674AD-7D32-4FFB-83D9-066FA17ECD51}" type="parTrans" cxnId="{255BC2CB-92BF-4769-A429-AEA8C36D75C2}">
      <dgm:prSet/>
      <dgm:spPr/>
      <dgm:t>
        <a:bodyPr/>
        <a:lstStyle/>
        <a:p>
          <a:endParaRPr lang="en-US"/>
        </a:p>
      </dgm:t>
    </dgm:pt>
    <dgm:pt modelId="{426CBD25-30FD-4871-A0C5-28123F942B6F}" type="sibTrans" cxnId="{255BC2CB-92BF-4769-A429-AEA8C36D75C2}">
      <dgm:prSet/>
      <dgm:spPr/>
      <dgm:t>
        <a:bodyPr/>
        <a:lstStyle/>
        <a:p>
          <a:endParaRPr lang="en-US"/>
        </a:p>
      </dgm:t>
    </dgm:pt>
    <dgm:pt modelId="{EED5A552-B947-42FF-BD0F-3525AD87B9FD}">
      <dgm:prSet/>
      <dgm:spPr/>
      <dgm:t>
        <a:bodyPr/>
        <a:lstStyle/>
        <a:p>
          <a:r>
            <a:rPr lang="en-US" b="1"/>
            <a:t>Lack of infrastructure and transportation</a:t>
          </a:r>
          <a:r>
            <a:rPr lang="en-US"/>
            <a:t>: Rural areas often lack the infrastructure and transportation necessary to support formal employment, making it difficult for women to access job opportunities</a:t>
          </a:r>
        </a:p>
      </dgm:t>
    </dgm:pt>
    <dgm:pt modelId="{777FE5C7-0F9E-4E18-BB6E-43CDF5027A15}" type="parTrans" cxnId="{257F1742-1E8A-4093-AECF-856724DC979E}">
      <dgm:prSet/>
      <dgm:spPr/>
      <dgm:t>
        <a:bodyPr/>
        <a:lstStyle/>
        <a:p>
          <a:endParaRPr lang="en-US"/>
        </a:p>
      </dgm:t>
    </dgm:pt>
    <dgm:pt modelId="{0C33D2EF-1E2B-48C9-961D-5FF2057C1DD9}" type="sibTrans" cxnId="{257F1742-1E8A-4093-AECF-856724DC979E}">
      <dgm:prSet/>
      <dgm:spPr/>
      <dgm:t>
        <a:bodyPr/>
        <a:lstStyle/>
        <a:p>
          <a:endParaRPr lang="en-US"/>
        </a:p>
      </dgm:t>
    </dgm:pt>
    <dgm:pt modelId="{88C032BB-3603-4277-BA7C-EC975F566800}">
      <dgm:prSet/>
      <dgm:spPr/>
      <dgm:t>
        <a:bodyPr/>
        <a:lstStyle/>
        <a:p>
          <a:r>
            <a:rPr lang="en-US" b="1"/>
            <a:t>Limited access to credit and financial resources:</a:t>
          </a:r>
          <a:r>
            <a:rPr lang="en-US"/>
            <a:t> Women in rural areas may have limited access to the credit and financial resources necessary to start or expand a business</a:t>
          </a:r>
        </a:p>
      </dgm:t>
    </dgm:pt>
    <dgm:pt modelId="{697AF8A5-9A29-4346-A4FA-3311229DE79D}" type="parTrans" cxnId="{DCCE8220-F61D-423A-B107-9741EE81F0CC}">
      <dgm:prSet/>
      <dgm:spPr/>
      <dgm:t>
        <a:bodyPr/>
        <a:lstStyle/>
        <a:p>
          <a:endParaRPr lang="en-US"/>
        </a:p>
      </dgm:t>
    </dgm:pt>
    <dgm:pt modelId="{8701C56E-00DC-4D5D-A6E7-333479FCACDF}" type="sibTrans" cxnId="{DCCE8220-F61D-423A-B107-9741EE81F0CC}">
      <dgm:prSet/>
      <dgm:spPr/>
      <dgm:t>
        <a:bodyPr/>
        <a:lstStyle/>
        <a:p>
          <a:endParaRPr lang="en-US"/>
        </a:p>
      </dgm:t>
    </dgm:pt>
    <dgm:pt modelId="{B3EB0426-19F6-49DD-841C-BF9C1C383E6A}" type="pres">
      <dgm:prSet presAssocID="{450CE288-3898-4389-9CE7-DE35BBF72098}" presName="vert0" presStyleCnt="0">
        <dgm:presLayoutVars>
          <dgm:dir/>
          <dgm:animOne val="branch"/>
          <dgm:animLvl val="lvl"/>
        </dgm:presLayoutVars>
      </dgm:prSet>
      <dgm:spPr/>
    </dgm:pt>
    <dgm:pt modelId="{045E42D2-507B-4C91-A8F4-032F096B6CEB}" type="pres">
      <dgm:prSet presAssocID="{90E0E0B0-AF86-436F-9721-EF81D2975A05}" presName="thickLine" presStyleLbl="alignNode1" presStyleIdx="0" presStyleCnt="4"/>
      <dgm:spPr/>
    </dgm:pt>
    <dgm:pt modelId="{C09DF4FA-9828-4500-A00B-161C3105D5E8}" type="pres">
      <dgm:prSet presAssocID="{90E0E0B0-AF86-436F-9721-EF81D2975A05}" presName="horz1" presStyleCnt="0"/>
      <dgm:spPr/>
    </dgm:pt>
    <dgm:pt modelId="{1D572E70-703D-419A-BD34-D5A72A56A33A}" type="pres">
      <dgm:prSet presAssocID="{90E0E0B0-AF86-436F-9721-EF81D2975A05}" presName="tx1" presStyleLbl="revTx" presStyleIdx="0" presStyleCnt="4"/>
      <dgm:spPr/>
    </dgm:pt>
    <dgm:pt modelId="{A511894F-9686-49D1-98BB-0E0E9DE10D63}" type="pres">
      <dgm:prSet presAssocID="{90E0E0B0-AF86-436F-9721-EF81D2975A05}" presName="vert1" presStyleCnt="0"/>
      <dgm:spPr/>
    </dgm:pt>
    <dgm:pt modelId="{21D98414-8695-4D53-90E3-0F2DAA60AEB1}" type="pres">
      <dgm:prSet presAssocID="{5D0A1BD2-BD09-448C-9FAE-5AB7B1EA33B0}" presName="thickLine" presStyleLbl="alignNode1" presStyleIdx="1" presStyleCnt="4"/>
      <dgm:spPr/>
    </dgm:pt>
    <dgm:pt modelId="{7FDCC872-C73C-4476-B9B2-A1538F2AC8BB}" type="pres">
      <dgm:prSet presAssocID="{5D0A1BD2-BD09-448C-9FAE-5AB7B1EA33B0}" presName="horz1" presStyleCnt="0"/>
      <dgm:spPr/>
    </dgm:pt>
    <dgm:pt modelId="{6B317816-3243-4054-AFA8-04E919D73534}" type="pres">
      <dgm:prSet presAssocID="{5D0A1BD2-BD09-448C-9FAE-5AB7B1EA33B0}" presName="tx1" presStyleLbl="revTx" presStyleIdx="1" presStyleCnt="4"/>
      <dgm:spPr/>
    </dgm:pt>
    <dgm:pt modelId="{747828D7-6066-42A9-8691-91029139B79E}" type="pres">
      <dgm:prSet presAssocID="{5D0A1BD2-BD09-448C-9FAE-5AB7B1EA33B0}" presName="vert1" presStyleCnt="0"/>
      <dgm:spPr/>
    </dgm:pt>
    <dgm:pt modelId="{1A465ACE-D7E3-421B-9B13-96C08DE7BA1E}" type="pres">
      <dgm:prSet presAssocID="{EED5A552-B947-42FF-BD0F-3525AD87B9FD}" presName="thickLine" presStyleLbl="alignNode1" presStyleIdx="2" presStyleCnt="4"/>
      <dgm:spPr/>
    </dgm:pt>
    <dgm:pt modelId="{3FAF628B-F9BF-424A-AE40-0E5881D8B724}" type="pres">
      <dgm:prSet presAssocID="{EED5A552-B947-42FF-BD0F-3525AD87B9FD}" presName="horz1" presStyleCnt="0"/>
      <dgm:spPr/>
    </dgm:pt>
    <dgm:pt modelId="{3CE29C09-713A-428B-9C14-DD10898AE216}" type="pres">
      <dgm:prSet presAssocID="{EED5A552-B947-42FF-BD0F-3525AD87B9FD}" presName="tx1" presStyleLbl="revTx" presStyleIdx="2" presStyleCnt="4"/>
      <dgm:spPr/>
    </dgm:pt>
    <dgm:pt modelId="{E927BA6E-37CB-4192-99C5-2EA34DD4C761}" type="pres">
      <dgm:prSet presAssocID="{EED5A552-B947-42FF-BD0F-3525AD87B9FD}" presName="vert1" presStyleCnt="0"/>
      <dgm:spPr/>
    </dgm:pt>
    <dgm:pt modelId="{27807E9C-F94E-4DF2-AD3A-957D51FF1BC1}" type="pres">
      <dgm:prSet presAssocID="{88C032BB-3603-4277-BA7C-EC975F566800}" presName="thickLine" presStyleLbl="alignNode1" presStyleIdx="3" presStyleCnt="4"/>
      <dgm:spPr/>
    </dgm:pt>
    <dgm:pt modelId="{D7460D53-0C4D-49E3-AFD7-F437CD8669E0}" type="pres">
      <dgm:prSet presAssocID="{88C032BB-3603-4277-BA7C-EC975F566800}" presName="horz1" presStyleCnt="0"/>
      <dgm:spPr/>
    </dgm:pt>
    <dgm:pt modelId="{6C706C28-A67A-4CEE-BEA8-69005F64BCAF}" type="pres">
      <dgm:prSet presAssocID="{88C032BB-3603-4277-BA7C-EC975F566800}" presName="tx1" presStyleLbl="revTx" presStyleIdx="3" presStyleCnt="4"/>
      <dgm:spPr/>
    </dgm:pt>
    <dgm:pt modelId="{427147BC-28E5-457D-BC1A-FA82DA9A0164}" type="pres">
      <dgm:prSet presAssocID="{88C032BB-3603-4277-BA7C-EC975F566800}" presName="vert1" presStyleCnt="0"/>
      <dgm:spPr/>
    </dgm:pt>
  </dgm:ptLst>
  <dgm:cxnLst>
    <dgm:cxn modelId="{DCCE8220-F61D-423A-B107-9741EE81F0CC}" srcId="{450CE288-3898-4389-9CE7-DE35BBF72098}" destId="{88C032BB-3603-4277-BA7C-EC975F566800}" srcOrd="3" destOrd="0" parTransId="{697AF8A5-9A29-4346-A4FA-3311229DE79D}" sibTransId="{8701C56E-00DC-4D5D-A6E7-333479FCACDF}"/>
    <dgm:cxn modelId="{E69F5C34-4BEA-4489-A8A8-4669B943D48D}" type="presOf" srcId="{90E0E0B0-AF86-436F-9721-EF81D2975A05}" destId="{1D572E70-703D-419A-BD34-D5A72A56A33A}" srcOrd="0" destOrd="0" presId="urn:microsoft.com/office/officeart/2008/layout/LinedList"/>
    <dgm:cxn modelId="{257F1742-1E8A-4093-AECF-856724DC979E}" srcId="{450CE288-3898-4389-9CE7-DE35BBF72098}" destId="{EED5A552-B947-42FF-BD0F-3525AD87B9FD}" srcOrd="2" destOrd="0" parTransId="{777FE5C7-0F9E-4E18-BB6E-43CDF5027A15}" sibTransId="{0C33D2EF-1E2B-48C9-961D-5FF2057C1DD9}"/>
    <dgm:cxn modelId="{DBD65279-036F-4882-BC8A-EA58600090E8}" type="presOf" srcId="{88C032BB-3603-4277-BA7C-EC975F566800}" destId="{6C706C28-A67A-4CEE-BEA8-69005F64BCAF}" srcOrd="0" destOrd="0" presId="urn:microsoft.com/office/officeart/2008/layout/LinedList"/>
    <dgm:cxn modelId="{C982888F-6425-4539-9836-A3BA494CFAB2}" type="presOf" srcId="{EED5A552-B947-42FF-BD0F-3525AD87B9FD}" destId="{3CE29C09-713A-428B-9C14-DD10898AE216}" srcOrd="0" destOrd="0" presId="urn:microsoft.com/office/officeart/2008/layout/LinedList"/>
    <dgm:cxn modelId="{1A17FAC0-B128-4915-9CBB-571BF8F413A9}" type="presOf" srcId="{5D0A1BD2-BD09-448C-9FAE-5AB7B1EA33B0}" destId="{6B317816-3243-4054-AFA8-04E919D73534}" srcOrd="0" destOrd="0" presId="urn:microsoft.com/office/officeart/2008/layout/LinedList"/>
    <dgm:cxn modelId="{2C5D58C4-DBDD-4ACA-9ED4-1C096282F30B}" type="presOf" srcId="{450CE288-3898-4389-9CE7-DE35BBF72098}" destId="{B3EB0426-19F6-49DD-841C-BF9C1C383E6A}" srcOrd="0" destOrd="0" presId="urn:microsoft.com/office/officeart/2008/layout/LinedList"/>
    <dgm:cxn modelId="{33A11CC5-1C32-4629-8202-2667597B311B}" srcId="{450CE288-3898-4389-9CE7-DE35BBF72098}" destId="{90E0E0B0-AF86-436F-9721-EF81D2975A05}" srcOrd="0" destOrd="0" parTransId="{94D4DADF-A403-41B7-A6DE-DFF869A4D95A}" sibTransId="{A7F938BD-79E7-46EF-8444-C01554700D1A}"/>
    <dgm:cxn modelId="{255BC2CB-92BF-4769-A429-AEA8C36D75C2}" srcId="{450CE288-3898-4389-9CE7-DE35BBF72098}" destId="{5D0A1BD2-BD09-448C-9FAE-5AB7B1EA33B0}" srcOrd="1" destOrd="0" parTransId="{B8F674AD-7D32-4FFB-83D9-066FA17ECD51}" sibTransId="{426CBD25-30FD-4871-A0C5-28123F942B6F}"/>
    <dgm:cxn modelId="{A818C12F-9F3F-4DB9-A77A-4E598A9E8D27}" type="presParOf" srcId="{B3EB0426-19F6-49DD-841C-BF9C1C383E6A}" destId="{045E42D2-507B-4C91-A8F4-032F096B6CEB}" srcOrd="0" destOrd="0" presId="urn:microsoft.com/office/officeart/2008/layout/LinedList"/>
    <dgm:cxn modelId="{A032030E-919B-4724-8F7F-828CB63B63CB}" type="presParOf" srcId="{B3EB0426-19F6-49DD-841C-BF9C1C383E6A}" destId="{C09DF4FA-9828-4500-A00B-161C3105D5E8}" srcOrd="1" destOrd="0" presId="urn:microsoft.com/office/officeart/2008/layout/LinedList"/>
    <dgm:cxn modelId="{F73CD3D4-0D65-4852-A516-5C8ABEE9313B}" type="presParOf" srcId="{C09DF4FA-9828-4500-A00B-161C3105D5E8}" destId="{1D572E70-703D-419A-BD34-D5A72A56A33A}" srcOrd="0" destOrd="0" presId="urn:microsoft.com/office/officeart/2008/layout/LinedList"/>
    <dgm:cxn modelId="{A5428212-5F00-45AA-B755-1DF4C0E94BED}" type="presParOf" srcId="{C09DF4FA-9828-4500-A00B-161C3105D5E8}" destId="{A511894F-9686-49D1-98BB-0E0E9DE10D63}" srcOrd="1" destOrd="0" presId="urn:microsoft.com/office/officeart/2008/layout/LinedList"/>
    <dgm:cxn modelId="{40E6DCFB-5688-427E-83DB-FD93AB92EA20}" type="presParOf" srcId="{B3EB0426-19F6-49DD-841C-BF9C1C383E6A}" destId="{21D98414-8695-4D53-90E3-0F2DAA60AEB1}" srcOrd="2" destOrd="0" presId="urn:microsoft.com/office/officeart/2008/layout/LinedList"/>
    <dgm:cxn modelId="{C7C7C9B9-BAC1-4CD8-831E-ECA12C18E40E}" type="presParOf" srcId="{B3EB0426-19F6-49DD-841C-BF9C1C383E6A}" destId="{7FDCC872-C73C-4476-B9B2-A1538F2AC8BB}" srcOrd="3" destOrd="0" presId="urn:microsoft.com/office/officeart/2008/layout/LinedList"/>
    <dgm:cxn modelId="{44D244A7-6549-46D7-9F12-2A1CADF53FEA}" type="presParOf" srcId="{7FDCC872-C73C-4476-B9B2-A1538F2AC8BB}" destId="{6B317816-3243-4054-AFA8-04E919D73534}" srcOrd="0" destOrd="0" presId="urn:microsoft.com/office/officeart/2008/layout/LinedList"/>
    <dgm:cxn modelId="{112D76E5-AB01-400C-B38E-A42BED3DB5F7}" type="presParOf" srcId="{7FDCC872-C73C-4476-B9B2-A1538F2AC8BB}" destId="{747828D7-6066-42A9-8691-91029139B79E}" srcOrd="1" destOrd="0" presId="urn:microsoft.com/office/officeart/2008/layout/LinedList"/>
    <dgm:cxn modelId="{3E04BEB2-DE5D-4F24-9D3E-3B1CEAAD4995}" type="presParOf" srcId="{B3EB0426-19F6-49DD-841C-BF9C1C383E6A}" destId="{1A465ACE-D7E3-421B-9B13-96C08DE7BA1E}" srcOrd="4" destOrd="0" presId="urn:microsoft.com/office/officeart/2008/layout/LinedList"/>
    <dgm:cxn modelId="{8F7AD093-09DA-41FE-BDB2-E84481CBA19C}" type="presParOf" srcId="{B3EB0426-19F6-49DD-841C-BF9C1C383E6A}" destId="{3FAF628B-F9BF-424A-AE40-0E5881D8B724}" srcOrd="5" destOrd="0" presId="urn:microsoft.com/office/officeart/2008/layout/LinedList"/>
    <dgm:cxn modelId="{880FA745-5DD4-47B6-8E83-E22BE8447D1B}" type="presParOf" srcId="{3FAF628B-F9BF-424A-AE40-0E5881D8B724}" destId="{3CE29C09-713A-428B-9C14-DD10898AE216}" srcOrd="0" destOrd="0" presId="urn:microsoft.com/office/officeart/2008/layout/LinedList"/>
    <dgm:cxn modelId="{8C052A89-81CB-4674-9A4E-1787F678D4CD}" type="presParOf" srcId="{3FAF628B-F9BF-424A-AE40-0E5881D8B724}" destId="{E927BA6E-37CB-4192-99C5-2EA34DD4C761}" srcOrd="1" destOrd="0" presId="urn:microsoft.com/office/officeart/2008/layout/LinedList"/>
    <dgm:cxn modelId="{14C7CA2F-703A-4CF9-90A2-671A20866879}" type="presParOf" srcId="{B3EB0426-19F6-49DD-841C-BF9C1C383E6A}" destId="{27807E9C-F94E-4DF2-AD3A-957D51FF1BC1}" srcOrd="6" destOrd="0" presId="urn:microsoft.com/office/officeart/2008/layout/LinedList"/>
    <dgm:cxn modelId="{E42030AA-B1B3-4E00-B71D-6696984F1778}" type="presParOf" srcId="{B3EB0426-19F6-49DD-841C-BF9C1C383E6A}" destId="{D7460D53-0C4D-49E3-AFD7-F437CD8669E0}" srcOrd="7" destOrd="0" presId="urn:microsoft.com/office/officeart/2008/layout/LinedList"/>
    <dgm:cxn modelId="{6009715E-57A4-46A0-B28D-6328F9D7C40B}" type="presParOf" srcId="{D7460D53-0C4D-49E3-AFD7-F437CD8669E0}" destId="{6C706C28-A67A-4CEE-BEA8-69005F64BCAF}" srcOrd="0" destOrd="0" presId="urn:microsoft.com/office/officeart/2008/layout/LinedList"/>
    <dgm:cxn modelId="{87574CBD-081B-4687-B7BD-B7D25D84A917}" type="presParOf" srcId="{D7460D53-0C4D-49E3-AFD7-F437CD8669E0}" destId="{427147BC-28E5-457D-BC1A-FA82DA9A016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43D028-6C9E-4D32-86F8-4A91FEB633F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C4F8286-FB11-4F35-AA7A-EB93CA359305}">
      <dgm:prSet/>
      <dgm:spPr/>
      <dgm:t>
        <a:bodyPr/>
        <a:lstStyle/>
        <a:p>
          <a:r>
            <a:rPr lang="en-US" b="0"/>
            <a:t>Time-consuming household responsibilities: </a:t>
          </a:r>
          <a:r>
            <a:rPr lang="en-US"/>
            <a:t>Many women in rural areas are primarily responsible for household chores and childcare, which can limit their ability to participate in paid work</a:t>
          </a:r>
        </a:p>
      </dgm:t>
    </dgm:pt>
    <dgm:pt modelId="{688098CA-985D-4FF4-9776-D9A26D26AA07}" type="parTrans" cxnId="{AA7398DD-1CAD-4BFC-98C1-B6F552E2B0E8}">
      <dgm:prSet/>
      <dgm:spPr/>
      <dgm:t>
        <a:bodyPr/>
        <a:lstStyle/>
        <a:p>
          <a:endParaRPr lang="en-US"/>
        </a:p>
      </dgm:t>
    </dgm:pt>
    <dgm:pt modelId="{3BD9BCD4-62C8-44D9-8ECA-BD58D9788C18}" type="sibTrans" cxnId="{AA7398DD-1CAD-4BFC-98C1-B6F552E2B0E8}">
      <dgm:prSet/>
      <dgm:spPr/>
      <dgm:t>
        <a:bodyPr/>
        <a:lstStyle/>
        <a:p>
          <a:endParaRPr lang="en-US"/>
        </a:p>
      </dgm:t>
    </dgm:pt>
    <dgm:pt modelId="{E3532214-3F73-4D36-93D5-924E2D87806D}">
      <dgm:prSet/>
      <dgm:spPr/>
      <dgm:t>
        <a:bodyPr/>
        <a:lstStyle/>
        <a:p>
          <a:r>
            <a:rPr lang="en-US"/>
            <a:t>Limited access to decision making power and ownership of property and assets, this limits their ability to access credit and financial resources for starting or expanding a business</a:t>
          </a:r>
        </a:p>
      </dgm:t>
    </dgm:pt>
    <dgm:pt modelId="{F41B4BF6-8807-4818-917A-01C5E749F46C}" type="parTrans" cxnId="{4E8A6D2F-F20D-45F5-B2C2-83BA9717BC32}">
      <dgm:prSet/>
      <dgm:spPr/>
      <dgm:t>
        <a:bodyPr/>
        <a:lstStyle/>
        <a:p>
          <a:endParaRPr lang="en-US"/>
        </a:p>
      </dgm:t>
    </dgm:pt>
    <dgm:pt modelId="{5EE1B893-8ACC-455B-A078-B388BB97D1D0}" type="sibTrans" cxnId="{4E8A6D2F-F20D-45F5-B2C2-83BA9717BC32}">
      <dgm:prSet/>
      <dgm:spPr/>
      <dgm:t>
        <a:bodyPr/>
        <a:lstStyle/>
        <a:p>
          <a:endParaRPr lang="en-US"/>
        </a:p>
      </dgm:t>
    </dgm:pt>
    <dgm:pt modelId="{66022F3E-9E84-46E6-9988-B899E1917F82}">
      <dgm:prSet/>
      <dgm:spPr/>
      <dgm:t>
        <a:bodyPr/>
        <a:lstStyle/>
        <a:p>
          <a:r>
            <a:rPr lang="en-US"/>
            <a:t>Limited access to technology and digital infrastructure, this limits their ability to access information and opportunities for education and employment</a:t>
          </a:r>
        </a:p>
      </dgm:t>
    </dgm:pt>
    <dgm:pt modelId="{C6547357-B316-4709-AE4C-8488D0390CDE}" type="parTrans" cxnId="{60ED2498-6B22-42BC-9ECD-7C8FDB1EECCB}">
      <dgm:prSet/>
      <dgm:spPr/>
      <dgm:t>
        <a:bodyPr/>
        <a:lstStyle/>
        <a:p>
          <a:endParaRPr lang="en-US"/>
        </a:p>
      </dgm:t>
    </dgm:pt>
    <dgm:pt modelId="{65CF67EB-6708-49BF-80C2-D67DACF435FF}" type="sibTrans" cxnId="{60ED2498-6B22-42BC-9ECD-7C8FDB1EECCB}">
      <dgm:prSet/>
      <dgm:spPr/>
      <dgm:t>
        <a:bodyPr/>
        <a:lstStyle/>
        <a:p>
          <a:endParaRPr lang="en-US"/>
        </a:p>
      </dgm:t>
    </dgm:pt>
    <dgm:pt modelId="{28AE0A26-E75C-4D09-9F7F-CC9AA60121AD}">
      <dgm:prSet/>
      <dgm:spPr/>
      <dgm:t>
        <a:bodyPr/>
        <a:lstStyle/>
        <a:p>
          <a:r>
            <a:rPr lang="en-US"/>
            <a:t>Inadequate healthcare facilities and services, this affects their ability to take care of their health and participate in paid work</a:t>
          </a:r>
        </a:p>
      </dgm:t>
    </dgm:pt>
    <dgm:pt modelId="{F5E51B6A-9167-4BAC-B8EB-CFAB462E2244}" type="parTrans" cxnId="{C70FF0A5-54DB-4BA8-AEF3-FE2C87C6CC2E}">
      <dgm:prSet/>
      <dgm:spPr/>
      <dgm:t>
        <a:bodyPr/>
        <a:lstStyle/>
        <a:p>
          <a:endParaRPr lang="en-US"/>
        </a:p>
      </dgm:t>
    </dgm:pt>
    <dgm:pt modelId="{412C7B07-1A1E-4EE2-8A43-023475EA6690}" type="sibTrans" cxnId="{C70FF0A5-54DB-4BA8-AEF3-FE2C87C6CC2E}">
      <dgm:prSet/>
      <dgm:spPr/>
      <dgm:t>
        <a:bodyPr/>
        <a:lstStyle/>
        <a:p>
          <a:endParaRPr lang="en-US"/>
        </a:p>
      </dgm:t>
    </dgm:pt>
    <dgm:pt modelId="{6E6603F9-4F41-4F7D-8942-E0B00B013A2E}" type="pres">
      <dgm:prSet presAssocID="{C343D028-6C9E-4D32-86F8-4A91FEB633FB}" presName="vert0" presStyleCnt="0">
        <dgm:presLayoutVars>
          <dgm:dir/>
          <dgm:animOne val="branch"/>
          <dgm:animLvl val="lvl"/>
        </dgm:presLayoutVars>
      </dgm:prSet>
      <dgm:spPr/>
    </dgm:pt>
    <dgm:pt modelId="{6A150F59-E001-42C5-88FB-D9838898DC7E}" type="pres">
      <dgm:prSet presAssocID="{CC4F8286-FB11-4F35-AA7A-EB93CA359305}" presName="thickLine" presStyleLbl="alignNode1" presStyleIdx="0" presStyleCnt="4"/>
      <dgm:spPr/>
    </dgm:pt>
    <dgm:pt modelId="{C1B70977-7B91-45EF-9000-69C52CA77125}" type="pres">
      <dgm:prSet presAssocID="{CC4F8286-FB11-4F35-AA7A-EB93CA359305}" presName="horz1" presStyleCnt="0"/>
      <dgm:spPr/>
    </dgm:pt>
    <dgm:pt modelId="{9A81FCD1-3CB9-494D-ADB2-2D0FF79779EF}" type="pres">
      <dgm:prSet presAssocID="{CC4F8286-FB11-4F35-AA7A-EB93CA359305}" presName="tx1" presStyleLbl="revTx" presStyleIdx="0" presStyleCnt="4"/>
      <dgm:spPr/>
    </dgm:pt>
    <dgm:pt modelId="{A7013D1A-D1D4-4D53-BDCB-FB069DC17F69}" type="pres">
      <dgm:prSet presAssocID="{CC4F8286-FB11-4F35-AA7A-EB93CA359305}" presName="vert1" presStyleCnt="0"/>
      <dgm:spPr/>
    </dgm:pt>
    <dgm:pt modelId="{5E8007CB-94CC-420E-9341-A0186038FDD1}" type="pres">
      <dgm:prSet presAssocID="{E3532214-3F73-4D36-93D5-924E2D87806D}" presName="thickLine" presStyleLbl="alignNode1" presStyleIdx="1" presStyleCnt="4"/>
      <dgm:spPr/>
    </dgm:pt>
    <dgm:pt modelId="{C1543C4D-CE7F-4826-8619-28F29BB03D00}" type="pres">
      <dgm:prSet presAssocID="{E3532214-3F73-4D36-93D5-924E2D87806D}" presName="horz1" presStyleCnt="0"/>
      <dgm:spPr/>
    </dgm:pt>
    <dgm:pt modelId="{FA7EE4DA-3AC7-4FD1-BCDE-F552F8344222}" type="pres">
      <dgm:prSet presAssocID="{E3532214-3F73-4D36-93D5-924E2D87806D}" presName="tx1" presStyleLbl="revTx" presStyleIdx="1" presStyleCnt="4"/>
      <dgm:spPr/>
    </dgm:pt>
    <dgm:pt modelId="{B45B73FE-6045-4A56-BD02-2F4086054E6B}" type="pres">
      <dgm:prSet presAssocID="{E3532214-3F73-4D36-93D5-924E2D87806D}" presName="vert1" presStyleCnt="0"/>
      <dgm:spPr/>
    </dgm:pt>
    <dgm:pt modelId="{4A6CF0F3-7620-4102-8CD0-43786A81CDCF}" type="pres">
      <dgm:prSet presAssocID="{66022F3E-9E84-46E6-9988-B899E1917F82}" presName="thickLine" presStyleLbl="alignNode1" presStyleIdx="2" presStyleCnt="4"/>
      <dgm:spPr/>
    </dgm:pt>
    <dgm:pt modelId="{B0FBD390-8271-49B7-B594-754A535ECA87}" type="pres">
      <dgm:prSet presAssocID="{66022F3E-9E84-46E6-9988-B899E1917F82}" presName="horz1" presStyleCnt="0"/>
      <dgm:spPr/>
    </dgm:pt>
    <dgm:pt modelId="{70641F2D-2D79-4EB6-8C61-722D9A8F6818}" type="pres">
      <dgm:prSet presAssocID="{66022F3E-9E84-46E6-9988-B899E1917F82}" presName="tx1" presStyleLbl="revTx" presStyleIdx="2" presStyleCnt="4"/>
      <dgm:spPr/>
    </dgm:pt>
    <dgm:pt modelId="{8806BA57-29A9-441D-B01D-99E927B46A1C}" type="pres">
      <dgm:prSet presAssocID="{66022F3E-9E84-46E6-9988-B899E1917F82}" presName="vert1" presStyleCnt="0"/>
      <dgm:spPr/>
    </dgm:pt>
    <dgm:pt modelId="{60732D34-4B4B-457F-82B6-2905D753E4AE}" type="pres">
      <dgm:prSet presAssocID="{28AE0A26-E75C-4D09-9F7F-CC9AA60121AD}" presName="thickLine" presStyleLbl="alignNode1" presStyleIdx="3" presStyleCnt="4"/>
      <dgm:spPr/>
    </dgm:pt>
    <dgm:pt modelId="{2C874DD2-0E75-4389-BAB8-9C28456F4AAE}" type="pres">
      <dgm:prSet presAssocID="{28AE0A26-E75C-4D09-9F7F-CC9AA60121AD}" presName="horz1" presStyleCnt="0"/>
      <dgm:spPr/>
    </dgm:pt>
    <dgm:pt modelId="{5C0C0224-62A2-4A94-999C-054A1F4E1242}" type="pres">
      <dgm:prSet presAssocID="{28AE0A26-E75C-4D09-9F7F-CC9AA60121AD}" presName="tx1" presStyleLbl="revTx" presStyleIdx="3" presStyleCnt="4"/>
      <dgm:spPr/>
    </dgm:pt>
    <dgm:pt modelId="{6414A7D6-AFF1-4957-BE28-E0FF8AA45895}" type="pres">
      <dgm:prSet presAssocID="{28AE0A26-E75C-4D09-9F7F-CC9AA60121AD}" presName="vert1" presStyleCnt="0"/>
      <dgm:spPr/>
    </dgm:pt>
  </dgm:ptLst>
  <dgm:cxnLst>
    <dgm:cxn modelId="{A25C9C07-E8E2-47CB-9985-DA89E420BBB8}" type="presOf" srcId="{E3532214-3F73-4D36-93D5-924E2D87806D}" destId="{FA7EE4DA-3AC7-4FD1-BCDE-F552F8344222}" srcOrd="0" destOrd="0" presId="urn:microsoft.com/office/officeart/2008/layout/LinedList"/>
    <dgm:cxn modelId="{75CE6F1F-BA9A-4873-B79A-F4C442B24B89}" type="presOf" srcId="{CC4F8286-FB11-4F35-AA7A-EB93CA359305}" destId="{9A81FCD1-3CB9-494D-ADB2-2D0FF79779EF}" srcOrd="0" destOrd="0" presId="urn:microsoft.com/office/officeart/2008/layout/LinedList"/>
    <dgm:cxn modelId="{2D8B722C-7B0E-4AB1-84A2-B95721135808}" type="presOf" srcId="{C343D028-6C9E-4D32-86F8-4A91FEB633FB}" destId="{6E6603F9-4F41-4F7D-8942-E0B00B013A2E}" srcOrd="0" destOrd="0" presId="urn:microsoft.com/office/officeart/2008/layout/LinedList"/>
    <dgm:cxn modelId="{4E8A6D2F-F20D-45F5-B2C2-83BA9717BC32}" srcId="{C343D028-6C9E-4D32-86F8-4A91FEB633FB}" destId="{E3532214-3F73-4D36-93D5-924E2D87806D}" srcOrd="1" destOrd="0" parTransId="{F41B4BF6-8807-4818-917A-01C5E749F46C}" sibTransId="{5EE1B893-8ACC-455B-A078-B388BB97D1D0}"/>
    <dgm:cxn modelId="{5EDEAA3A-4272-47A3-8C0E-0D7BFDCF724E}" type="presOf" srcId="{28AE0A26-E75C-4D09-9F7F-CC9AA60121AD}" destId="{5C0C0224-62A2-4A94-999C-054A1F4E1242}" srcOrd="0" destOrd="0" presId="urn:microsoft.com/office/officeart/2008/layout/LinedList"/>
    <dgm:cxn modelId="{60ED2498-6B22-42BC-9ECD-7C8FDB1EECCB}" srcId="{C343D028-6C9E-4D32-86F8-4A91FEB633FB}" destId="{66022F3E-9E84-46E6-9988-B899E1917F82}" srcOrd="2" destOrd="0" parTransId="{C6547357-B316-4709-AE4C-8488D0390CDE}" sibTransId="{65CF67EB-6708-49BF-80C2-D67DACF435FF}"/>
    <dgm:cxn modelId="{C70FF0A5-54DB-4BA8-AEF3-FE2C87C6CC2E}" srcId="{C343D028-6C9E-4D32-86F8-4A91FEB633FB}" destId="{28AE0A26-E75C-4D09-9F7F-CC9AA60121AD}" srcOrd="3" destOrd="0" parTransId="{F5E51B6A-9167-4BAC-B8EB-CFAB462E2244}" sibTransId="{412C7B07-1A1E-4EE2-8A43-023475EA6690}"/>
    <dgm:cxn modelId="{AA7398DD-1CAD-4BFC-98C1-B6F552E2B0E8}" srcId="{C343D028-6C9E-4D32-86F8-4A91FEB633FB}" destId="{CC4F8286-FB11-4F35-AA7A-EB93CA359305}" srcOrd="0" destOrd="0" parTransId="{688098CA-985D-4FF4-9776-D9A26D26AA07}" sibTransId="{3BD9BCD4-62C8-44D9-8ECA-BD58D9788C18}"/>
    <dgm:cxn modelId="{C7CD88ED-6424-4897-AB49-929E5CB1D335}" type="presOf" srcId="{66022F3E-9E84-46E6-9988-B899E1917F82}" destId="{70641F2D-2D79-4EB6-8C61-722D9A8F6818}" srcOrd="0" destOrd="0" presId="urn:microsoft.com/office/officeart/2008/layout/LinedList"/>
    <dgm:cxn modelId="{0A8E5CD9-E418-40BB-B78A-D1DDD2FAE1CE}" type="presParOf" srcId="{6E6603F9-4F41-4F7D-8942-E0B00B013A2E}" destId="{6A150F59-E001-42C5-88FB-D9838898DC7E}" srcOrd="0" destOrd="0" presId="urn:microsoft.com/office/officeart/2008/layout/LinedList"/>
    <dgm:cxn modelId="{8545078E-DAA2-4B1C-9EDB-FB4EDA75493C}" type="presParOf" srcId="{6E6603F9-4F41-4F7D-8942-E0B00B013A2E}" destId="{C1B70977-7B91-45EF-9000-69C52CA77125}" srcOrd="1" destOrd="0" presId="urn:microsoft.com/office/officeart/2008/layout/LinedList"/>
    <dgm:cxn modelId="{944EA727-27E2-42D0-88D9-940FA3174112}" type="presParOf" srcId="{C1B70977-7B91-45EF-9000-69C52CA77125}" destId="{9A81FCD1-3CB9-494D-ADB2-2D0FF79779EF}" srcOrd="0" destOrd="0" presId="urn:microsoft.com/office/officeart/2008/layout/LinedList"/>
    <dgm:cxn modelId="{0ED26A32-0455-41C7-9ABE-63E78D86F087}" type="presParOf" srcId="{C1B70977-7B91-45EF-9000-69C52CA77125}" destId="{A7013D1A-D1D4-4D53-BDCB-FB069DC17F69}" srcOrd="1" destOrd="0" presId="urn:microsoft.com/office/officeart/2008/layout/LinedList"/>
    <dgm:cxn modelId="{6D9C9CC5-A70F-47FC-BCE0-17CEA061BBD9}" type="presParOf" srcId="{6E6603F9-4F41-4F7D-8942-E0B00B013A2E}" destId="{5E8007CB-94CC-420E-9341-A0186038FDD1}" srcOrd="2" destOrd="0" presId="urn:microsoft.com/office/officeart/2008/layout/LinedList"/>
    <dgm:cxn modelId="{4FBEE9DF-0BAD-43F3-8858-DE2EF8EB4745}" type="presParOf" srcId="{6E6603F9-4F41-4F7D-8942-E0B00B013A2E}" destId="{C1543C4D-CE7F-4826-8619-28F29BB03D00}" srcOrd="3" destOrd="0" presId="urn:microsoft.com/office/officeart/2008/layout/LinedList"/>
    <dgm:cxn modelId="{1D6FF5B7-BF68-476C-AAFC-41811234580A}" type="presParOf" srcId="{C1543C4D-CE7F-4826-8619-28F29BB03D00}" destId="{FA7EE4DA-3AC7-4FD1-BCDE-F552F8344222}" srcOrd="0" destOrd="0" presId="urn:microsoft.com/office/officeart/2008/layout/LinedList"/>
    <dgm:cxn modelId="{A5A6E43E-C29D-4F28-86A5-5E9BB07B756C}" type="presParOf" srcId="{C1543C4D-CE7F-4826-8619-28F29BB03D00}" destId="{B45B73FE-6045-4A56-BD02-2F4086054E6B}" srcOrd="1" destOrd="0" presId="urn:microsoft.com/office/officeart/2008/layout/LinedList"/>
    <dgm:cxn modelId="{885D2C76-E47E-48A6-A309-0E5EBDD37B95}" type="presParOf" srcId="{6E6603F9-4F41-4F7D-8942-E0B00B013A2E}" destId="{4A6CF0F3-7620-4102-8CD0-43786A81CDCF}" srcOrd="4" destOrd="0" presId="urn:microsoft.com/office/officeart/2008/layout/LinedList"/>
    <dgm:cxn modelId="{05A5F18C-C747-4FC7-B4A4-F8243281D54C}" type="presParOf" srcId="{6E6603F9-4F41-4F7D-8942-E0B00B013A2E}" destId="{B0FBD390-8271-49B7-B594-754A535ECA87}" srcOrd="5" destOrd="0" presId="urn:microsoft.com/office/officeart/2008/layout/LinedList"/>
    <dgm:cxn modelId="{0A56A299-6ABE-4E0E-A607-DBCF48812B38}" type="presParOf" srcId="{B0FBD390-8271-49B7-B594-754A535ECA87}" destId="{70641F2D-2D79-4EB6-8C61-722D9A8F6818}" srcOrd="0" destOrd="0" presId="urn:microsoft.com/office/officeart/2008/layout/LinedList"/>
    <dgm:cxn modelId="{C2D465FC-0048-49C9-A747-DD6FC55330D0}" type="presParOf" srcId="{B0FBD390-8271-49B7-B594-754A535ECA87}" destId="{8806BA57-29A9-441D-B01D-99E927B46A1C}" srcOrd="1" destOrd="0" presId="urn:microsoft.com/office/officeart/2008/layout/LinedList"/>
    <dgm:cxn modelId="{4F23974A-9E73-4C39-9611-8A92262FDBA4}" type="presParOf" srcId="{6E6603F9-4F41-4F7D-8942-E0B00B013A2E}" destId="{60732D34-4B4B-457F-82B6-2905D753E4AE}" srcOrd="6" destOrd="0" presId="urn:microsoft.com/office/officeart/2008/layout/LinedList"/>
    <dgm:cxn modelId="{18C4E553-BB9A-4A96-AFC1-C4793FC78438}" type="presParOf" srcId="{6E6603F9-4F41-4F7D-8942-E0B00B013A2E}" destId="{2C874DD2-0E75-4389-BAB8-9C28456F4AAE}" srcOrd="7" destOrd="0" presId="urn:microsoft.com/office/officeart/2008/layout/LinedList"/>
    <dgm:cxn modelId="{D31843DA-3C81-416C-8DA5-80B0F5554FBA}" type="presParOf" srcId="{2C874DD2-0E75-4389-BAB8-9C28456F4AAE}" destId="{5C0C0224-62A2-4A94-999C-054A1F4E1242}" srcOrd="0" destOrd="0" presId="urn:microsoft.com/office/officeart/2008/layout/LinedList"/>
    <dgm:cxn modelId="{707CE128-286D-4C8C-A70C-C7E15FBC3D4B}" type="presParOf" srcId="{2C874DD2-0E75-4389-BAB8-9C28456F4AAE}" destId="{6414A7D6-AFF1-4957-BE28-E0FF8AA4589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31D306-4089-44BA-8EF2-5E4568D64E40}" type="doc">
      <dgm:prSet loTypeId="urn:microsoft.com/office/officeart/2005/8/layout/vList2" loCatId="list" qsTypeId="urn:microsoft.com/office/officeart/2005/8/quickstyle/simple4" qsCatId="simple" csTypeId="urn:microsoft.com/office/officeart/2005/8/colors/accent6_2" csCatId="accent6" phldr="1"/>
      <dgm:spPr/>
      <dgm:t>
        <a:bodyPr/>
        <a:lstStyle/>
        <a:p>
          <a:endParaRPr lang="en-US"/>
        </a:p>
      </dgm:t>
    </dgm:pt>
    <dgm:pt modelId="{5A490D70-FE66-49B9-A1BB-37E6C6B827F4}">
      <dgm:prSet/>
      <dgm:spPr/>
      <dgm:t>
        <a:bodyPr/>
        <a:lstStyle/>
        <a:p>
          <a:r>
            <a:rPr lang="en-US">
              <a:latin typeface="Sagona Book"/>
            </a:rPr>
            <a:t>No</a:t>
          </a:r>
          <a:r>
            <a:rPr lang="en-US"/>
            <a:t> Poverty - Women's unemployment in rural areas can lead to poverty and exacerbates the cycle of poverty in these communities.</a:t>
          </a:r>
        </a:p>
      </dgm:t>
    </dgm:pt>
    <dgm:pt modelId="{D4455D3B-6D2C-4DFF-8550-4998E8AA1C78}" type="parTrans" cxnId="{164AAABE-2684-4F73-AAD6-222042A08F61}">
      <dgm:prSet/>
      <dgm:spPr/>
      <dgm:t>
        <a:bodyPr/>
        <a:lstStyle/>
        <a:p>
          <a:endParaRPr lang="en-US"/>
        </a:p>
      </dgm:t>
    </dgm:pt>
    <dgm:pt modelId="{9214D260-0402-48A0-875F-64F40BDA0C23}" type="sibTrans" cxnId="{164AAABE-2684-4F73-AAD6-222042A08F61}">
      <dgm:prSet/>
      <dgm:spPr/>
      <dgm:t>
        <a:bodyPr/>
        <a:lstStyle/>
        <a:p>
          <a:endParaRPr lang="en-US"/>
        </a:p>
      </dgm:t>
    </dgm:pt>
    <dgm:pt modelId="{236CDC6C-7DB0-4450-B7AC-D6EC927F01DD}">
      <dgm:prSet/>
      <dgm:spPr/>
      <dgm:t>
        <a:bodyPr/>
        <a:lstStyle/>
        <a:p>
          <a:r>
            <a:rPr lang="en-US">
              <a:latin typeface="Sagona Book"/>
            </a:rPr>
            <a:t>Peace</a:t>
          </a:r>
          <a:r>
            <a:rPr lang="en-US"/>
            <a:t>, Justice and Strong Institutions - Addressing the barriers to women's employment will help promote gender equality and improve the rule of law in rural areas, thereby promoting peace and stability.</a:t>
          </a:r>
        </a:p>
      </dgm:t>
    </dgm:pt>
    <dgm:pt modelId="{192642C1-43C3-4231-B958-D52123E17FC7}" type="parTrans" cxnId="{FE7864F5-D806-4645-835F-CFE4CA30CE3D}">
      <dgm:prSet/>
      <dgm:spPr/>
      <dgm:t>
        <a:bodyPr/>
        <a:lstStyle/>
        <a:p>
          <a:endParaRPr lang="en-US"/>
        </a:p>
      </dgm:t>
    </dgm:pt>
    <dgm:pt modelId="{F9E639B9-66C8-4830-BD35-6D75D2657AFC}" type="sibTrans" cxnId="{FE7864F5-D806-4645-835F-CFE4CA30CE3D}">
      <dgm:prSet/>
      <dgm:spPr/>
      <dgm:t>
        <a:bodyPr/>
        <a:lstStyle/>
        <a:p>
          <a:endParaRPr lang="en-US"/>
        </a:p>
      </dgm:t>
    </dgm:pt>
    <dgm:pt modelId="{2BFAA867-4A3F-4728-BF66-01BEA4E54A22}">
      <dgm:prSet phldr="0"/>
      <dgm:spPr/>
      <dgm:t>
        <a:bodyPr/>
        <a:lstStyle/>
        <a:p>
          <a:r>
            <a:rPr lang="en-US"/>
            <a:t>Gender Equality - Women's employment opportunities are often limited in rural areas due to gender-based discrimination and unequal access to education and training.</a:t>
          </a:r>
        </a:p>
      </dgm:t>
    </dgm:pt>
    <dgm:pt modelId="{E51593B1-15A8-4C34-A0F3-48DC42ACF7B4}" type="parTrans" cxnId="{499FC24F-395D-4D44-B28F-AED1BB904BD3}">
      <dgm:prSet/>
      <dgm:spPr/>
    </dgm:pt>
    <dgm:pt modelId="{0897580F-165B-441A-BAAC-E34E8E1DAC4A}" type="sibTrans" cxnId="{499FC24F-395D-4D44-B28F-AED1BB904BD3}">
      <dgm:prSet/>
      <dgm:spPr/>
      <dgm:t>
        <a:bodyPr/>
        <a:lstStyle/>
        <a:p>
          <a:endParaRPr lang="en-US"/>
        </a:p>
      </dgm:t>
    </dgm:pt>
    <dgm:pt modelId="{51ECF2DD-AB24-4A89-BECF-742160A1A85F}">
      <dgm:prSet phldr="0"/>
      <dgm:spPr/>
      <dgm:t>
        <a:bodyPr/>
        <a:lstStyle/>
        <a:p>
          <a:r>
            <a:rPr lang="en-US">
              <a:latin typeface="Sagona Book"/>
            </a:rPr>
            <a:t>Decent</a:t>
          </a:r>
          <a:r>
            <a:rPr lang="en-US"/>
            <a:t> Work and Economic Growth - Women's employment plays a crucial role in the economic growth and development of rural areas. Addressing the barriers to women's employment will help promote sustainable economic growth in these areas.</a:t>
          </a:r>
        </a:p>
      </dgm:t>
    </dgm:pt>
    <dgm:pt modelId="{EDEBC258-1456-4178-9A6C-C1567385EA75}" type="parTrans" cxnId="{2325756C-D657-4585-ABD1-CEBDD783CB4E}">
      <dgm:prSet/>
      <dgm:spPr/>
    </dgm:pt>
    <dgm:pt modelId="{79C6A37C-D2F4-44D1-839B-00E64AEF86CB}" type="sibTrans" cxnId="{2325756C-D657-4585-ABD1-CEBDD783CB4E}">
      <dgm:prSet/>
      <dgm:spPr/>
      <dgm:t>
        <a:bodyPr/>
        <a:lstStyle/>
        <a:p>
          <a:endParaRPr lang="en-US"/>
        </a:p>
      </dgm:t>
    </dgm:pt>
    <dgm:pt modelId="{E7E9D8A8-3F73-43D0-89CF-3CE313FC9C74}">
      <dgm:prSet phldr="0"/>
      <dgm:spPr/>
      <dgm:t>
        <a:bodyPr/>
        <a:lstStyle/>
        <a:p>
          <a:r>
            <a:rPr lang="en-US">
              <a:latin typeface="Sagona Book"/>
            </a:rPr>
            <a:t>Reduced</a:t>
          </a:r>
          <a:r>
            <a:rPr lang="en-US"/>
            <a:t> Inequalities - Addressing the barriers to women's employment will help reduce income inequalities and improve the standard of living for women in rural areas.</a:t>
          </a:r>
        </a:p>
      </dgm:t>
    </dgm:pt>
    <dgm:pt modelId="{AC961C2D-A0D5-4CE6-93D1-E4D96E8EE93D}" type="parTrans" cxnId="{CCE3ECB7-B7D4-4DF5-89ED-74A920DBC3E1}">
      <dgm:prSet/>
      <dgm:spPr/>
    </dgm:pt>
    <dgm:pt modelId="{CF30FB38-D54A-4E3C-9B61-B6A1B6E4B490}" type="sibTrans" cxnId="{CCE3ECB7-B7D4-4DF5-89ED-74A920DBC3E1}">
      <dgm:prSet/>
      <dgm:spPr/>
      <dgm:t>
        <a:bodyPr/>
        <a:lstStyle/>
        <a:p>
          <a:endParaRPr lang="en-US"/>
        </a:p>
      </dgm:t>
    </dgm:pt>
    <dgm:pt modelId="{AE9D0C7E-6BA2-4640-9F90-ECBA297CE746}" type="pres">
      <dgm:prSet presAssocID="{F731D306-4089-44BA-8EF2-5E4568D64E40}" presName="linear" presStyleCnt="0">
        <dgm:presLayoutVars>
          <dgm:animLvl val="lvl"/>
          <dgm:resizeHandles val="exact"/>
        </dgm:presLayoutVars>
      </dgm:prSet>
      <dgm:spPr/>
    </dgm:pt>
    <dgm:pt modelId="{42E286BF-53CF-4943-A636-B89FC21149B6}" type="pres">
      <dgm:prSet presAssocID="{5A490D70-FE66-49B9-A1BB-37E6C6B827F4}" presName="parentText" presStyleLbl="node1" presStyleIdx="0" presStyleCnt="5">
        <dgm:presLayoutVars>
          <dgm:chMax val="0"/>
          <dgm:bulletEnabled val="1"/>
        </dgm:presLayoutVars>
      </dgm:prSet>
      <dgm:spPr/>
    </dgm:pt>
    <dgm:pt modelId="{B3A3C294-26E2-41B9-855C-B750E5EBCEB0}" type="pres">
      <dgm:prSet presAssocID="{9214D260-0402-48A0-875F-64F40BDA0C23}" presName="spacer" presStyleCnt="0"/>
      <dgm:spPr/>
    </dgm:pt>
    <dgm:pt modelId="{3D24573A-C60C-4CEC-A808-5E870D6243B6}" type="pres">
      <dgm:prSet presAssocID="{2BFAA867-4A3F-4728-BF66-01BEA4E54A22}" presName="parentText" presStyleLbl="node1" presStyleIdx="1" presStyleCnt="5">
        <dgm:presLayoutVars>
          <dgm:chMax val="0"/>
          <dgm:bulletEnabled val="1"/>
        </dgm:presLayoutVars>
      </dgm:prSet>
      <dgm:spPr/>
    </dgm:pt>
    <dgm:pt modelId="{E628F65F-3ED0-42AD-B05F-F2CFDD89E1C0}" type="pres">
      <dgm:prSet presAssocID="{0897580F-165B-441A-BAAC-E34E8E1DAC4A}" presName="spacer" presStyleCnt="0"/>
      <dgm:spPr/>
    </dgm:pt>
    <dgm:pt modelId="{4A3BCAB4-4462-470F-AE89-CB5B8FE82646}" type="pres">
      <dgm:prSet presAssocID="{51ECF2DD-AB24-4A89-BECF-742160A1A85F}" presName="parentText" presStyleLbl="node1" presStyleIdx="2" presStyleCnt="5">
        <dgm:presLayoutVars>
          <dgm:chMax val="0"/>
          <dgm:bulletEnabled val="1"/>
        </dgm:presLayoutVars>
      </dgm:prSet>
      <dgm:spPr/>
    </dgm:pt>
    <dgm:pt modelId="{C7E18A1A-A54B-479E-AFE4-5D044E918233}" type="pres">
      <dgm:prSet presAssocID="{79C6A37C-D2F4-44D1-839B-00E64AEF86CB}" presName="spacer" presStyleCnt="0"/>
      <dgm:spPr/>
    </dgm:pt>
    <dgm:pt modelId="{608BAFD7-75AF-4671-B0BC-214D8800B913}" type="pres">
      <dgm:prSet presAssocID="{E7E9D8A8-3F73-43D0-89CF-3CE313FC9C74}" presName="parentText" presStyleLbl="node1" presStyleIdx="3" presStyleCnt="5">
        <dgm:presLayoutVars>
          <dgm:chMax val="0"/>
          <dgm:bulletEnabled val="1"/>
        </dgm:presLayoutVars>
      </dgm:prSet>
      <dgm:spPr/>
    </dgm:pt>
    <dgm:pt modelId="{1AA8EB0B-D0C6-440E-A5F3-B80612763C88}" type="pres">
      <dgm:prSet presAssocID="{CF30FB38-D54A-4E3C-9B61-B6A1B6E4B490}" presName="spacer" presStyleCnt="0"/>
      <dgm:spPr/>
    </dgm:pt>
    <dgm:pt modelId="{A6392E7C-FF2C-4AD7-8B31-11F80DD2A2AA}" type="pres">
      <dgm:prSet presAssocID="{236CDC6C-7DB0-4450-B7AC-D6EC927F01DD}" presName="parentText" presStyleLbl="node1" presStyleIdx="4" presStyleCnt="5">
        <dgm:presLayoutVars>
          <dgm:chMax val="0"/>
          <dgm:bulletEnabled val="1"/>
        </dgm:presLayoutVars>
      </dgm:prSet>
      <dgm:spPr/>
    </dgm:pt>
  </dgm:ptLst>
  <dgm:cxnLst>
    <dgm:cxn modelId="{E349E525-506A-406D-8B98-44EE8730D637}" type="presOf" srcId="{51ECF2DD-AB24-4A89-BECF-742160A1A85F}" destId="{4A3BCAB4-4462-470F-AE89-CB5B8FE82646}" srcOrd="0" destOrd="0" presId="urn:microsoft.com/office/officeart/2005/8/layout/vList2"/>
    <dgm:cxn modelId="{244C8944-A6FA-458D-A582-9D73F7450F42}" type="presOf" srcId="{E7E9D8A8-3F73-43D0-89CF-3CE313FC9C74}" destId="{608BAFD7-75AF-4671-B0BC-214D8800B913}" srcOrd="0" destOrd="0" presId="urn:microsoft.com/office/officeart/2005/8/layout/vList2"/>
    <dgm:cxn modelId="{2325756C-D657-4585-ABD1-CEBDD783CB4E}" srcId="{F731D306-4089-44BA-8EF2-5E4568D64E40}" destId="{51ECF2DD-AB24-4A89-BECF-742160A1A85F}" srcOrd="2" destOrd="0" parTransId="{EDEBC258-1456-4178-9A6C-C1567385EA75}" sibTransId="{79C6A37C-D2F4-44D1-839B-00E64AEF86CB}"/>
    <dgm:cxn modelId="{499FC24F-395D-4D44-B28F-AED1BB904BD3}" srcId="{F731D306-4089-44BA-8EF2-5E4568D64E40}" destId="{2BFAA867-4A3F-4728-BF66-01BEA4E54A22}" srcOrd="1" destOrd="0" parTransId="{E51593B1-15A8-4C34-A0F3-48DC42ACF7B4}" sibTransId="{0897580F-165B-441A-BAAC-E34E8E1DAC4A}"/>
    <dgm:cxn modelId="{CCE3ECB7-B7D4-4DF5-89ED-74A920DBC3E1}" srcId="{F731D306-4089-44BA-8EF2-5E4568D64E40}" destId="{E7E9D8A8-3F73-43D0-89CF-3CE313FC9C74}" srcOrd="3" destOrd="0" parTransId="{AC961C2D-A0D5-4CE6-93D1-E4D96E8EE93D}" sibTransId="{CF30FB38-D54A-4E3C-9B61-B6A1B6E4B490}"/>
    <dgm:cxn modelId="{164AAABE-2684-4F73-AAD6-222042A08F61}" srcId="{F731D306-4089-44BA-8EF2-5E4568D64E40}" destId="{5A490D70-FE66-49B9-A1BB-37E6C6B827F4}" srcOrd="0" destOrd="0" parTransId="{D4455D3B-6D2C-4DFF-8550-4998E8AA1C78}" sibTransId="{9214D260-0402-48A0-875F-64F40BDA0C23}"/>
    <dgm:cxn modelId="{BA8EE1CA-0FB0-496E-BD9E-FDE4B8C75712}" type="presOf" srcId="{5A490D70-FE66-49B9-A1BB-37E6C6B827F4}" destId="{42E286BF-53CF-4943-A636-B89FC21149B6}" srcOrd="0" destOrd="0" presId="urn:microsoft.com/office/officeart/2005/8/layout/vList2"/>
    <dgm:cxn modelId="{20E0E3CA-974D-4C98-A35D-E2F2718B6056}" type="presOf" srcId="{236CDC6C-7DB0-4450-B7AC-D6EC927F01DD}" destId="{A6392E7C-FF2C-4AD7-8B31-11F80DD2A2AA}" srcOrd="0" destOrd="0" presId="urn:microsoft.com/office/officeart/2005/8/layout/vList2"/>
    <dgm:cxn modelId="{BEFAC0D5-5CCF-44E0-9724-1A52498B6AAF}" type="presOf" srcId="{F731D306-4089-44BA-8EF2-5E4568D64E40}" destId="{AE9D0C7E-6BA2-4640-9F90-ECBA297CE746}" srcOrd="0" destOrd="0" presId="urn:microsoft.com/office/officeart/2005/8/layout/vList2"/>
    <dgm:cxn modelId="{FE7864F5-D806-4645-835F-CFE4CA30CE3D}" srcId="{F731D306-4089-44BA-8EF2-5E4568D64E40}" destId="{236CDC6C-7DB0-4450-B7AC-D6EC927F01DD}" srcOrd="4" destOrd="0" parTransId="{192642C1-43C3-4231-B958-D52123E17FC7}" sibTransId="{F9E639B9-66C8-4830-BD35-6D75D2657AFC}"/>
    <dgm:cxn modelId="{A00436FD-68F2-4987-B2B7-CC09E5F73011}" type="presOf" srcId="{2BFAA867-4A3F-4728-BF66-01BEA4E54A22}" destId="{3D24573A-C60C-4CEC-A808-5E870D6243B6}" srcOrd="0" destOrd="0" presId="urn:microsoft.com/office/officeart/2005/8/layout/vList2"/>
    <dgm:cxn modelId="{1D491842-4052-490D-8766-6F2239A4CFF9}" type="presParOf" srcId="{AE9D0C7E-6BA2-4640-9F90-ECBA297CE746}" destId="{42E286BF-53CF-4943-A636-B89FC21149B6}" srcOrd="0" destOrd="0" presId="urn:microsoft.com/office/officeart/2005/8/layout/vList2"/>
    <dgm:cxn modelId="{06A03E34-5DFB-4A68-B235-E98B3B8A5726}" type="presParOf" srcId="{AE9D0C7E-6BA2-4640-9F90-ECBA297CE746}" destId="{B3A3C294-26E2-41B9-855C-B750E5EBCEB0}" srcOrd="1" destOrd="0" presId="urn:microsoft.com/office/officeart/2005/8/layout/vList2"/>
    <dgm:cxn modelId="{6BFBD579-FDBF-4A34-8080-DA0D1FAD54C6}" type="presParOf" srcId="{AE9D0C7E-6BA2-4640-9F90-ECBA297CE746}" destId="{3D24573A-C60C-4CEC-A808-5E870D6243B6}" srcOrd="2" destOrd="0" presId="urn:microsoft.com/office/officeart/2005/8/layout/vList2"/>
    <dgm:cxn modelId="{51CCEA19-C930-4BDE-9FDB-331BF176BD76}" type="presParOf" srcId="{AE9D0C7E-6BA2-4640-9F90-ECBA297CE746}" destId="{E628F65F-3ED0-42AD-B05F-F2CFDD89E1C0}" srcOrd="3" destOrd="0" presId="urn:microsoft.com/office/officeart/2005/8/layout/vList2"/>
    <dgm:cxn modelId="{6148EE8E-A103-4711-953F-40A896FCAD23}" type="presParOf" srcId="{AE9D0C7E-6BA2-4640-9F90-ECBA297CE746}" destId="{4A3BCAB4-4462-470F-AE89-CB5B8FE82646}" srcOrd="4" destOrd="0" presId="urn:microsoft.com/office/officeart/2005/8/layout/vList2"/>
    <dgm:cxn modelId="{7A8D0B57-24F8-49F9-89CD-366C826518A7}" type="presParOf" srcId="{AE9D0C7E-6BA2-4640-9F90-ECBA297CE746}" destId="{C7E18A1A-A54B-479E-AFE4-5D044E918233}" srcOrd="5" destOrd="0" presId="urn:microsoft.com/office/officeart/2005/8/layout/vList2"/>
    <dgm:cxn modelId="{5A50325A-D2FE-4CAB-903F-6E11DE124DED}" type="presParOf" srcId="{AE9D0C7E-6BA2-4640-9F90-ECBA297CE746}" destId="{608BAFD7-75AF-4671-B0BC-214D8800B913}" srcOrd="6" destOrd="0" presId="urn:microsoft.com/office/officeart/2005/8/layout/vList2"/>
    <dgm:cxn modelId="{6EC1A997-8CC0-4179-B4BD-A06ABA6E49F9}" type="presParOf" srcId="{AE9D0C7E-6BA2-4640-9F90-ECBA297CE746}" destId="{1AA8EB0B-D0C6-440E-A5F3-B80612763C88}" srcOrd="7" destOrd="0" presId="urn:microsoft.com/office/officeart/2005/8/layout/vList2"/>
    <dgm:cxn modelId="{290C62FD-08CF-4142-8376-F7412BABEEA7}" type="presParOf" srcId="{AE9D0C7E-6BA2-4640-9F90-ECBA297CE746}" destId="{A6392E7C-FF2C-4AD7-8B31-11F80DD2A2AA}"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32015F5-325A-4954-AA1A-27D8AC3518A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2415237-4A13-4EE4-A860-4F4D9860F968}">
      <dgm:prSet/>
      <dgm:spPr/>
      <dgm:t>
        <a:bodyPr/>
        <a:lstStyle/>
        <a:p>
          <a:r>
            <a:rPr lang="en-US"/>
            <a:t>Women in rural areas: The primary stakeholders, who face the barriers to employment and are affected by them</a:t>
          </a:r>
        </a:p>
      </dgm:t>
    </dgm:pt>
    <dgm:pt modelId="{5B413D0C-B019-47A2-9D2F-893B02322C53}" type="parTrans" cxnId="{B75C0CD1-D91D-43CD-B7AE-B383AA60C56B}">
      <dgm:prSet/>
      <dgm:spPr/>
      <dgm:t>
        <a:bodyPr/>
        <a:lstStyle/>
        <a:p>
          <a:endParaRPr lang="en-US"/>
        </a:p>
      </dgm:t>
    </dgm:pt>
    <dgm:pt modelId="{BB8F02DB-860C-4DEB-9549-D68D37AB9B0D}" type="sibTrans" cxnId="{B75C0CD1-D91D-43CD-B7AE-B383AA60C56B}">
      <dgm:prSet/>
      <dgm:spPr/>
      <dgm:t>
        <a:bodyPr/>
        <a:lstStyle/>
        <a:p>
          <a:endParaRPr lang="en-US"/>
        </a:p>
      </dgm:t>
    </dgm:pt>
    <dgm:pt modelId="{E10C3C87-70F3-42D2-823F-FE9043459163}">
      <dgm:prSet/>
      <dgm:spPr/>
      <dgm:t>
        <a:bodyPr/>
        <a:lstStyle/>
        <a:p>
          <a:r>
            <a:rPr lang="en-US"/>
            <a:t>Families: The families of women in rural areas are also affected by the lack of employment opportunities for women and the resulting poverty and socio-economic disadvantage</a:t>
          </a:r>
        </a:p>
      </dgm:t>
    </dgm:pt>
    <dgm:pt modelId="{87F5B3E9-21FE-4EDE-B5B0-8AD7E2144FDF}" type="parTrans" cxnId="{92C69CD3-0747-4F11-A485-2866CCA303DC}">
      <dgm:prSet/>
      <dgm:spPr/>
      <dgm:t>
        <a:bodyPr/>
        <a:lstStyle/>
        <a:p>
          <a:endParaRPr lang="en-US"/>
        </a:p>
      </dgm:t>
    </dgm:pt>
    <dgm:pt modelId="{676A5515-C080-4FC6-8891-F209CEE45363}" type="sibTrans" cxnId="{92C69CD3-0747-4F11-A485-2866CCA303DC}">
      <dgm:prSet/>
      <dgm:spPr/>
      <dgm:t>
        <a:bodyPr/>
        <a:lstStyle/>
        <a:p>
          <a:endParaRPr lang="en-US"/>
        </a:p>
      </dgm:t>
    </dgm:pt>
    <dgm:pt modelId="{F80F006D-1754-4EFE-8957-FA50FE507536}">
      <dgm:prSet/>
      <dgm:spPr/>
      <dgm:t>
        <a:bodyPr/>
        <a:lstStyle/>
        <a:p>
          <a:r>
            <a:rPr lang="en-US"/>
            <a:t>Employers: Employers in rural areas, particularly in the informal sector, may have a vested interest in increasing the number of women in the workforce, as they can offer a reliable and cost-effective source of labor</a:t>
          </a:r>
        </a:p>
      </dgm:t>
    </dgm:pt>
    <dgm:pt modelId="{EB1D6611-6FC4-45C7-AAD4-7FEBC039B4CD}" type="parTrans" cxnId="{5542840B-BA3C-42B8-9259-9CC83E026E64}">
      <dgm:prSet/>
      <dgm:spPr/>
      <dgm:t>
        <a:bodyPr/>
        <a:lstStyle/>
        <a:p>
          <a:endParaRPr lang="en-US"/>
        </a:p>
      </dgm:t>
    </dgm:pt>
    <dgm:pt modelId="{BCC3F2F1-DE00-430D-9F12-52DFAB93DA90}" type="sibTrans" cxnId="{5542840B-BA3C-42B8-9259-9CC83E026E64}">
      <dgm:prSet/>
      <dgm:spPr/>
      <dgm:t>
        <a:bodyPr/>
        <a:lstStyle/>
        <a:p>
          <a:endParaRPr lang="en-US"/>
        </a:p>
      </dgm:t>
    </dgm:pt>
    <dgm:pt modelId="{92D397F6-1973-431C-8E7F-36AF10A62C76}">
      <dgm:prSet/>
      <dgm:spPr/>
      <dgm:t>
        <a:bodyPr/>
        <a:lstStyle/>
        <a:p>
          <a:r>
            <a:rPr lang="en-US"/>
            <a:t>Government: The Government of India is responsible for creating the policies and programs that address the barriers to women's employment in rural areas, and is also responsible for monitoring and evaluating their effectiveness</a:t>
          </a:r>
        </a:p>
      </dgm:t>
    </dgm:pt>
    <dgm:pt modelId="{39FC79C4-C5FC-4861-AEFE-A6D0C12CDEFD}" type="parTrans" cxnId="{7920A0E6-F2C7-4E09-9F0C-F0B29EE349E9}">
      <dgm:prSet/>
      <dgm:spPr/>
      <dgm:t>
        <a:bodyPr/>
        <a:lstStyle/>
        <a:p>
          <a:endParaRPr lang="en-US"/>
        </a:p>
      </dgm:t>
    </dgm:pt>
    <dgm:pt modelId="{D96292E5-80F8-46C8-95B6-662BF4A4350F}" type="sibTrans" cxnId="{7920A0E6-F2C7-4E09-9F0C-F0B29EE349E9}">
      <dgm:prSet/>
      <dgm:spPr/>
      <dgm:t>
        <a:bodyPr/>
        <a:lstStyle/>
        <a:p>
          <a:endParaRPr lang="en-US"/>
        </a:p>
      </dgm:t>
    </dgm:pt>
    <dgm:pt modelId="{9EEF0FAB-46F2-400E-BEF7-14BA49A7A205}" type="pres">
      <dgm:prSet presAssocID="{432015F5-325A-4954-AA1A-27D8AC3518A5}" presName="linear" presStyleCnt="0">
        <dgm:presLayoutVars>
          <dgm:animLvl val="lvl"/>
          <dgm:resizeHandles val="exact"/>
        </dgm:presLayoutVars>
      </dgm:prSet>
      <dgm:spPr/>
    </dgm:pt>
    <dgm:pt modelId="{275A86BF-CD2B-46FC-AB4D-9E0A846A9E7C}" type="pres">
      <dgm:prSet presAssocID="{32415237-4A13-4EE4-A860-4F4D9860F968}" presName="parentText" presStyleLbl="node1" presStyleIdx="0" presStyleCnt="4">
        <dgm:presLayoutVars>
          <dgm:chMax val="0"/>
          <dgm:bulletEnabled val="1"/>
        </dgm:presLayoutVars>
      </dgm:prSet>
      <dgm:spPr/>
    </dgm:pt>
    <dgm:pt modelId="{EC815E55-628D-46AA-B7C0-737FC4438EC2}" type="pres">
      <dgm:prSet presAssocID="{BB8F02DB-860C-4DEB-9549-D68D37AB9B0D}" presName="spacer" presStyleCnt="0"/>
      <dgm:spPr/>
    </dgm:pt>
    <dgm:pt modelId="{B56D7E2F-40D0-48D5-8EF0-BA00A94D6A28}" type="pres">
      <dgm:prSet presAssocID="{E10C3C87-70F3-42D2-823F-FE9043459163}" presName="parentText" presStyleLbl="node1" presStyleIdx="1" presStyleCnt="4">
        <dgm:presLayoutVars>
          <dgm:chMax val="0"/>
          <dgm:bulletEnabled val="1"/>
        </dgm:presLayoutVars>
      </dgm:prSet>
      <dgm:spPr/>
    </dgm:pt>
    <dgm:pt modelId="{433BBDB3-5EA0-4AD2-89AA-A4FBB57E8C37}" type="pres">
      <dgm:prSet presAssocID="{676A5515-C080-4FC6-8891-F209CEE45363}" presName="spacer" presStyleCnt="0"/>
      <dgm:spPr/>
    </dgm:pt>
    <dgm:pt modelId="{C24D242C-0BC6-4E83-9811-A462009C4214}" type="pres">
      <dgm:prSet presAssocID="{F80F006D-1754-4EFE-8957-FA50FE507536}" presName="parentText" presStyleLbl="node1" presStyleIdx="2" presStyleCnt="4">
        <dgm:presLayoutVars>
          <dgm:chMax val="0"/>
          <dgm:bulletEnabled val="1"/>
        </dgm:presLayoutVars>
      </dgm:prSet>
      <dgm:spPr/>
    </dgm:pt>
    <dgm:pt modelId="{A90C1BF1-494A-4DC9-B5AA-AF8F5ABEFE8D}" type="pres">
      <dgm:prSet presAssocID="{BCC3F2F1-DE00-430D-9F12-52DFAB93DA90}" presName="spacer" presStyleCnt="0"/>
      <dgm:spPr/>
    </dgm:pt>
    <dgm:pt modelId="{9875FAEE-DE19-4BFB-B16B-AE76F0C6831D}" type="pres">
      <dgm:prSet presAssocID="{92D397F6-1973-431C-8E7F-36AF10A62C76}" presName="parentText" presStyleLbl="node1" presStyleIdx="3" presStyleCnt="4">
        <dgm:presLayoutVars>
          <dgm:chMax val="0"/>
          <dgm:bulletEnabled val="1"/>
        </dgm:presLayoutVars>
      </dgm:prSet>
      <dgm:spPr/>
    </dgm:pt>
  </dgm:ptLst>
  <dgm:cxnLst>
    <dgm:cxn modelId="{5542840B-BA3C-42B8-9259-9CC83E026E64}" srcId="{432015F5-325A-4954-AA1A-27D8AC3518A5}" destId="{F80F006D-1754-4EFE-8957-FA50FE507536}" srcOrd="2" destOrd="0" parTransId="{EB1D6611-6FC4-45C7-AAD4-7FEBC039B4CD}" sibTransId="{BCC3F2F1-DE00-430D-9F12-52DFAB93DA90}"/>
    <dgm:cxn modelId="{A2BE0965-4CD0-4BF7-850C-FDB4E42EF690}" type="presOf" srcId="{E10C3C87-70F3-42D2-823F-FE9043459163}" destId="{B56D7E2F-40D0-48D5-8EF0-BA00A94D6A28}" srcOrd="0" destOrd="0" presId="urn:microsoft.com/office/officeart/2005/8/layout/vList2"/>
    <dgm:cxn modelId="{7A7C236A-F075-436F-A68E-FA25117B672A}" type="presOf" srcId="{F80F006D-1754-4EFE-8957-FA50FE507536}" destId="{C24D242C-0BC6-4E83-9811-A462009C4214}" srcOrd="0" destOrd="0" presId="urn:microsoft.com/office/officeart/2005/8/layout/vList2"/>
    <dgm:cxn modelId="{CC08E1CA-1009-4FCB-B894-1C21F14B714D}" type="presOf" srcId="{32415237-4A13-4EE4-A860-4F4D9860F968}" destId="{275A86BF-CD2B-46FC-AB4D-9E0A846A9E7C}" srcOrd="0" destOrd="0" presId="urn:microsoft.com/office/officeart/2005/8/layout/vList2"/>
    <dgm:cxn modelId="{16B80ACB-4B78-43FC-9E78-C60B596555FA}" type="presOf" srcId="{432015F5-325A-4954-AA1A-27D8AC3518A5}" destId="{9EEF0FAB-46F2-400E-BEF7-14BA49A7A205}" srcOrd="0" destOrd="0" presId="urn:microsoft.com/office/officeart/2005/8/layout/vList2"/>
    <dgm:cxn modelId="{B75C0CD1-D91D-43CD-B7AE-B383AA60C56B}" srcId="{432015F5-325A-4954-AA1A-27D8AC3518A5}" destId="{32415237-4A13-4EE4-A860-4F4D9860F968}" srcOrd="0" destOrd="0" parTransId="{5B413D0C-B019-47A2-9D2F-893B02322C53}" sibTransId="{BB8F02DB-860C-4DEB-9549-D68D37AB9B0D}"/>
    <dgm:cxn modelId="{92C69CD3-0747-4F11-A485-2866CCA303DC}" srcId="{432015F5-325A-4954-AA1A-27D8AC3518A5}" destId="{E10C3C87-70F3-42D2-823F-FE9043459163}" srcOrd="1" destOrd="0" parTransId="{87F5B3E9-21FE-4EDE-B5B0-8AD7E2144FDF}" sibTransId="{676A5515-C080-4FC6-8891-F209CEE45363}"/>
    <dgm:cxn modelId="{7920A0E6-F2C7-4E09-9F0C-F0B29EE349E9}" srcId="{432015F5-325A-4954-AA1A-27D8AC3518A5}" destId="{92D397F6-1973-431C-8E7F-36AF10A62C76}" srcOrd="3" destOrd="0" parTransId="{39FC79C4-C5FC-4861-AEFE-A6D0C12CDEFD}" sibTransId="{D96292E5-80F8-46C8-95B6-662BF4A4350F}"/>
    <dgm:cxn modelId="{49F801FE-CFB9-420F-AAC2-17855E5E380B}" type="presOf" srcId="{92D397F6-1973-431C-8E7F-36AF10A62C76}" destId="{9875FAEE-DE19-4BFB-B16B-AE76F0C6831D}" srcOrd="0" destOrd="0" presId="urn:microsoft.com/office/officeart/2005/8/layout/vList2"/>
    <dgm:cxn modelId="{5559C414-8EA1-4987-BDF8-758F488284E5}" type="presParOf" srcId="{9EEF0FAB-46F2-400E-BEF7-14BA49A7A205}" destId="{275A86BF-CD2B-46FC-AB4D-9E0A846A9E7C}" srcOrd="0" destOrd="0" presId="urn:microsoft.com/office/officeart/2005/8/layout/vList2"/>
    <dgm:cxn modelId="{494779DA-C97E-446B-8A3C-5949A0B77B65}" type="presParOf" srcId="{9EEF0FAB-46F2-400E-BEF7-14BA49A7A205}" destId="{EC815E55-628D-46AA-B7C0-737FC4438EC2}" srcOrd="1" destOrd="0" presId="urn:microsoft.com/office/officeart/2005/8/layout/vList2"/>
    <dgm:cxn modelId="{0DCC5081-9BDE-4D04-8B63-1AF3950276A6}" type="presParOf" srcId="{9EEF0FAB-46F2-400E-BEF7-14BA49A7A205}" destId="{B56D7E2F-40D0-48D5-8EF0-BA00A94D6A28}" srcOrd="2" destOrd="0" presId="urn:microsoft.com/office/officeart/2005/8/layout/vList2"/>
    <dgm:cxn modelId="{CDE3719F-1EBE-4F4D-929B-3A28D84EF4E0}" type="presParOf" srcId="{9EEF0FAB-46F2-400E-BEF7-14BA49A7A205}" destId="{433BBDB3-5EA0-4AD2-89AA-A4FBB57E8C37}" srcOrd="3" destOrd="0" presId="urn:microsoft.com/office/officeart/2005/8/layout/vList2"/>
    <dgm:cxn modelId="{CD29D9E3-C51B-46AB-A9E7-7BCCCCD985D5}" type="presParOf" srcId="{9EEF0FAB-46F2-400E-BEF7-14BA49A7A205}" destId="{C24D242C-0BC6-4E83-9811-A462009C4214}" srcOrd="4" destOrd="0" presId="urn:microsoft.com/office/officeart/2005/8/layout/vList2"/>
    <dgm:cxn modelId="{65ED31D8-0D2D-4D31-8073-FC4F7681CDDF}" type="presParOf" srcId="{9EEF0FAB-46F2-400E-BEF7-14BA49A7A205}" destId="{A90C1BF1-494A-4DC9-B5AA-AF8F5ABEFE8D}" srcOrd="5" destOrd="0" presId="urn:microsoft.com/office/officeart/2005/8/layout/vList2"/>
    <dgm:cxn modelId="{F2739A63-C167-4382-9290-E224AE2B4E69}" type="presParOf" srcId="{9EEF0FAB-46F2-400E-BEF7-14BA49A7A205}" destId="{9875FAEE-DE19-4BFB-B16B-AE76F0C6831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7538478-D856-4A16-9AC1-F88A4E40CCA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DFB2745E-1296-4485-8E76-54B9DA00754D}">
      <dgm:prSet/>
      <dgm:spPr/>
      <dgm:t>
        <a:bodyPr/>
        <a:lstStyle/>
        <a:p>
          <a:r>
            <a:rPr lang="en-US"/>
            <a:t>NGOs and civil society organizations: NGOs and civil society organizations play an important role in advocating for women's rights and providing support services to help women overcome the barriers to employment</a:t>
          </a:r>
        </a:p>
      </dgm:t>
    </dgm:pt>
    <dgm:pt modelId="{A2C1BAF4-63BB-4705-AE72-013728F24C56}" type="parTrans" cxnId="{8AFF4DDF-1CB3-4CC3-85D5-42D078F0A73A}">
      <dgm:prSet/>
      <dgm:spPr/>
      <dgm:t>
        <a:bodyPr/>
        <a:lstStyle/>
        <a:p>
          <a:endParaRPr lang="en-US"/>
        </a:p>
      </dgm:t>
    </dgm:pt>
    <dgm:pt modelId="{705CA081-9313-402F-A78D-3BB2F6C9677B}" type="sibTrans" cxnId="{8AFF4DDF-1CB3-4CC3-85D5-42D078F0A73A}">
      <dgm:prSet/>
      <dgm:spPr/>
      <dgm:t>
        <a:bodyPr/>
        <a:lstStyle/>
        <a:p>
          <a:endParaRPr lang="en-US"/>
        </a:p>
      </dgm:t>
    </dgm:pt>
    <dgm:pt modelId="{9287A8E1-95F0-4BA8-A30D-9B91589DBF46}">
      <dgm:prSet/>
      <dgm:spPr/>
      <dgm:t>
        <a:bodyPr/>
        <a:lstStyle/>
        <a:p>
          <a:r>
            <a:rPr lang="en-US"/>
            <a:t>Private sector companies: Private sector companies operating in rural areas have a vested interest in improving the socio-economic conditions in the region, as it can enhance the quality of life and improve their reputation</a:t>
          </a:r>
        </a:p>
      </dgm:t>
    </dgm:pt>
    <dgm:pt modelId="{A555C447-1AA2-4B4A-A062-786FDFAA47FB}" type="parTrans" cxnId="{DDD968C7-FAA7-44F9-80FE-93F24714CB43}">
      <dgm:prSet/>
      <dgm:spPr/>
      <dgm:t>
        <a:bodyPr/>
        <a:lstStyle/>
        <a:p>
          <a:endParaRPr lang="en-US"/>
        </a:p>
      </dgm:t>
    </dgm:pt>
    <dgm:pt modelId="{5A9B83AB-C10D-45B2-8721-AEC11C2C6837}" type="sibTrans" cxnId="{DDD968C7-FAA7-44F9-80FE-93F24714CB43}">
      <dgm:prSet/>
      <dgm:spPr/>
      <dgm:t>
        <a:bodyPr/>
        <a:lstStyle/>
        <a:p>
          <a:endParaRPr lang="en-US"/>
        </a:p>
      </dgm:t>
    </dgm:pt>
    <dgm:pt modelId="{C0E0E450-F3B1-4379-A532-FE05B1EDF1EF}">
      <dgm:prSet/>
      <dgm:spPr/>
      <dgm:t>
        <a:bodyPr/>
        <a:lstStyle/>
        <a:p>
          <a:r>
            <a:rPr lang="en-US"/>
            <a:t>International organizations: International organizations such as the United Nations and the World Bank are involved in promoting women's empowerment and gender equality globally, and may provide support and resources to address the barriers to women's employment in rural India</a:t>
          </a:r>
        </a:p>
      </dgm:t>
    </dgm:pt>
    <dgm:pt modelId="{750B9BF4-3039-44AA-AE7A-AFB7CF7C1783}" type="parTrans" cxnId="{743552B2-2590-4F9E-8924-16075EDEB3E2}">
      <dgm:prSet/>
      <dgm:spPr/>
      <dgm:t>
        <a:bodyPr/>
        <a:lstStyle/>
        <a:p>
          <a:endParaRPr lang="en-US"/>
        </a:p>
      </dgm:t>
    </dgm:pt>
    <dgm:pt modelId="{D90620F4-9DFB-430D-AC6C-A35C4CD69BDE}" type="sibTrans" cxnId="{743552B2-2590-4F9E-8924-16075EDEB3E2}">
      <dgm:prSet/>
      <dgm:spPr/>
      <dgm:t>
        <a:bodyPr/>
        <a:lstStyle/>
        <a:p>
          <a:endParaRPr lang="en-US"/>
        </a:p>
      </dgm:t>
    </dgm:pt>
    <dgm:pt modelId="{26A75497-5D09-41C1-8B6E-DE754A705931}" type="pres">
      <dgm:prSet presAssocID="{67538478-D856-4A16-9AC1-F88A4E40CCA8}" presName="linear" presStyleCnt="0">
        <dgm:presLayoutVars>
          <dgm:animLvl val="lvl"/>
          <dgm:resizeHandles val="exact"/>
        </dgm:presLayoutVars>
      </dgm:prSet>
      <dgm:spPr/>
    </dgm:pt>
    <dgm:pt modelId="{DEDB9630-DC10-4978-8272-E675F2701757}" type="pres">
      <dgm:prSet presAssocID="{DFB2745E-1296-4485-8E76-54B9DA00754D}" presName="parentText" presStyleLbl="node1" presStyleIdx="0" presStyleCnt="3">
        <dgm:presLayoutVars>
          <dgm:chMax val="0"/>
          <dgm:bulletEnabled val="1"/>
        </dgm:presLayoutVars>
      </dgm:prSet>
      <dgm:spPr/>
    </dgm:pt>
    <dgm:pt modelId="{504CE010-CFC8-499D-B4BD-2915FE7E1357}" type="pres">
      <dgm:prSet presAssocID="{705CA081-9313-402F-A78D-3BB2F6C9677B}" presName="spacer" presStyleCnt="0"/>
      <dgm:spPr/>
    </dgm:pt>
    <dgm:pt modelId="{4D052BA9-A462-4915-A472-4453201AB508}" type="pres">
      <dgm:prSet presAssocID="{9287A8E1-95F0-4BA8-A30D-9B91589DBF46}" presName="parentText" presStyleLbl="node1" presStyleIdx="1" presStyleCnt="3">
        <dgm:presLayoutVars>
          <dgm:chMax val="0"/>
          <dgm:bulletEnabled val="1"/>
        </dgm:presLayoutVars>
      </dgm:prSet>
      <dgm:spPr/>
    </dgm:pt>
    <dgm:pt modelId="{61E3FE6E-86DF-471F-ABD3-7404A637D453}" type="pres">
      <dgm:prSet presAssocID="{5A9B83AB-C10D-45B2-8721-AEC11C2C6837}" presName="spacer" presStyleCnt="0"/>
      <dgm:spPr/>
    </dgm:pt>
    <dgm:pt modelId="{83860BB1-89CF-4664-ABB1-E5DED534F99E}" type="pres">
      <dgm:prSet presAssocID="{C0E0E450-F3B1-4379-A532-FE05B1EDF1EF}" presName="parentText" presStyleLbl="node1" presStyleIdx="2" presStyleCnt="3">
        <dgm:presLayoutVars>
          <dgm:chMax val="0"/>
          <dgm:bulletEnabled val="1"/>
        </dgm:presLayoutVars>
      </dgm:prSet>
      <dgm:spPr/>
    </dgm:pt>
  </dgm:ptLst>
  <dgm:cxnLst>
    <dgm:cxn modelId="{CCC98603-339E-4E28-B95F-121746891A0B}" type="presOf" srcId="{67538478-D856-4A16-9AC1-F88A4E40CCA8}" destId="{26A75497-5D09-41C1-8B6E-DE754A705931}" srcOrd="0" destOrd="0" presId="urn:microsoft.com/office/officeart/2005/8/layout/vList2"/>
    <dgm:cxn modelId="{8C024F18-50B3-4659-ACB3-5B673447A26E}" type="presOf" srcId="{9287A8E1-95F0-4BA8-A30D-9B91589DBF46}" destId="{4D052BA9-A462-4915-A472-4453201AB508}" srcOrd="0" destOrd="0" presId="urn:microsoft.com/office/officeart/2005/8/layout/vList2"/>
    <dgm:cxn modelId="{743552B2-2590-4F9E-8924-16075EDEB3E2}" srcId="{67538478-D856-4A16-9AC1-F88A4E40CCA8}" destId="{C0E0E450-F3B1-4379-A532-FE05B1EDF1EF}" srcOrd="2" destOrd="0" parTransId="{750B9BF4-3039-44AA-AE7A-AFB7CF7C1783}" sibTransId="{D90620F4-9DFB-430D-AC6C-A35C4CD69BDE}"/>
    <dgm:cxn modelId="{DA18E4BB-7F31-405D-9DAB-C1FEEDC70335}" type="presOf" srcId="{DFB2745E-1296-4485-8E76-54B9DA00754D}" destId="{DEDB9630-DC10-4978-8272-E675F2701757}" srcOrd="0" destOrd="0" presId="urn:microsoft.com/office/officeart/2005/8/layout/vList2"/>
    <dgm:cxn modelId="{DDD968C7-FAA7-44F9-80FE-93F24714CB43}" srcId="{67538478-D856-4A16-9AC1-F88A4E40CCA8}" destId="{9287A8E1-95F0-4BA8-A30D-9B91589DBF46}" srcOrd="1" destOrd="0" parTransId="{A555C447-1AA2-4B4A-A062-786FDFAA47FB}" sibTransId="{5A9B83AB-C10D-45B2-8721-AEC11C2C6837}"/>
    <dgm:cxn modelId="{7E2448D9-B9C0-4BFF-ACAA-0E92EA8A905F}" type="presOf" srcId="{C0E0E450-F3B1-4379-A532-FE05B1EDF1EF}" destId="{83860BB1-89CF-4664-ABB1-E5DED534F99E}" srcOrd="0" destOrd="0" presId="urn:microsoft.com/office/officeart/2005/8/layout/vList2"/>
    <dgm:cxn modelId="{8AFF4DDF-1CB3-4CC3-85D5-42D078F0A73A}" srcId="{67538478-D856-4A16-9AC1-F88A4E40CCA8}" destId="{DFB2745E-1296-4485-8E76-54B9DA00754D}" srcOrd="0" destOrd="0" parTransId="{A2C1BAF4-63BB-4705-AE72-013728F24C56}" sibTransId="{705CA081-9313-402F-A78D-3BB2F6C9677B}"/>
    <dgm:cxn modelId="{2711F590-156C-4D73-AEC0-F995389E4DD4}" type="presParOf" srcId="{26A75497-5D09-41C1-8B6E-DE754A705931}" destId="{DEDB9630-DC10-4978-8272-E675F2701757}" srcOrd="0" destOrd="0" presId="urn:microsoft.com/office/officeart/2005/8/layout/vList2"/>
    <dgm:cxn modelId="{33A274A1-5077-41D4-94A6-E79371C8E9D2}" type="presParOf" srcId="{26A75497-5D09-41C1-8B6E-DE754A705931}" destId="{504CE010-CFC8-499D-B4BD-2915FE7E1357}" srcOrd="1" destOrd="0" presId="urn:microsoft.com/office/officeart/2005/8/layout/vList2"/>
    <dgm:cxn modelId="{3E247D1B-3128-47AB-8505-EA58688439AD}" type="presParOf" srcId="{26A75497-5D09-41C1-8B6E-DE754A705931}" destId="{4D052BA9-A462-4915-A472-4453201AB508}" srcOrd="2" destOrd="0" presId="urn:microsoft.com/office/officeart/2005/8/layout/vList2"/>
    <dgm:cxn modelId="{9F1450C0-9506-4393-8A04-671E11A8710A}" type="presParOf" srcId="{26A75497-5D09-41C1-8B6E-DE754A705931}" destId="{61E3FE6E-86DF-471F-ABD3-7404A637D453}" srcOrd="3" destOrd="0" presId="urn:microsoft.com/office/officeart/2005/8/layout/vList2"/>
    <dgm:cxn modelId="{0E146602-3D5C-49BF-B946-2B18264339AE}" type="presParOf" srcId="{26A75497-5D09-41C1-8B6E-DE754A705931}" destId="{83860BB1-89CF-4664-ABB1-E5DED534F99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259FF34-5861-426F-B6A7-A13CECFB9EA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7EC33A5-86E7-474E-A372-BA2501FBEEFB}">
      <dgm:prSet/>
      <dgm:spPr/>
      <dgm:t>
        <a:bodyPr/>
        <a:lstStyle/>
        <a:p>
          <a:r>
            <a:rPr lang="en-US"/>
            <a:t>Awareness: Women in rural areas become aware of the limited employment opportunities available to them, as well as the cultural and social norms that limit their participation in the workforce</a:t>
          </a:r>
        </a:p>
      </dgm:t>
    </dgm:pt>
    <dgm:pt modelId="{9C388BF2-DC4A-4481-9317-10BA65D2F83A}" type="parTrans" cxnId="{80A8D2C6-A237-4A13-940B-11A7797BC302}">
      <dgm:prSet/>
      <dgm:spPr/>
      <dgm:t>
        <a:bodyPr/>
        <a:lstStyle/>
        <a:p>
          <a:endParaRPr lang="en-US"/>
        </a:p>
      </dgm:t>
    </dgm:pt>
    <dgm:pt modelId="{E562E8CD-B66B-4BC9-9AC6-2C9418F1BED2}" type="sibTrans" cxnId="{80A8D2C6-A237-4A13-940B-11A7797BC302}">
      <dgm:prSet/>
      <dgm:spPr/>
      <dgm:t>
        <a:bodyPr/>
        <a:lstStyle/>
        <a:p>
          <a:endParaRPr lang="en-US"/>
        </a:p>
      </dgm:t>
    </dgm:pt>
    <dgm:pt modelId="{390F86B8-DE44-4AEC-BD3B-7C44861D671C}">
      <dgm:prSet/>
      <dgm:spPr/>
      <dgm:t>
        <a:bodyPr/>
        <a:lstStyle/>
        <a:p>
          <a:r>
            <a:rPr lang="en-US"/>
            <a:t>Education and Skills Development: Women in rural areas may seek education and training opportunities to improve their chances of securing formal employment</a:t>
          </a:r>
        </a:p>
      </dgm:t>
    </dgm:pt>
    <dgm:pt modelId="{37EB643C-602E-40A7-8B9F-80E860EF17F5}" type="parTrans" cxnId="{75544C89-D224-4887-97C3-71AED5A8A297}">
      <dgm:prSet/>
      <dgm:spPr/>
      <dgm:t>
        <a:bodyPr/>
        <a:lstStyle/>
        <a:p>
          <a:endParaRPr lang="en-US"/>
        </a:p>
      </dgm:t>
    </dgm:pt>
    <dgm:pt modelId="{01D166EC-F276-4B2B-A6EF-4AB1F8801716}" type="sibTrans" cxnId="{75544C89-D224-4887-97C3-71AED5A8A297}">
      <dgm:prSet/>
      <dgm:spPr/>
      <dgm:t>
        <a:bodyPr/>
        <a:lstStyle/>
        <a:p>
          <a:endParaRPr lang="en-US"/>
        </a:p>
      </dgm:t>
    </dgm:pt>
    <dgm:pt modelId="{CC9557DE-59BB-4C47-B155-E53C0D2E8573}">
      <dgm:prSet/>
      <dgm:spPr/>
      <dgm:t>
        <a:bodyPr/>
        <a:lstStyle/>
        <a:p>
          <a:r>
            <a:rPr lang="en-US"/>
            <a:t>Job Search: Women in rural areas search for employment opportunities, either through formal channels such as job fairs or online portals, or through informal networks and word-of-mouth</a:t>
          </a:r>
        </a:p>
      </dgm:t>
    </dgm:pt>
    <dgm:pt modelId="{E68D62E2-C08A-4A1D-8BE9-812AE976592D}" type="parTrans" cxnId="{9FF994F4-4A86-4507-9F9D-9D98D87276DD}">
      <dgm:prSet/>
      <dgm:spPr/>
      <dgm:t>
        <a:bodyPr/>
        <a:lstStyle/>
        <a:p>
          <a:endParaRPr lang="en-US"/>
        </a:p>
      </dgm:t>
    </dgm:pt>
    <dgm:pt modelId="{3F006D4D-866A-4B7D-9461-7F0885F0E713}" type="sibTrans" cxnId="{9FF994F4-4A86-4507-9F9D-9D98D87276DD}">
      <dgm:prSet/>
      <dgm:spPr/>
      <dgm:t>
        <a:bodyPr/>
        <a:lstStyle/>
        <a:p>
          <a:endParaRPr lang="en-US"/>
        </a:p>
      </dgm:t>
    </dgm:pt>
    <dgm:pt modelId="{48E5AD9E-5507-4698-A0C7-ABC760EEDE08}" type="pres">
      <dgm:prSet presAssocID="{5259FF34-5861-426F-B6A7-A13CECFB9EA7}" presName="root" presStyleCnt="0">
        <dgm:presLayoutVars>
          <dgm:dir/>
          <dgm:resizeHandles val="exact"/>
        </dgm:presLayoutVars>
      </dgm:prSet>
      <dgm:spPr/>
    </dgm:pt>
    <dgm:pt modelId="{71ADA7F3-0E14-471D-9C05-CF52E9374FEE}" type="pres">
      <dgm:prSet presAssocID="{37EC33A5-86E7-474E-A372-BA2501FBEEFB}" presName="compNode" presStyleCnt="0"/>
      <dgm:spPr/>
    </dgm:pt>
    <dgm:pt modelId="{23C21152-8C70-4660-90EF-891082E6B3F3}" type="pres">
      <dgm:prSet presAssocID="{37EC33A5-86E7-474E-A372-BA2501FBEEFB}" presName="bgRect" presStyleLbl="bgShp" presStyleIdx="0" presStyleCnt="3"/>
      <dgm:spPr/>
    </dgm:pt>
    <dgm:pt modelId="{2149A263-2EA6-4296-BBEE-9483C0F46EB6}" type="pres">
      <dgm:prSet presAssocID="{37EC33A5-86E7-474E-A372-BA2501FBEEF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apanese Dolls"/>
        </a:ext>
      </dgm:extLst>
    </dgm:pt>
    <dgm:pt modelId="{74D62B5E-60A5-4E34-B229-79149993FBA2}" type="pres">
      <dgm:prSet presAssocID="{37EC33A5-86E7-474E-A372-BA2501FBEEFB}" presName="spaceRect" presStyleCnt="0"/>
      <dgm:spPr/>
    </dgm:pt>
    <dgm:pt modelId="{3F36328F-0547-4AF5-9720-A4ED1C3D6A56}" type="pres">
      <dgm:prSet presAssocID="{37EC33A5-86E7-474E-A372-BA2501FBEEFB}" presName="parTx" presStyleLbl="revTx" presStyleIdx="0" presStyleCnt="3">
        <dgm:presLayoutVars>
          <dgm:chMax val="0"/>
          <dgm:chPref val="0"/>
        </dgm:presLayoutVars>
      </dgm:prSet>
      <dgm:spPr/>
    </dgm:pt>
    <dgm:pt modelId="{F6F1CAFA-029F-4090-8436-618E8F80FBE0}" type="pres">
      <dgm:prSet presAssocID="{E562E8CD-B66B-4BC9-9AC6-2C9418F1BED2}" presName="sibTrans" presStyleCnt="0"/>
      <dgm:spPr/>
    </dgm:pt>
    <dgm:pt modelId="{5DE40455-DB06-49B8-A702-1B3E6A432641}" type="pres">
      <dgm:prSet presAssocID="{390F86B8-DE44-4AEC-BD3B-7C44861D671C}" presName="compNode" presStyleCnt="0"/>
      <dgm:spPr/>
    </dgm:pt>
    <dgm:pt modelId="{DA0DF6EA-3EC8-4CCA-9181-AD6D822CF24D}" type="pres">
      <dgm:prSet presAssocID="{390F86B8-DE44-4AEC-BD3B-7C44861D671C}" presName="bgRect" presStyleLbl="bgShp" presStyleIdx="1" presStyleCnt="3"/>
      <dgm:spPr/>
    </dgm:pt>
    <dgm:pt modelId="{B9B3BFA8-F52E-44CB-B70C-C54FF64F75FE}" type="pres">
      <dgm:prSet presAssocID="{390F86B8-DE44-4AEC-BD3B-7C44861D671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6FF663E9-2EB3-4731-90A1-7C49AA902D97}" type="pres">
      <dgm:prSet presAssocID="{390F86B8-DE44-4AEC-BD3B-7C44861D671C}" presName="spaceRect" presStyleCnt="0"/>
      <dgm:spPr/>
    </dgm:pt>
    <dgm:pt modelId="{49EDDCE7-A7AE-4D1F-89E9-C916223BA6B3}" type="pres">
      <dgm:prSet presAssocID="{390F86B8-DE44-4AEC-BD3B-7C44861D671C}" presName="parTx" presStyleLbl="revTx" presStyleIdx="1" presStyleCnt="3">
        <dgm:presLayoutVars>
          <dgm:chMax val="0"/>
          <dgm:chPref val="0"/>
        </dgm:presLayoutVars>
      </dgm:prSet>
      <dgm:spPr/>
    </dgm:pt>
    <dgm:pt modelId="{31A754A9-5BFE-43A6-9AEC-F6D1BF237AF8}" type="pres">
      <dgm:prSet presAssocID="{01D166EC-F276-4B2B-A6EF-4AB1F8801716}" presName="sibTrans" presStyleCnt="0"/>
      <dgm:spPr/>
    </dgm:pt>
    <dgm:pt modelId="{982C1E5F-591C-4156-BC03-6A81CA2627AD}" type="pres">
      <dgm:prSet presAssocID="{CC9557DE-59BB-4C47-B155-E53C0D2E8573}" presName="compNode" presStyleCnt="0"/>
      <dgm:spPr/>
    </dgm:pt>
    <dgm:pt modelId="{148E6F8E-5155-4960-B961-C2E8BECC2CFE}" type="pres">
      <dgm:prSet presAssocID="{CC9557DE-59BB-4C47-B155-E53C0D2E8573}" presName="bgRect" presStyleLbl="bgShp" presStyleIdx="2" presStyleCnt="3"/>
      <dgm:spPr/>
    </dgm:pt>
    <dgm:pt modelId="{61C4DD7C-09BC-4E27-9290-3E54374100D8}" type="pres">
      <dgm:prSet presAssocID="{CC9557DE-59BB-4C47-B155-E53C0D2E857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ffice Worker"/>
        </a:ext>
      </dgm:extLst>
    </dgm:pt>
    <dgm:pt modelId="{00D2F2CD-41A6-40EC-9CF4-2F49E24A41FA}" type="pres">
      <dgm:prSet presAssocID="{CC9557DE-59BB-4C47-B155-E53C0D2E8573}" presName="spaceRect" presStyleCnt="0"/>
      <dgm:spPr/>
    </dgm:pt>
    <dgm:pt modelId="{5A7758F0-C8CF-421E-9507-BC9D7E965457}" type="pres">
      <dgm:prSet presAssocID="{CC9557DE-59BB-4C47-B155-E53C0D2E8573}" presName="parTx" presStyleLbl="revTx" presStyleIdx="2" presStyleCnt="3">
        <dgm:presLayoutVars>
          <dgm:chMax val="0"/>
          <dgm:chPref val="0"/>
        </dgm:presLayoutVars>
      </dgm:prSet>
      <dgm:spPr/>
    </dgm:pt>
  </dgm:ptLst>
  <dgm:cxnLst>
    <dgm:cxn modelId="{EE68DE1B-1BBC-4606-A03D-DA6538F66DA9}" type="presOf" srcId="{37EC33A5-86E7-474E-A372-BA2501FBEEFB}" destId="{3F36328F-0547-4AF5-9720-A4ED1C3D6A56}" srcOrd="0" destOrd="0" presId="urn:microsoft.com/office/officeart/2018/2/layout/IconVerticalSolidList"/>
    <dgm:cxn modelId="{11B01C42-68BB-401C-AB68-112E91A74284}" type="presOf" srcId="{5259FF34-5861-426F-B6A7-A13CECFB9EA7}" destId="{48E5AD9E-5507-4698-A0C7-ABC760EEDE08}" srcOrd="0" destOrd="0" presId="urn:microsoft.com/office/officeart/2018/2/layout/IconVerticalSolidList"/>
    <dgm:cxn modelId="{75544C89-D224-4887-97C3-71AED5A8A297}" srcId="{5259FF34-5861-426F-B6A7-A13CECFB9EA7}" destId="{390F86B8-DE44-4AEC-BD3B-7C44861D671C}" srcOrd="1" destOrd="0" parTransId="{37EB643C-602E-40A7-8B9F-80E860EF17F5}" sibTransId="{01D166EC-F276-4B2B-A6EF-4AB1F8801716}"/>
    <dgm:cxn modelId="{80A8D2C6-A237-4A13-940B-11A7797BC302}" srcId="{5259FF34-5861-426F-B6A7-A13CECFB9EA7}" destId="{37EC33A5-86E7-474E-A372-BA2501FBEEFB}" srcOrd="0" destOrd="0" parTransId="{9C388BF2-DC4A-4481-9317-10BA65D2F83A}" sibTransId="{E562E8CD-B66B-4BC9-9AC6-2C9418F1BED2}"/>
    <dgm:cxn modelId="{C7B5CBE3-63F6-4AE5-8BAC-EECE49436FD8}" type="presOf" srcId="{390F86B8-DE44-4AEC-BD3B-7C44861D671C}" destId="{49EDDCE7-A7AE-4D1F-89E9-C916223BA6B3}" srcOrd="0" destOrd="0" presId="urn:microsoft.com/office/officeart/2018/2/layout/IconVerticalSolidList"/>
    <dgm:cxn modelId="{1A3738F4-8F4F-4568-ACEE-F2D24E85435D}" type="presOf" srcId="{CC9557DE-59BB-4C47-B155-E53C0D2E8573}" destId="{5A7758F0-C8CF-421E-9507-BC9D7E965457}" srcOrd="0" destOrd="0" presId="urn:microsoft.com/office/officeart/2018/2/layout/IconVerticalSolidList"/>
    <dgm:cxn modelId="{9FF994F4-4A86-4507-9F9D-9D98D87276DD}" srcId="{5259FF34-5861-426F-B6A7-A13CECFB9EA7}" destId="{CC9557DE-59BB-4C47-B155-E53C0D2E8573}" srcOrd="2" destOrd="0" parTransId="{E68D62E2-C08A-4A1D-8BE9-812AE976592D}" sibTransId="{3F006D4D-866A-4B7D-9461-7F0885F0E713}"/>
    <dgm:cxn modelId="{C0B98C87-AB0D-45EA-93C8-BDA07123AEE8}" type="presParOf" srcId="{48E5AD9E-5507-4698-A0C7-ABC760EEDE08}" destId="{71ADA7F3-0E14-471D-9C05-CF52E9374FEE}" srcOrd="0" destOrd="0" presId="urn:microsoft.com/office/officeart/2018/2/layout/IconVerticalSolidList"/>
    <dgm:cxn modelId="{3D0F6EEB-55E8-4BEB-AE00-86FA7FB78729}" type="presParOf" srcId="{71ADA7F3-0E14-471D-9C05-CF52E9374FEE}" destId="{23C21152-8C70-4660-90EF-891082E6B3F3}" srcOrd="0" destOrd="0" presId="urn:microsoft.com/office/officeart/2018/2/layout/IconVerticalSolidList"/>
    <dgm:cxn modelId="{8E04E9BD-F90D-47C3-87FF-D8B33F43B39A}" type="presParOf" srcId="{71ADA7F3-0E14-471D-9C05-CF52E9374FEE}" destId="{2149A263-2EA6-4296-BBEE-9483C0F46EB6}" srcOrd="1" destOrd="0" presId="urn:microsoft.com/office/officeart/2018/2/layout/IconVerticalSolidList"/>
    <dgm:cxn modelId="{2EAF5101-8DC1-497F-BDD8-B085FB2F0195}" type="presParOf" srcId="{71ADA7F3-0E14-471D-9C05-CF52E9374FEE}" destId="{74D62B5E-60A5-4E34-B229-79149993FBA2}" srcOrd="2" destOrd="0" presId="urn:microsoft.com/office/officeart/2018/2/layout/IconVerticalSolidList"/>
    <dgm:cxn modelId="{F8A63887-A448-4A7F-A5D8-491B81E72193}" type="presParOf" srcId="{71ADA7F3-0E14-471D-9C05-CF52E9374FEE}" destId="{3F36328F-0547-4AF5-9720-A4ED1C3D6A56}" srcOrd="3" destOrd="0" presId="urn:microsoft.com/office/officeart/2018/2/layout/IconVerticalSolidList"/>
    <dgm:cxn modelId="{9FEBC55F-DDEB-4733-A0A7-F0CF415B15FF}" type="presParOf" srcId="{48E5AD9E-5507-4698-A0C7-ABC760EEDE08}" destId="{F6F1CAFA-029F-4090-8436-618E8F80FBE0}" srcOrd="1" destOrd="0" presId="urn:microsoft.com/office/officeart/2018/2/layout/IconVerticalSolidList"/>
    <dgm:cxn modelId="{AB82782E-825F-4FB5-B553-6D6D673B2529}" type="presParOf" srcId="{48E5AD9E-5507-4698-A0C7-ABC760EEDE08}" destId="{5DE40455-DB06-49B8-A702-1B3E6A432641}" srcOrd="2" destOrd="0" presId="urn:microsoft.com/office/officeart/2018/2/layout/IconVerticalSolidList"/>
    <dgm:cxn modelId="{2F0A0F8E-E40F-48D0-885E-0F026A37BACE}" type="presParOf" srcId="{5DE40455-DB06-49B8-A702-1B3E6A432641}" destId="{DA0DF6EA-3EC8-4CCA-9181-AD6D822CF24D}" srcOrd="0" destOrd="0" presId="urn:microsoft.com/office/officeart/2018/2/layout/IconVerticalSolidList"/>
    <dgm:cxn modelId="{38847AE9-BCAD-4540-960B-081B2113B90C}" type="presParOf" srcId="{5DE40455-DB06-49B8-A702-1B3E6A432641}" destId="{B9B3BFA8-F52E-44CB-B70C-C54FF64F75FE}" srcOrd="1" destOrd="0" presId="urn:microsoft.com/office/officeart/2018/2/layout/IconVerticalSolidList"/>
    <dgm:cxn modelId="{BB695DC3-FF2B-4CA2-8E04-5C35E2B79C60}" type="presParOf" srcId="{5DE40455-DB06-49B8-A702-1B3E6A432641}" destId="{6FF663E9-2EB3-4731-90A1-7C49AA902D97}" srcOrd="2" destOrd="0" presId="urn:microsoft.com/office/officeart/2018/2/layout/IconVerticalSolidList"/>
    <dgm:cxn modelId="{A09B3D4C-0029-457B-8165-FB797A35C593}" type="presParOf" srcId="{5DE40455-DB06-49B8-A702-1B3E6A432641}" destId="{49EDDCE7-A7AE-4D1F-89E9-C916223BA6B3}" srcOrd="3" destOrd="0" presId="urn:microsoft.com/office/officeart/2018/2/layout/IconVerticalSolidList"/>
    <dgm:cxn modelId="{43582D69-D9F7-4120-B011-05E5C0671394}" type="presParOf" srcId="{48E5AD9E-5507-4698-A0C7-ABC760EEDE08}" destId="{31A754A9-5BFE-43A6-9AEC-F6D1BF237AF8}" srcOrd="3" destOrd="0" presId="urn:microsoft.com/office/officeart/2018/2/layout/IconVerticalSolidList"/>
    <dgm:cxn modelId="{D8E906B7-897C-455F-9EF2-0D580146ABD9}" type="presParOf" srcId="{48E5AD9E-5507-4698-A0C7-ABC760EEDE08}" destId="{982C1E5F-591C-4156-BC03-6A81CA2627AD}" srcOrd="4" destOrd="0" presId="urn:microsoft.com/office/officeart/2018/2/layout/IconVerticalSolidList"/>
    <dgm:cxn modelId="{36381ECD-D498-479D-A08D-E6A9BA51B512}" type="presParOf" srcId="{982C1E5F-591C-4156-BC03-6A81CA2627AD}" destId="{148E6F8E-5155-4960-B961-C2E8BECC2CFE}" srcOrd="0" destOrd="0" presId="urn:microsoft.com/office/officeart/2018/2/layout/IconVerticalSolidList"/>
    <dgm:cxn modelId="{1BB904FD-3E37-4469-8C2A-1C33F5156CB4}" type="presParOf" srcId="{982C1E5F-591C-4156-BC03-6A81CA2627AD}" destId="{61C4DD7C-09BC-4E27-9290-3E54374100D8}" srcOrd="1" destOrd="0" presId="urn:microsoft.com/office/officeart/2018/2/layout/IconVerticalSolidList"/>
    <dgm:cxn modelId="{F2614200-E276-4D20-A26C-20985CD58669}" type="presParOf" srcId="{982C1E5F-591C-4156-BC03-6A81CA2627AD}" destId="{00D2F2CD-41A6-40EC-9CF4-2F49E24A41FA}" srcOrd="2" destOrd="0" presId="urn:microsoft.com/office/officeart/2018/2/layout/IconVerticalSolidList"/>
    <dgm:cxn modelId="{735EBA89-E7B1-4A93-9759-D5AA10D8B139}" type="presParOf" srcId="{982C1E5F-591C-4156-BC03-6A81CA2627AD}" destId="{5A7758F0-C8CF-421E-9507-BC9D7E96545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259FF34-5861-426F-B6A7-A13CECFB9EA7}" type="doc">
      <dgm:prSet loTypeId="urn:microsoft.com/office/officeart/2018/2/layout/IconVerticalSolid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37EC33A5-86E7-474E-A372-BA2501FBEEFB}">
      <dgm:prSet/>
      <dgm:spPr/>
      <dgm:t>
        <a:bodyPr/>
        <a:lstStyle/>
        <a:p>
          <a:r>
            <a:rPr lang="en-US"/>
            <a:t>Hiring Process: Women in rural areas face several challenges in the hiring process, including discrimination based on gender, lack of formal qualifications or experience, and limited access to credit and financial resources</a:t>
          </a:r>
        </a:p>
      </dgm:t>
    </dgm:pt>
    <dgm:pt modelId="{9C388BF2-DC4A-4481-9317-10BA65D2F83A}" type="parTrans" cxnId="{80A8D2C6-A237-4A13-940B-11A7797BC302}">
      <dgm:prSet/>
      <dgm:spPr/>
      <dgm:t>
        <a:bodyPr/>
        <a:lstStyle/>
        <a:p>
          <a:endParaRPr lang="en-US"/>
        </a:p>
      </dgm:t>
    </dgm:pt>
    <dgm:pt modelId="{E562E8CD-B66B-4BC9-9AC6-2C9418F1BED2}" type="sibTrans" cxnId="{80A8D2C6-A237-4A13-940B-11A7797BC302}">
      <dgm:prSet/>
      <dgm:spPr/>
      <dgm:t>
        <a:bodyPr/>
        <a:lstStyle/>
        <a:p>
          <a:endParaRPr lang="en-US"/>
        </a:p>
      </dgm:t>
    </dgm:pt>
    <dgm:pt modelId="{390F86B8-DE44-4AEC-BD3B-7C44861D671C}">
      <dgm:prSet/>
      <dgm:spPr/>
      <dgm:t>
        <a:bodyPr/>
        <a:lstStyle/>
        <a:p>
          <a:r>
            <a:rPr lang="en-US"/>
            <a:t>On-the-Job Challenges: Once employed, women in rural areas may face additional challenges such as inadequate healthcare facilities and services, and limited access to technology and digital infrastructure</a:t>
          </a:r>
        </a:p>
      </dgm:t>
    </dgm:pt>
    <dgm:pt modelId="{37EB643C-602E-40A7-8B9F-80E860EF17F5}" type="parTrans" cxnId="{75544C89-D224-4887-97C3-71AED5A8A297}">
      <dgm:prSet/>
      <dgm:spPr/>
      <dgm:t>
        <a:bodyPr/>
        <a:lstStyle/>
        <a:p>
          <a:endParaRPr lang="en-US"/>
        </a:p>
      </dgm:t>
    </dgm:pt>
    <dgm:pt modelId="{01D166EC-F276-4B2B-A6EF-4AB1F8801716}" type="sibTrans" cxnId="{75544C89-D224-4887-97C3-71AED5A8A297}">
      <dgm:prSet/>
      <dgm:spPr/>
      <dgm:t>
        <a:bodyPr/>
        <a:lstStyle/>
        <a:p>
          <a:endParaRPr lang="en-US"/>
        </a:p>
      </dgm:t>
    </dgm:pt>
    <dgm:pt modelId="{CC9557DE-59BB-4C47-B155-E53C0D2E8573}">
      <dgm:prSet/>
      <dgm:spPr/>
      <dgm:t>
        <a:bodyPr/>
        <a:lstStyle/>
        <a:p>
          <a:r>
            <a:rPr lang="en-US"/>
            <a:t>Career Progression: Women in rural areas may face barriers in progressing in their careers, such as lack of opportunities for training and development, and limited access to decision-making power and ownership of property and assets</a:t>
          </a:r>
        </a:p>
      </dgm:t>
    </dgm:pt>
    <dgm:pt modelId="{E68D62E2-C08A-4A1D-8BE9-812AE976592D}" type="parTrans" cxnId="{9FF994F4-4A86-4507-9F9D-9D98D87276DD}">
      <dgm:prSet/>
      <dgm:spPr/>
      <dgm:t>
        <a:bodyPr/>
        <a:lstStyle/>
        <a:p>
          <a:endParaRPr lang="en-US"/>
        </a:p>
      </dgm:t>
    </dgm:pt>
    <dgm:pt modelId="{3F006D4D-866A-4B7D-9461-7F0885F0E713}" type="sibTrans" cxnId="{9FF994F4-4A86-4507-9F9D-9D98D87276DD}">
      <dgm:prSet/>
      <dgm:spPr/>
      <dgm:t>
        <a:bodyPr/>
        <a:lstStyle/>
        <a:p>
          <a:endParaRPr lang="en-US"/>
        </a:p>
      </dgm:t>
    </dgm:pt>
    <dgm:pt modelId="{48E5AD9E-5507-4698-A0C7-ABC760EEDE08}" type="pres">
      <dgm:prSet presAssocID="{5259FF34-5861-426F-B6A7-A13CECFB9EA7}" presName="root" presStyleCnt="0">
        <dgm:presLayoutVars>
          <dgm:dir/>
          <dgm:resizeHandles val="exact"/>
        </dgm:presLayoutVars>
      </dgm:prSet>
      <dgm:spPr/>
    </dgm:pt>
    <dgm:pt modelId="{71ADA7F3-0E14-471D-9C05-CF52E9374FEE}" type="pres">
      <dgm:prSet presAssocID="{37EC33A5-86E7-474E-A372-BA2501FBEEFB}" presName="compNode" presStyleCnt="0"/>
      <dgm:spPr/>
    </dgm:pt>
    <dgm:pt modelId="{23C21152-8C70-4660-90EF-891082E6B3F3}" type="pres">
      <dgm:prSet presAssocID="{37EC33A5-86E7-474E-A372-BA2501FBEEFB}" presName="bgRect" presStyleLbl="bgShp" presStyleIdx="0" presStyleCnt="3"/>
      <dgm:spPr/>
    </dgm:pt>
    <dgm:pt modelId="{2149A263-2EA6-4296-BBEE-9483C0F46EB6}" type="pres">
      <dgm:prSet presAssocID="{37EC33A5-86E7-474E-A372-BA2501FBEEF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apanese Dolls"/>
        </a:ext>
      </dgm:extLst>
    </dgm:pt>
    <dgm:pt modelId="{74D62B5E-60A5-4E34-B229-79149993FBA2}" type="pres">
      <dgm:prSet presAssocID="{37EC33A5-86E7-474E-A372-BA2501FBEEFB}" presName="spaceRect" presStyleCnt="0"/>
      <dgm:spPr/>
    </dgm:pt>
    <dgm:pt modelId="{3F36328F-0547-4AF5-9720-A4ED1C3D6A56}" type="pres">
      <dgm:prSet presAssocID="{37EC33A5-86E7-474E-A372-BA2501FBEEFB}" presName="parTx" presStyleLbl="revTx" presStyleIdx="0" presStyleCnt="3">
        <dgm:presLayoutVars>
          <dgm:chMax val="0"/>
          <dgm:chPref val="0"/>
        </dgm:presLayoutVars>
      </dgm:prSet>
      <dgm:spPr/>
    </dgm:pt>
    <dgm:pt modelId="{F6F1CAFA-029F-4090-8436-618E8F80FBE0}" type="pres">
      <dgm:prSet presAssocID="{E562E8CD-B66B-4BC9-9AC6-2C9418F1BED2}" presName="sibTrans" presStyleCnt="0"/>
      <dgm:spPr/>
    </dgm:pt>
    <dgm:pt modelId="{5DE40455-DB06-49B8-A702-1B3E6A432641}" type="pres">
      <dgm:prSet presAssocID="{390F86B8-DE44-4AEC-BD3B-7C44861D671C}" presName="compNode" presStyleCnt="0"/>
      <dgm:spPr/>
    </dgm:pt>
    <dgm:pt modelId="{DA0DF6EA-3EC8-4CCA-9181-AD6D822CF24D}" type="pres">
      <dgm:prSet presAssocID="{390F86B8-DE44-4AEC-BD3B-7C44861D671C}" presName="bgRect" presStyleLbl="bgShp" presStyleIdx="1" presStyleCnt="3"/>
      <dgm:spPr/>
    </dgm:pt>
    <dgm:pt modelId="{B9B3BFA8-F52E-44CB-B70C-C54FF64F75FE}" type="pres">
      <dgm:prSet presAssocID="{390F86B8-DE44-4AEC-BD3B-7C44861D671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6FF663E9-2EB3-4731-90A1-7C49AA902D97}" type="pres">
      <dgm:prSet presAssocID="{390F86B8-DE44-4AEC-BD3B-7C44861D671C}" presName="spaceRect" presStyleCnt="0"/>
      <dgm:spPr/>
    </dgm:pt>
    <dgm:pt modelId="{49EDDCE7-A7AE-4D1F-89E9-C916223BA6B3}" type="pres">
      <dgm:prSet presAssocID="{390F86B8-DE44-4AEC-BD3B-7C44861D671C}" presName="parTx" presStyleLbl="revTx" presStyleIdx="1" presStyleCnt="3">
        <dgm:presLayoutVars>
          <dgm:chMax val="0"/>
          <dgm:chPref val="0"/>
        </dgm:presLayoutVars>
      </dgm:prSet>
      <dgm:spPr/>
    </dgm:pt>
    <dgm:pt modelId="{31A754A9-5BFE-43A6-9AEC-F6D1BF237AF8}" type="pres">
      <dgm:prSet presAssocID="{01D166EC-F276-4B2B-A6EF-4AB1F8801716}" presName="sibTrans" presStyleCnt="0"/>
      <dgm:spPr/>
    </dgm:pt>
    <dgm:pt modelId="{982C1E5F-591C-4156-BC03-6A81CA2627AD}" type="pres">
      <dgm:prSet presAssocID="{CC9557DE-59BB-4C47-B155-E53C0D2E8573}" presName="compNode" presStyleCnt="0"/>
      <dgm:spPr/>
    </dgm:pt>
    <dgm:pt modelId="{148E6F8E-5155-4960-B961-C2E8BECC2CFE}" type="pres">
      <dgm:prSet presAssocID="{CC9557DE-59BB-4C47-B155-E53C0D2E8573}" presName="bgRect" presStyleLbl="bgShp" presStyleIdx="2" presStyleCnt="3"/>
      <dgm:spPr/>
    </dgm:pt>
    <dgm:pt modelId="{61C4DD7C-09BC-4E27-9290-3E54374100D8}" type="pres">
      <dgm:prSet presAssocID="{CC9557DE-59BB-4C47-B155-E53C0D2E857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ffice Worker"/>
        </a:ext>
      </dgm:extLst>
    </dgm:pt>
    <dgm:pt modelId="{00D2F2CD-41A6-40EC-9CF4-2F49E24A41FA}" type="pres">
      <dgm:prSet presAssocID="{CC9557DE-59BB-4C47-B155-E53C0D2E8573}" presName="spaceRect" presStyleCnt="0"/>
      <dgm:spPr/>
    </dgm:pt>
    <dgm:pt modelId="{5A7758F0-C8CF-421E-9507-BC9D7E965457}" type="pres">
      <dgm:prSet presAssocID="{CC9557DE-59BB-4C47-B155-E53C0D2E8573}" presName="parTx" presStyleLbl="revTx" presStyleIdx="2" presStyleCnt="3">
        <dgm:presLayoutVars>
          <dgm:chMax val="0"/>
          <dgm:chPref val="0"/>
        </dgm:presLayoutVars>
      </dgm:prSet>
      <dgm:spPr/>
    </dgm:pt>
  </dgm:ptLst>
  <dgm:cxnLst>
    <dgm:cxn modelId="{11B01C42-68BB-401C-AB68-112E91A74284}" type="presOf" srcId="{5259FF34-5861-426F-B6A7-A13CECFB9EA7}" destId="{48E5AD9E-5507-4698-A0C7-ABC760EEDE08}" srcOrd="0" destOrd="0" presId="urn:microsoft.com/office/officeart/2018/2/layout/IconVerticalSolidList"/>
    <dgm:cxn modelId="{284D524F-9B7A-4A8E-923D-511ACA8756B1}" type="presOf" srcId="{390F86B8-DE44-4AEC-BD3B-7C44861D671C}" destId="{49EDDCE7-A7AE-4D1F-89E9-C916223BA6B3}" srcOrd="0" destOrd="0" presId="urn:microsoft.com/office/officeart/2018/2/layout/IconVerticalSolidList"/>
    <dgm:cxn modelId="{8F946D79-9491-4ECF-B3CA-46EA0F31B28E}" type="presOf" srcId="{37EC33A5-86E7-474E-A372-BA2501FBEEFB}" destId="{3F36328F-0547-4AF5-9720-A4ED1C3D6A56}" srcOrd="0" destOrd="0" presId="urn:microsoft.com/office/officeart/2018/2/layout/IconVerticalSolidList"/>
    <dgm:cxn modelId="{75544C89-D224-4887-97C3-71AED5A8A297}" srcId="{5259FF34-5861-426F-B6A7-A13CECFB9EA7}" destId="{390F86B8-DE44-4AEC-BD3B-7C44861D671C}" srcOrd="1" destOrd="0" parTransId="{37EB643C-602E-40A7-8B9F-80E860EF17F5}" sibTransId="{01D166EC-F276-4B2B-A6EF-4AB1F8801716}"/>
    <dgm:cxn modelId="{E3CFF394-BAF5-483C-B380-CE8E2D41B1D8}" type="presOf" srcId="{CC9557DE-59BB-4C47-B155-E53C0D2E8573}" destId="{5A7758F0-C8CF-421E-9507-BC9D7E965457}" srcOrd="0" destOrd="0" presId="urn:microsoft.com/office/officeart/2018/2/layout/IconVerticalSolidList"/>
    <dgm:cxn modelId="{80A8D2C6-A237-4A13-940B-11A7797BC302}" srcId="{5259FF34-5861-426F-B6A7-A13CECFB9EA7}" destId="{37EC33A5-86E7-474E-A372-BA2501FBEEFB}" srcOrd="0" destOrd="0" parTransId="{9C388BF2-DC4A-4481-9317-10BA65D2F83A}" sibTransId="{E562E8CD-B66B-4BC9-9AC6-2C9418F1BED2}"/>
    <dgm:cxn modelId="{9FF994F4-4A86-4507-9F9D-9D98D87276DD}" srcId="{5259FF34-5861-426F-B6A7-A13CECFB9EA7}" destId="{CC9557DE-59BB-4C47-B155-E53C0D2E8573}" srcOrd="2" destOrd="0" parTransId="{E68D62E2-C08A-4A1D-8BE9-812AE976592D}" sibTransId="{3F006D4D-866A-4B7D-9461-7F0885F0E713}"/>
    <dgm:cxn modelId="{6C1AC788-BA37-4D2F-8751-AD2A7518C556}" type="presParOf" srcId="{48E5AD9E-5507-4698-A0C7-ABC760EEDE08}" destId="{71ADA7F3-0E14-471D-9C05-CF52E9374FEE}" srcOrd="0" destOrd="0" presId="urn:microsoft.com/office/officeart/2018/2/layout/IconVerticalSolidList"/>
    <dgm:cxn modelId="{BAC627DD-742F-4530-A930-40BC2ED6F6E2}" type="presParOf" srcId="{71ADA7F3-0E14-471D-9C05-CF52E9374FEE}" destId="{23C21152-8C70-4660-90EF-891082E6B3F3}" srcOrd="0" destOrd="0" presId="urn:microsoft.com/office/officeart/2018/2/layout/IconVerticalSolidList"/>
    <dgm:cxn modelId="{E259B2F1-8F15-42E3-8732-75A81F8554B7}" type="presParOf" srcId="{71ADA7F3-0E14-471D-9C05-CF52E9374FEE}" destId="{2149A263-2EA6-4296-BBEE-9483C0F46EB6}" srcOrd="1" destOrd="0" presId="urn:microsoft.com/office/officeart/2018/2/layout/IconVerticalSolidList"/>
    <dgm:cxn modelId="{1184DC96-F3D1-446D-BF4C-7DB7FAE295F1}" type="presParOf" srcId="{71ADA7F3-0E14-471D-9C05-CF52E9374FEE}" destId="{74D62B5E-60A5-4E34-B229-79149993FBA2}" srcOrd="2" destOrd="0" presId="urn:microsoft.com/office/officeart/2018/2/layout/IconVerticalSolidList"/>
    <dgm:cxn modelId="{4F54BEF5-302A-484F-9DE0-7232B08DA7AA}" type="presParOf" srcId="{71ADA7F3-0E14-471D-9C05-CF52E9374FEE}" destId="{3F36328F-0547-4AF5-9720-A4ED1C3D6A56}" srcOrd="3" destOrd="0" presId="urn:microsoft.com/office/officeart/2018/2/layout/IconVerticalSolidList"/>
    <dgm:cxn modelId="{CA20CC28-C394-4077-8E2F-BC25A09E9341}" type="presParOf" srcId="{48E5AD9E-5507-4698-A0C7-ABC760EEDE08}" destId="{F6F1CAFA-029F-4090-8436-618E8F80FBE0}" srcOrd="1" destOrd="0" presId="urn:microsoft.com/office/officeart/2018/2/layout/IconVerticalSolidList"/>
    <dgm:cxn modelId="{E4D11AC8-D92A-4F41-81B3-90672D47EAB0}" type="presParOf" srcId="{48E5AD9E-5507-4698-A0C7-ABC760EEDE08}" destId="{5DE40455-DB06-49B8-A702-1B3E6A432641}" srcOrd="2" destOrd="0" presId="urn:microsoft.com/office/officeart/2018/2/layout/IconVerticalSolidList"/>
    <dgm:cxn modelId="{424B79E3-04C7-4AAE-A643-E57CE66254CD}" type="presParOf" srcId="{5DE40455-DB06-49B8-A702-1B3E6A432641}" destId="{DA0DF6EA-3EC8-4CCA-9181-AD6D822CF24D}" srcOrd="0" destOrd="0" presId="urn:microsoft.com/office/officeart/2018/2/layout/IconVerticalSolidList"/>
    <dgm:cxn modelId="{112C192F-3040-49BE-98DA-9B5776EF29D4}" type="presParOf" srcId="{5DE40455-DB06-49B8-A702-1B3E6A432641}" destId="{B9B3BFA8-F52E-44CB-B70C-C54FF64F75FE}" srcOrd="1" destOrd="0" presId="urn:microsoft.com/office/officeart/2018/2/layout/IconVerticalSolidList"/>
    <dgm:cxn modelId="{71BE84F9-2278-4F9A-910A-9A3E89715384}" type="presParOf" srcId="{5DE40455-DB06-49B8-A702-1B3E6A432641}" destId="{6FF663E9-2EB3-4731-90A1-7C49AA902D97}" srcOrd="2" destOrd="0" presId="urn:microsoft.com/office/officeart/2018/2/layout/IconVerticalSolidList"/>
    <dgm:cxn modelId="{FD330920-2281-4057-9221-84132AC7104D}" type="presParOf" srcId="{5DE40455-DB06-49B8-A702-1B3E6A432641}" destId="{49EDDCE7-A7AE-4D1F-89E9-C916223BA6B3}" srcOrd="3" destOrd="0" presId="urn:microsoft.com/office/officeart/2018/2/layout/IconVerticalSolidList"/>
    <dgm:cxn modelId="{8EBFD522-0675-4259-B57A-78411F93B7C2}" type="presParOf" srcId="{48E5AD9E-5507-4698-A0C7-ABC760EEDE08}" destId="{31A754A9-5BFE-43A6-9AEC-F6D1BF237AF8}" srcOrd="3" destOrd="0" presId="urn:microsoft.com/office/officeart/2018/2/layout/IconVerticalSolidList"/>
    <dgm:cxn modelId="{4670D842-D816-4155-BF43-60EA09D38F8B}" type="presParOf" srcId="{48E5AD9E-5507-4698-A0C7-ABC760EEDE08}" destId="{982C1E5F-591C-4156-BC03-6A81CA2627AD}" srcOrd="4" destOrd="0" presId="urn:microsoft.com/office/officeart/2018/2/layout/IconVerticalSolidList"/>
    <dgm:cxn modelId="{BD616F6D-933C-424A-B6A5-918595C91C66}" type="presParOf" srcId="{982C1E5F-591C-4156-BC03-6A81CA2627AD}" destId="{148E6F8E-5155-4960-B961-C2E8BECC2CFE}" srcOrd="0" destOrd="0" presId="urn:microsoft.com/office/officeart/2018/2/layout/IconVerticalSolidList"/>
    <dgm:cxn modelId="{418A04B3-C7D4-4A8C-B5F0-BE131475A7A6}" type="presParOf" srcId="{982C1E5F-591C-4156-BC03-6A81CA2627AD}" destId="{61C4DD7C-09BC-4E27-9290-3E54374100D8}" srcOrd="1" destOrd="0" presId="urn:microsoft.com/office/officeart/2018/2/layout/IconVerticalSolidList"/>
    <dgm:cxn modelId="{993E7A44-B373-44C6-A530-9C2A4324FF89}" type="presParOf" srcId="{982C1E5F-591C-4156-BC03-6A81CA2627AD}" destId="{00D2F2CD-41A6-40EC-9CF4-2F49E24A41FA}" srcOrd="2" destOrd="0" presId="urn:microsoft.com/office/officeart/2018/2/layout/IconVerticalSolidList"/>
    <dgm:cxn modelId="{16DB57E2-D538-4C00-A0FC-4762B4DA53E9}" type="presParOf" srcId="{982C1E5F-591C-4156-BC03-6A81CA2627AD}" destId="{5A7758F0-C8CF-421E-9507-BC9D7E96545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51DB4E4-83CD-4865-B1BE-0C6A945572DD}"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A3FDC43B-AFA7-4F84-974D-AA6DEBC55724}">
      <dgm:prSet phldr="0"/>
      <dgm:spPr/>
      <dgm:t>
        <a:bodyPr/>
        <a:lstStyle/>
        <a:p>
          <a:r>
            <a:rPr lang="en-US"/>
            <a:t>To recommend strategies for addressing the barriers to women's employment in rural India and promoting women's economic empowerment.</a:t>
          </a:r>
        </a:p>
      </dgm:t>
    </dgm:pt>
    <dgm:pt modelId="{5409EDC1-0853-4685-B6CD-63DEA68B82A2}" type="parTrans" cxnId="{85A713E7-0EC4-463D-9CAC-7185B2EFC7F9}">
      <dgm:prSet/>
      <dgm:spPr/>
      <dgm:t>
        <a:bodyPr/>
        <a:lstStyle/>
        <a:p>
          <a:endParaRPr lang="en-US"/>
        </a:p>
      </dgm:t>
    </dgm:pt>
    <dgm:pt modelId="{679B1BF8-48F4-4927-BAC3-7881506E8FA7}" type="sibTrans" cxnId="{85A713E7-0EC4-463D-9CAC-7185B2EFC7F9}">
      <dgm:prSet/>
      <dgm:spPr/>
      <dgm:t>
        <a:bodyPr/>
        <a:lstStyle/>
        <a:p>
          <a:endParaRPr lang="en-US"/>
        </a:p>
      </dgm:t>
    </dgm:pt>
    <dgm:pt modelId="{93C4EC60-7A9A-4FF1-8419-ED6D4C84D497}">
      <dgm:prSet phldr="0"/>
      <dgm:spPr/>
      <dgm:t>
        <a:bodyPr/>
        <a:lstStyle/>
        <a:p>
          <a:pPr rtl="0"/>
          <a:r>
            <a:rPr lang="en-US"/>
            <a:t>To identify the main barriers to women's employment in rural areas, including cultural and social norms, lack of education and training opportunities, and discrimination in the hiring process.</a:t>
          </a:r>
        </a:p>
      </dgm:t>
    </dgm:pt>
    <dgm:pt modelId="{F0FEB43B-2956-44CF-B01F-41D08EBAB1F8}" type="parTrans" cxnId="{EA474CF4-DCB2-4E1B-9415-7CCBA12D93D2}">
      <dgm:prSet/>
      <dgm:spPr/>
    </dgm:pt>
    <dgm:pt modelId="{DF108FFB-EC48-40C3-95FF-93E2EE471C03}" type="sibTrans" cxnId="{EA474CF4-DCB2-4E1B-9415-7CCBA12D93D2}">
      <dgm:prSet/>
      <dgm:spPr/>
    </dgm:pt>
    <dgm:pt modelId="{872CFAE9-4F28-4915-932F-244095982888}">
      <dgm:prSet phldr="0"/>
      <dgm:spPr/>
      <dgm:t>
        <a:bodyPr/>
        <a:lstStyle/>
        <a:p>
          <a:r>
            <a:rPr lang="en-US"/>
            <a:t>To understand the  perspectives of women in rural areas who are seeking employment opportunities and the challenges they face in the hiring process.</a:t>
          </a:r>
        </a:p>
      </dgm:t>
    </dgm:pt>
    <dgm:pt modelId="{92987F17-CFE1-46B2-BF81-383437F866F3}" type="parTrans" cxnId="{17663793-DADE-4501-B0F9-1EC58375E421}">
      <dgm:prSet/>
      <dgm:spPr/>
    </dgm:pt>
    <dgm:pt modelId="{30B7C697-B458-4A9C-852D-0C0A70B2B4C6}" type="sibTrans" cxnId="{17663793-DADE-4501-B0F9-1EC58375E421}">
      <dgm:prSet/>
      <dgm:spPr/>
    </dgm:pt>
    <dgm:pt modelId="{591DC2C5-4D4A-46E9-862D-2CE0572651AB}">
      <dgm:prSet phldr="0"/>
      <dgm:spPr/>
      <dgm:t>
        <a:bodyPr/>
        <a:lstStyle/>
        <a:p>
          <a:r>
            <a:rPr lang="en-US"/>
            <a:t>To assess the impact of household responsibilities on women's ability to participate in the workforce.</a:t>
          </a:r>
        </a:p>
      </dgm:t>
    </dgm:pt>
    <dgm:pt modelId="{1D004DCE-C7CD-4752-ADB3-BAB8CB17A515}" type="parTrans" cxnId="{61D2B83C-975B-4B78-9BBD-D75D17D49C87}">
      <dgm:prSet/>
      <dgm:spPr/>
    </dgm:pt>
    <dgm:pt modelId="{6B31F817-2185-4C83-AFE3-80F8770D9428}" type="sibTrans" cxnId="{61D2B83C-975B-4B78-9BBD-D75D17D49C87}">
      <dgm:prSet/>
      <dgm:spPr/>
    </dgm:pt>
    <dgm:pt modelId="{2D416B6A-FA77-473B-963B-FFBCF17105EA}">
      <dgm:prSet phldr="0"/>
      <dgm:spPr/>
      <dgm:t>
        <a:bodyPr/>
        <a:lstStyle/>
        <a:p>
          <a:r>
            <a:rPr lang="en-US"/>
            <a:t>To examine the role of technology and digital infrastructure in promoting women's employment in rural areas.</a:t>
          </a:r>
        </a:p>
      </dgm:t>
    </dgm:pt>
    <dgm:pt modelId="{E9F18D4C-ABA3-4EF8-91B3-1BD564E3BFC1}" type="parTrans" cxnId="{4624C475-13F0-4B13-9C81-0DB15A212077}">
      <dgm:prSet/>
      <dgm:spPr/>
    </dgm:pt>
    <dgm:pt modelId="{322C91CF-9380-4AB1-A9B9-16004E3FE132}" type="sibTrans" cxnId="{4624C475-13F0-4B13-9C81-0DB15A212077}">
      <dgm:prSet/>
      <dgm:spPr/>
    </dgm:pt>
    <dgm:pt modelId="{158B2957-4DE5-4BF2-8F08-22457BCD35CB}">
      <dgm:prSet phldr="0"/>
      <dgm:spPr/>
      <dgm:t>
        <a:bodyPr/>
        <a:lstStyle/>
        <a:p>
          <a:r>
            <a:rPr lang="en-US"/>
            <a:t>To assess the impact of government policies and programs for women empowerment and to identify areas for improvement.</a:t>
          </a:r>
        </a:p>
      </dgm:t>
    </dgm:pt>
    <dgm:pt modelId="{BB3443A4-1620-45F1-91C2-0489CD5B69EC}" type="parTrans" cxnId="{313F2A31-9F04-4E70-BE53-39E2CD918291}">
      <dgm:prSet/>
      <dgm:spPr/>
    </dgm:pt>
    <dgm:pt modelId="{75183A77-5C55-44B7-AC3A-1D81C27C8FD2}" type="sibTrans" cxnId="{313F2A31-9F04-4E70-BE53-39E2CD918291}">
      <dgm:prSet/>
      <dgm:spPr/>
    </dgm:pt>
    <dgm:pt modelId="{19B1B211-CC1F-4B7F-9856-0E2E09E69760}" type="pres">
      <dgm:prSet presAssocID="{451DB4E4-83CD-4865-B1BE-0C6A945572DD}" presName="linear" presStyleCnt="0">
        <dgm:presLayoutVars>
          <dgm:animLvl val="lvl"/>
          <dgm:resizeHandles val="exact"/>
        </dgm:presLayoutVars>
      </dgm:prSet>
      <dgm:spPr/>
    </dgm:pt>
    <dgm:pt modelId="{22B5E31B-9328-4C8F-BBF5-30D59AA2740A}" type="pres">
      <dgm:prSet presAssocID="{93C4EC60-7A9A-4FF1-8419-ED6D4C84D497}" presName="parentText" presStyleLbl="node1" presStyleIdx="0" presStyleCnt="6">
        <dgm:presLayoutVars>
          <dgm:chMax val="0"/>
          <dgm:bulletEnabled val="1"/>
        </dgm:presLayoutVars>
      </dgm:prSet>
      <dgm:spPr/>
    </dgm:pt>
    <dgm:pt modelId="{F754DA71-F01A-47C1-87C5-7CF6909A4553}" type="pres">
      <dgm:prSet presAssocID="{DF108FFB-EC48-40C3-95FF-93E2EE471C03}" presName="spacer" presStyleCnt="0"/>
      <dgm:spPr/>
    </dgm:pt>
    <dgm:pt modelId="{E5B73A66-6816-4518-9AEE-B8143C71AEB5}" type="pres">
      <dgm:prSet presAssocID="{872CFAE9-4F28-4915-932F-244095982888}" presName="parentText" presStyleLbl="node1" presStyleIdx="1" presStyleCnt="6">
        <dgm:presLayoutVars>
          <dgm:chMax val="0"/>
          <dgm:bulletEnabled val="1"/>
        </dgm:presLayoutVars>
      </dgm:prSet>
      <dgm:spPr/>
    </dgm:pt>
    <dgm:pt modelId="{C3DEB96E-B116-408B-ACD9-E7FAB32581CA}" type="pres">
      <dgm:prSet presAssocID="{30B7C697-B458-4A9C-852D-0C0A70B2B4C6}" presName="spacer" presStyleCnt="0"/>
      <dgm:spPr/>
    </dgm:pt>
    <dgm:pt modelId="{F29A3F39-D0EF-4593-89DD-0D95D5E66119}" type="pres">
      <dgm:prSet presAssocID="{591DC2C5-4D4A-46E9-862D-2CE0572651AB}" presName="parentText" presStyleLbl="node1" presStyleIdx="2" presStyleCnt="6">
        <dgm:presLayoutVars>
          <dgm:chMax val="0"/>
          <dgm:bulletEnabled val="1"/>
        </dgm:presLayoutVars>
      </dgm:prSet>
      <dgm:spPr/>
    </dgm:pt>
    <dgm:pt modelId="{90ADED33-27FF-4955-B083-170E568E52D6}" type="pres">
      <dgm:prSet presAssocID="{6B31F817-2185-4C83-AFE3-80F8770D9428}" presName="spacer" presStyleCnt="0"/>
      <dgm:spPr/>
    </dgm:pt>
    <dgm:pt modelId="{EB188816-68A8-46EB-A80F-49EBF065228B}" type="pres">
      <dgm:prSet presAssocID="{2D416B6A-FA77-473B-963B-FFBCF17105EA}" presName="parentText" presStyleLbl="node1" presStyleIdx="3" presStyleCnt="6">
        <dgm:presLayoutVars>
          <dgm:chMax val="0"/>
          <dgm:bulletEnabled val="1"/>
        </dgm:presLayoutVars>
      </dgm:prSet>
      <dgm:spPr/>
    </dgm:pt>
    <dgm:pt modelId="{8A951E5D-75A4-422C-A23D-D995B2984469}" type="pres">
      <dgm:prSet presAssocID="{322C91CF-9380-4AB1-A9B9-16004E3FE132}" presName="spacer" presStyleCnt="0"/>
      <dgm:spPr/>
    </dgm:pt>
    <dgm:pt modelId="{247BD8A4-A645-4A18-8C18-3EA0A94CAADD}" type="pres">
      <dgm:prSet presAssocID="{158B2957-4DE5-4BF2-8F08-22457BCD35CB}" presName="parentText" presStyleLbl="node1" presStyleIdx="4" presStyleCnt="6">
        <dgm:presLayoutVars>
          <dgm:chMax val="0"/>
          <dgm:bulletEnabled val="1"/>
        </dgm:presLayoutVars>
      </dgm:prSet>
      <dgm:spPr/>
    </dgm:pt>
    <dgm:pt modelId="{EB471670-BD9C-4E6C-9AE1-6FAA44F2C42C}" type="pres">
      <dgm:prSet presAssocID="{75183A77-5C55-44B7-AC3A-1D81C27C8FD2}" presName="spacer" presStyleCnt="0"/>
      <dgm:spPr/>
    </dgm:pt>
    <dgm:pt modelId="{C4335CE9-16D0-45A0-8AFB-F0CC3BACB7C6}" type="pres">
      <dgm:prSet presAssocID="{A3FDC43B-AFA7-4F84-974D-AA6DEBC55724}" presName="parentText" presStyleLbl="node1" presStyleIdx="5" presStyleCnt="6">
        <dgm:presLayoutVars>
          <dgm:chMax val="0"/>
          <dgm:bulletEnabled val="1"/>
        </dgm:presLayoutVars>
      </dgm:prSet>
      <dgm:spPr/>
    </dgm:pt>
  </dgm:ptLst>
  <dgm:cxnLst>
    <dgm:cxn modelId="{313F2A31-9F04-4E70-BE53-39E2CD918291}" srcId="{451DB4E4-83CD-4865-B1BE-0C6A945572DD}" destId="{158B2957-4DE5-4BF2-8F08-22457BCD35CB}" srcOrd="4" destOrd="0" parTransId="{BB3443A4-1620-45F1-91C2-0489CD5B69EC}" sibTransId="{75183A77-5C55-44B7-AC3A-1D81C27C8FD2}"/>
    <dgm:cxn modelId="{61D2B83C-975B-4B78-9BBD-D75D17D49C87}" srcId="{451DB4E4-83CD-4865-B1BE-0C6A945572DD}" destId="{591DC2C5-4D4A-46E9-862D-2CE0572651AB}" srcOrd="2" destOrd="0" parTransId="{1D004DCE-C7CD-4752-ADB3-BAB8CB17A515}" sibTransId="{6B31F817-2185-4C83-AFE3-80F8770D9428}"/>
    <dgm:cxn modelId="{4624C475-13F0-4B13-9C81-0DB15A212077}" srcId="{451DB4E4-83CD-4865-B1BE-0C6A945572DD}" destId="{2D416B6A-FA77-473B-963B-FFBCF17105EA}" srcOrd="3" destOrd="0" parTransId="{E9F18D4C-ABA3-4EF8-91B3-1BD564E3BFC1}" sibTransId="{322C91CF-9380-4AB1-A9B9-16004E3FE132}"/>
    <dgm:cxn modelId="{5605A57E-D7DE-4C24-B3EB-CE65C22FB1B9}" type="presOf" srcId="{591DC2C5-4D4A-46E9-862D-2CE0572651AB}" destId="{F29A3F39-D0EF-4593-89DD-0D95D5E66119}" srcOrd="0" destOrd="0" presId="urn:microsoft.com/office/officeart/2005/8/layout/vList2"/>
    <dgm:cxn modelId="{17663793-DADE-4501-B0F9-1EC58375E421}" srcId="{451DB4E4-83CD-4865-B1BE-0C6A945572DD}" destId="{872CFAE9-4F28-4915-932F-244095982888}" srcOrd="1" destOrd="0" parTransId="{92987F17-CFE1-46B2-BF81-383437F866F3}" sibTransId="{30B7C697-B458-4A9C-852D-0C0A70B2B4C6}"/>
    <dgm:cxn modelId="{1BE6C098-D52B-45DB-BE29-85842C8996AC}" type="presOf" srcId="{451DB4E4-83CD-4865-B1BE-0C6A945572DD}" destId="{19B1B211-CC1F-4B7F-9856-0E2E09E69760}" srcOrd="0" destOrd="0" presId="urn:microsoft.com/office/officeart/2005/8/layout/vList2"/>
    <dgm:cxn modelId="{F6059CD3-0F8D-4E95-9D9B-549A1345700A}" type="presOf" srcId="{2D416B6A-FA77-473B-963B-FFBCF17105EA}" destId="{EB188816-68A8-46EB-A80F-49EBF065228B}" srcOrd="0" destOrd="0" presId="urn:microsoft.com/office/officeart/2005/8/layout/vList2"/>
    <dgm:cxn modelId="{A220DEDC-E176-4B1C-95C0-9FB62853940E}" type="presOf" srcId="{872CFAE9-4F28-4915-932F-244095982888}" destId="{E5B73A66-6816-4518-9AEE-B8143C71AEB5}" srcOrd="0" destOrd="0" presId="urn:microsoft.com/office/officeart/2005/8/layout/vList2"/>
    <dgm:cxn modelId="{85A713E7-0EC4-463D-9CAC-7185B2EFC7F9}" srcId="{451DB4E4-83CD-4865-B1BE-0C6A945572DD}" destId="{A3FDC43B-AFA7-4F84-974D-AA6DEBC55724}" srcOrd="5" destOrd="0" parTransId="{5409EDC1-0853-4685-B6CD-63DEA68B82A2}" sibTransId="{679B1BF8-48F4-4927-BAC3-7881506E8FA7}"/>
    <dgm:cxn modelId="{763C15EE-7912-4174-8B0D-DCD389C1B37D}" type="presOf" srcId="{93C4EC60-7A9A-4FF1-8419-ED6D4C84D497}" destId="{22B5E31B-9328-4C8F-BBF5-30D59AA2740A}" srcOrd="0" destOrd="0" presId="urn:microsoft.com/office/officeart/2005/8/layout/vList2"/>
    <dgm:cxn modelId="{843529F3-DAAC-408F-9787-BC8C041EF47E}" type="presOf" srcId="{158B2957-4DE5-4BF2-8F08-22457BCD35CB}" destId="{247BD8A4-A645-4A18-8C18-3EA0A94CAADD}" srcOrd="0" destOrd="0" presId="urn:microsoft.com/office/officeart/2005/8/layout/vList2"/>
    <dgm:cxn modelId="{EA474CF4-DCB2-4E1B-9415-7CCBA12D93D2}" srcId="{451DB4E4-83CD-4865-B1BE-0C6A945572DD}" destId="{93C4EC60-7A9A-4FF1-8419-ED6D4C84D497}" srcOrd="0" destOrd="0" parTransId="{F0FEB43B-2956-44CF-B01F-41D08EBAB1F8}" sibTransId="{DF108FFB-EC48-40C3-95FF-93E2EE471C03}"/>
    <dgm:cxn modelId="{0E68D5FF-870F-4B48-87AF-769DF53601E5}" type="presOf" srcId="{A3FDC43B-AFA7-4F84-974D-AA6DEBC55724}" destId="{C4335CE9-16D0-45A0-8AFB-F0CC3BACB7C6}" srcOrd="0" destOrd="0" presId="urn:microsoft.com/office/officeart/2005/8/layout/vList2"/>
    <dgm:cxn modelId="{2A3783AD-9B6A-48E2-85AD-AEDC72906A70}" type="presParOf" srcId="{19B1B211-CC1F-4B7F-9856-0E2E09E69760}" destId="{22B5E31B-9328-4C8F-BBF5-30D59AA2740A}" srcOrd="0" destOrd="0" presId="urn:microsoft.com/office/officeart/2005/8/layout/vList2"/>
    <dgm:cxn modelId="{BB09C2C1-A727-4386-B172-CD0A92C3090D}" type="presParOf" srcId="{19B1B211-CC1F-4B7F-9856-0E2E09E69760}" destId="{F754DA71-F01A-47C1-87C5-7CF6909A4553}" srcOrd="1" destOrd="0" presId="urn:microsoft.com/office/officeart/2005/8/layout/vList2"/>
    <dgm:cxn modelId="{BA955DD4-5BFC-44B6-9984-976D806580E3}" type="presParOf" srcId="{19B1B211-CC1F-4B7F-9856-0E2E09E69760}" destId="{E5B73A66-6816-4518-9AEE-B8143C71AEB5}" srcOrd="2" destOrd="0" presId="urn:microsoft.com/office/officeart/2005/8/layout/vList2"/>
    <dgm:cxn modelId="{5390564F-032C-42C7-8605-15B033E97CAE}" type="presParOf" srcId="{19B1B211-CC1F-4B7F-9856-0E2E09E69760}" destId="{C3DEB96E-B116-408B-ACD9-E7FAB32581CA}" srcOrd="3" destOrd="0" presId="urn:microsoft.com/office/officeart/2005/8/layout/vList2"/>
    <dgm:cxn modelId="{9B7D2C6F-6BBD-46FA-A8DD-2034E649CF25}" type="presParOf" srcId="{19B1B211-CC1F-4B7F-9856-0E2E09E69760}" destId="{F29A3F39-D0EF-4593-89DD-0D95D5E66119}" srcOrd="4" destOrd="0" presId="urn:microsoft.com/office/officeart/2005/8/layout/vList2"/>
    <dgm:cxn modelId="{4EF396E9-B0DB-4C70-B3FC-5D22CA96A841}" type="presParOf" srcId="{19B1B211-CC1F-4B7F-9856-0E2E09E69760}" destId="{90ADED33-27FF-4955-B083-170E568E52D6}" srcOrd="5" destOrd="0" presId="urn:microsoft.com/office/officeart/2005/8/layout/vList2"/>
    <dgm:cxn modelId="{F8947462-83C1-4523-BF03-F9FDEF34BBD5}" type="presParOf" srcId="{19B1B211-CC1F-4B7F-9856-0E2E09E69760}" destId="{EB188816-68A8-46EB-A80F-49EBF065228B}" srcOrd="6" destOrd="0" presId="urn:microsoft.com/office/officeart/2005/8/layout/vList2"/>
    <dgm:cxn modelId="{3CB9D3C6-BB1B-4577-9394-FC0EACF098CC}" type="presParOf" srcId="{19B1B211-CC1F-4B7F-9856-0E2E09E69760}" destId="{8A951E5D-75A4-422C-A23D-D995B2984469}" srcOrd="7" destOrd="0" presId="urn:microsoft.com/office/officeart/2005/8/layout/vList2"/>
    <dgm:cxn modelId="{35681D0C-C2BB-4D50-9D1F-9F51C1800758}" type="presParOf" srcId="{19B1B211-CC1F-4B7F-9856-0E2E09E69760}" destId="{247BD8A4-A645-4A18-8C18-3EA0A94CAADD}" srcOrd="8" destOrd="0" presId="urn:microsoft.com/office/officeart/2005/8/layout/vList2"/>
    <dgm:cxn modelId="{9731163D-D5DD-4C3B-B62C-DE3F6FE9E428}" type="presParOf" srcId="{19B1B211-CC1F-4B7F-9856-0E2E09E69760}" destId="{EB471670-BD9C-4E6C-9AE1-6FAA44F2C42C}" srcOrd="9" destOrd="0" presId="urn:microsoft.com/office/officeart/2005/8/layout/vList2"/>
    <dgm:cxn modelId="{DE4F5A3D-7D40-4BCA-90A5-A9AAA8DBD96E}" type="presParOf" srcId="{19B1B211-CC1F-4B7F-9856-0E2E09E69760}" destId="{C4335CE9-16D0-45A0-8AFB-F0CC3BACB7C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00EC19-FF1E-4ED5-B015-9A32650C8ACF}"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B6C59F3B-5233-4388-BB45-779DB99A7BD2}">
      <dgm:prSet phldr="0"/>
      <dgm:spPr/>
      <dgm:t>
        <a:bodyPr/>
        <a:lstStyle/>
        <a:p>
          <a:pPr algn="l">
            <a:lnSpc>
              <a:spcPct val="90000"/>
            </a:lnSpc>
          </a:pPr>
          <a:r>
            <a:rPr lang="en-US">
              <a:latin typeface="Calibri"/>
              <a:cs typeface="Calibri"/>
            </a:rPr>
            <a:t>Observational studies: Observing participants in their natural environment.</a:t>
          </a:r>
          <a:endParaRPr lang="en-US"/>
        </a:p>
      </dgm:t>
    </dgm:pt>
    <dgm:pt modelId="{86AAE4B9-6374-4C34-9CC2-502C3CBE9BAE}" type="parTrans" cxnId="{9CB3FBCF-80E4-4815-9FEF-5975146E75B2}">
      <dgm:prSet/>
      <dgm:spPr/>
      <dgm:t>
        <a:bodyPr/>
        <a:lstStyle/>
        <a:p>
          <a:endParaRPr lang="en-US"/>
        </a:p>
      </dgm:t>
    </dgm:pt>
    <dgm:pt modelId="{EC9A9AC2-2A2C-4B37-A4E8-14609FF99A0E}" type="sibTrans" cxnId="{9CB3FBCF-80E4-4815-9FEF-5975146E75B2}">
      <dgm:prSet/>
      <dgm:spPr/>
      <dgm:t>
        <a:bodyPr/>
        <a:lstStyle/>
        <a:p>
          <a:endParaRPr lang="en-US"/>
        </a:p>
      </dgm:t>
    </dgm:pt>
    <dgm:pt modelId="{035A22C4-7B00-4E6B-9D49-005E4CE5EBE4}">
      <dgm:prSet phldr="0"/>
      <dgm:spPr/>
      <dgm:t>
        <a:bodyPr/>
        <a:lstStyle/>
        <a:p>
          <a:pPr algn="l" rtl="0">
            <a:lnSpc>
              <a:spcPct val="90000"/>
            </a:lnSpc>
          </a:pPr>
          <a:r>
            <a:rPr lang="en-US">
              <a:latin typeface="Calibri"/>
              <a:cs typeface="Calibri"/>
            </a:rPr>
            <a:t>Surveys: used to gather data and get large number of insights into the experiences and perspectives of women in rural areas. It can be administered in person, by mail, or online.</a:t>
          </a:r>
          <a:endParaRPr lang="en-US"/>
        </a:p>
      </dgm:t>
    </dgm:pt>
    <dgm:pt modelId="{982787F9-A5C3-401A-9C23-3FC3523FFD72}" type="parTrans" cxnId="{70E92995-B7B9-4D0C-BF28-C9403750A0A2}">
      <dgm:prSet/>
      <dgm:spPr/>
    </dgm:pt>
    <dgm:pt modelId="{CF6B0947-2D9F-4CEC-B330-86550A0DA37A}" type="sibTrans" cxnId="{70E92995-B7B9-4D0C-BF28-C9403750A0A2}">
      <dgm:prSet/>
      <dgm:spPr/>
      <dgm:t>
        <a:bodyPr/>
        <a:lstStyle/>
        <a:p>
          <a:endParaRPr lang="en-US"/>
        </a:p>
      </dgm:t>
    </dgm:pt>
    <dgm:pt modelId="{FD7F31BB-2913-4E01-8177-97D1B8EDC59D}">
      <dgm:prSet phldr="0"/>
      <dgm:spPr/>
      <dgm:t>
        <a:bodyPr/>
        <a:lstStyle/>
        <a:p>
          <a:pPr algn="l">
            <a:lnSpc>
              <a:spcPct val="90000"/>
            </a:lnSpc>
          </a:pPr>
          <a:r>
            <a:rPr lang="en-US">
              <a:latin typeface="Calibri"/>
              <a:cs typeface="Calibri"/>
            </a:rPr>
            <a:t>Interviews: Interviews can be used to gather detailed information from individual participants related to women's employment in rural India. It can be conducted in person, by phone, or through online platforms as well.</a:t>
          </a:r>
          <a:endParaRPr lang="en-US"/>
        </a:p>
      </dgm:t>
    </dgm:pt>
    <dgm:pt modelId="{6EDE4CB6-6BD5-4200-A3FE-1F6B89811AF9}" type="parTrans" cxnId="{1F62A1BD-550B-49BA-B8C1-22CB24AF3C6E}">
      <dgm:prSet/>
      <dgm:spPr/>
    </dgm:pt>
    <dgm:pt modelId="{D52DA7E0-B267-4437-977F-6DB3CDC6E95E}" type="sibTrans" cxnId="{1F62A1BD-550B-49BA-B8C1-22CB24AF3C6E}">
      <dgm:prSet/>
      <dgm:spPr/>
      <dgm:t>
        <a:bodyPr/>
        <a:lstStyle/>
        <a:p>
          <a:endParaRPr lang="en-US"/>
        </a:p>
      </dgm:t>
    </dgm:pt>
    <dgm:pt modelId="{C666AA59-4205-4015-AB12-CCDDCFB85CA8}">
      <dgm:prSet phldr="0"/>
      <dgm:spPr/>
      <dgm:t>
        <a:bodyPr/>
        <a:lstStyle/>
        <a:p>
          <a:pPr algn="l">
            <a:lnSpc>
              <a:spcPct val="90000"/>
            </a:lnSpc>
          </a:pPr>
          <a:r>
            <a:rPr lang="en-US">
              <a:latin typeface="Calibri"/>
              <a:cs typeface="Calibri"/>
            </a:rPr>
            <a:t>Focus groups: Bringing a small group of participants together to discuss a specific topic and can provide rich insights into the topic.</a:t>
          </a:r>
          <a:endParaRPr lang="en-US"/>
        </a:p>
      </dgm:t>
    </dgm:pt>
    <dgm:pt modelId="{47B95C80-9C06-416D-B002-384572B31937}" type="parTrans" cxnId="{DC9F9737-F90E-4FC6-BE80-491B6F23AE25}">
      <dgm:prSet/>
      <dgm:spPr/>
    </dgm:pt>
    <dgm:pt modelId="{E7FCFD02-F8BF-4A09-867B-F132440A2F2C}" type="sibTrans" cxnId="{DC9F9737-F90E-4FC6-BE80-491B6F23AE25}">
      <dgm:prSet/>
      <dgm:spPr/>
      <dgm:t>
        <a:bodyPr/>
        <a:lstStyle/>
        <a:p>
          <a:endParaRPr lang="en-US"/>
        </a:p>
      </dgm:t>
    </dgm:pt>
    <dgm:pt modelId="{26748E99-0172-4C15-BE9E-0CC8C6A8E9B4}">
      <dgm:prSet phldr="0"/>
      <dgm:spPr/>
      <dgm:t>
        <a:bodyPr/>
        <a:lstStyle/>
        <a:p>
          <a:pPr algn="l">
            <a:lnSpc>
              <a:spcPct val="90000"/>
            </a:lnSpc>
          </a:pPr>
          <a:r>
            <a:rPr lang="en-US">
              <a:latin typeface="Calibri"/>
              <a:cs typeface="Calibri"/>
            </a:rPr>
            <a:t>Case studies: Conducting a detailed investigation which can provide in-depth insights into the challenges faced by women.</a:t>
          </a:r>
          <a:endParaRPr lang="en-US"/>
        </a:p>
      </dgm:t>
    </dgm:pt>
    <dgm:pt modelId="{843A7915-91FF-414C-977A-E09213750B73}" type="parTrans" cxnId="{CACF4496-CEF8-4BD7-B2B0-83E4D9F666A7}">
      <dgm:prSet/>
      <dgm:spPr/>
    </dgm:pt>
    <dgm:pt modelId="{74BAAFD5-E85A-40B8-BB73-A9B9901290E1}" type="sibTrans" cxnId="{CACF4496-CEF8-4BD7-B2B0-83E4D9F666A7}">
      <dgm:prSet/>
      <dgm:spPr/>
      <dgm:t>
        <a:bodyPr/>
        <a:lstStyle/>
        <a:p>
          <a:endParaRPr lang="en-US"/>
        </a:p>
      </dgm:t>
    </dgm:pt>
    <dgm:pt modelId="{A9891A04-9B65-47C9-B341-AD4AE467E442}" type="pres">
      <dgm:prSet presAssocID="{3800EC19-FF1E-4ED5-B015-9A32650C8ACF}" presName="linear" presStyleCnt="0">
        <dgm:presLayoutVars>
          <dgm:animLvl val="lvl"/>
          <dgm:resizeHandles val="exact"/>
        </dgm:presLayoutVars>
      </dgm:prSet>
      <dgm:spPr/>
    </dgm:pt>
    <dgm:pt modelId="{400F61EE-9126-4CDA-B28E-3DC524E97AE4}" type="pres">
      <dgm:prSet presAssocID="{035A22C4-7B00-4E6B-9D49-005E4CE5EBE4}" presName="parentText" presStyleLbl="node1" presStyleIdx="0" presStyleCnt="5">
        <dgm:presLayoutVars>
          <dgm:chMax val="0"/>
          <dgm:bulletEnabled val="1"/>
        </dgm:presLayoutVars>
      </dgm:prSet>
      <dgm:spPr/>
    </dgm:pt>
    <dgm:pt modelId="{1712D5D2-396E-497D-A73E-DA9B82A3EEB4}" type="pres">
      <dgm:prSet presAssocID="{CF6B0947-2D9F-4CEC-B330-86550A0DA37A}" presName="spacer" presStyleCnt="0"/>
      <dgm:spPr/>
    </dgm:pt>
    <dgm:pt modelId="{5BA431DA-ECE8-47E9-A136-E1FA685464C6}" type="pres">
      <dgm:prSet presAssocID="{FD7F31BB-2913-4E01-8177-97D1B8EDC59D}" presName="parentText" presStyleLbl="node1" presStyleIdx="1" presStyleCnt="5">
        <dgm:presLayoutVars>
          <dgm:chMax val="0"/>
          <dgm:bulletEnabled val="1"/>
        </dgm:presLayoutVars>
      </dgm:prSet>
      <dgm:spPr/>
    </dgm:pt>
    <dgm:pt modelId="{FC59E29A-48F5-49D2-8943-FBE2E0DDC163}" type="pres">
      <dgm:prSet presAssocID="{D52DA7E0-B267-4437-977F-6DB3CDC6E95E}" presName="spacer" presStyleCnt="0"/>
      <dgm:spPr/>
    </dgm:pt>
    <dgm:pt modelId="{6C75AAAA-63FC-449B-878D-45DA5CBDBAC8}" type="pres">
      <dgm:prSet presAssocID="{C666AA59-4205-4015-AB12-CCDDCFB85CA8}" presName="parentText" presStyleLbl="node1" presStyleIdx="2" presStyleCnt="5">
        <dgm:presLayoutVars>
          <dgm:chMax val="0"/>
          <dgm:bulletEnabled val="1"/>
        </dgm:presLayoutVars>
      </dgm:prSet>
      <dgm:spPr/>
    </dgm:pt>
    <dgm:pt modelId="{F807D145-E450-4583-B806-0558F22EC85A}" type="pres">
      <dgm:prSet presAssocID="{E7FCFD02-F8BF-4A09-867B-F132440A2F2C}" presName="spacer" presStyleCnt="0"/>
      <dgm:spPr/>
    </dgm:pt>
    <dgm:pt modelId="{51E04138-C323-41DC-A312-241017E33F49}" type="pres">
      <dgm:prSet presAssocID="{26748E99-0172-4C15-BE9E-0CC8C6A8E9B4}" presName="parentText" presStyleLbl="node1" presStyleIdx="3" presStyleCnt="5">
        <dgm:presLayoutVars>
          <dgm:chMax val="0"/>
          <dgm:bulletEnabled val="1"/>
        </dgm:presLayoutVars>
      </dgm:prSet>
      <dgm:spPr/>
    </dgm:pt>
    <dgm:pt modelId="{23A19E3F-8B87-4286-AA2F-0584CA11364A}" type="pres">
      <dgm:prSet presAssocID="{74BAAFD5-E85A-40B8-BB73-A9B9901290E1}" presName="spacer" presStyleCnt="0"/>
      <dgm:spPr/>
    </dgm:pt>
    <dgm:pt modelId="{88C3F8B4-7ED7-480D-9A49-6426EAD07964}" type="pres">
      <dgm:prSet presAssocID="{B6C59F3B-5233-4388-BB45-779DB99A7BD2}" presName="parentText" presStyleLbl="node1" presStyleIdx="4" presStyleCnt="5">
        <dgm:presLayoutVars>
          <dgm:chMax val="0"/>
          <dgm:bulletEnabled val="1"/>
        </dgm:presLayoutVars>
      </dgm:prSet>
      <dgm:spPr/>
    </dgm:pt>
  </dgm:ptLst>
  <dgm:cxnLst>
    <dgm:cxn modelId="{2632CD2D-3673-458F-917F-691D01491F76}" type="presOf" srcId="{26748E99-0172-4C15-BE9E-0CC8C6A8E9B4}" destId="{51E04138-C323-41DC-A312-241017E33F49}" srcOrd="0" destOrd="0" presId="urn:microsoft.com/office/officeart/2005/8/layout/vList2"/>
    <dgm:cxn modelId="{DC9F9737-F90E-4FC6-BE80-491B6F23AE25}" srcId="{3800EC19-FF1E-4ED5-B015-9A32650C8ACF}" destId="{C666AA59-4205-4015-AB12-CCDDCFB85CA8}" srcOrd="2" destOrd="0" parTransId="{47B95C80-9C06-416D-B002-384572B31937}" sibTransId="{E7FCFD02-F8BF-4A09-867B-F132440A2F2C}"/>
    <dgm:cxn modelId="{E9761087-0D42-4BD4-B8EE-DD1408686F82}" type="presOf" srcId="{B6C59F3B-5233-4388-BB45-779DB99A7BD2}" destId="{88C3F8B4-7ED7-480D-9A49-6426EAD07964}" srcOrd="0" destOrd="0" presId="urn:microsoft.com/office/officeart/2005/8/layout/vList2"/>
    <dgm:cxn modelId="{70E92995-B7B9-4D0C-BF28-C9403750A0A2}" srcId="{3800EC19-FF1E-4ED5-B015-9A32650C8ACF}" destId="{035A22C4-7B00-4E6B-9D49-005E4CE5EBE4}" srcOrd="0" destOrd="0" parTransId="{982787F9-A5C3-401A-9C23-3FC3523FFD72}" sibTransId="{CF6B0947-2D9F-4CEC-B330-86550A0DA37A}"/>
    <dgm:cxn modelId="{CACF4496-CEF8-4BD7-B2B0-83E4D9F666A7}" srcId="{3800EC19-FF1E-4ED5-B015-9A32650C8ACF}" destId="{26748E99-0172-4C15-BE9E-0CC8C6A8E9B4}" srcOrd="3" destOrd="0" parTransId="{843A7915-91FF-414C-977A-E09213750B73}" sibTransId="{74BAAFD5-E85A-40B8-BB73-A9B9901290E1}"/>
    <dgm:cxn modelId="{3815BA9B-6492-4704-8AF5-AA0C486750C2}" type="presOf" srcId="{035A22C4-7B00-4E6B-9D49-005E4CE5EBE4}" destId="{400F61EE-9126-4CDA-B28E-3DC524E97AE4}" srcOrd="0" destOrd="0" presId="urn:microsoft.com/office/officeart/2005/8/layout/vList2"/>
    <dgm:cxn modelId="{1F62A1BD-550B-49BA-B8C1-22CB24AF3C6E}" srcId="{3800EC19-FF1E-4ED5-B015-9A32650C8ACF}" destId="{FD7F31BB-2913-4E01-8177-97D1B8EDC59D}" srcOrd="1" destOrd="0" parTransId="{6EDE4CB6-6BD5-4200-A3FE-1F6B89811AF9}" sibTransId="{D52DA7E0-B267-4437-977F-6DB3CDC6E95E}"/>
    <dgm:cxn modelId="{703121BF-8B94-4D75-9D9C-A55CE64EAAC8}" type="presOf" srcId="{3800EC19-FF1E-4ED5-B015-9A32650C8ACF}" destId="{A9891A04-9B65-47C9-B341-AD4AE467E442}" srcOrd="0" destOrd="0" presId="urn:microsoft.com/office/officeart/2005/8/layout/vList2"/>
    <dgm:cxn modelId="{9CB3FBCF-80E4-4815-9FEF-5975146E75B2}" srcId="{3800EC19-FF1E-4ED5-B015-9A32650C8ACF}" destId="{B6C59F3B-5233-4388-BB45-779DB99A7BD2}" srcOrd="4" destOrd="0" parTransId="{86AAE4B9-6374-4C34-9CC2-502C3CBE9BAE}" sibTransId="{EC9A9AC2-2A2C-4B37-A4E8-14609FF99A0E}"/>
    <dgm:cxn modelId="{F756DAD3-CCB2-45AA-B278-E22EB45D4D96}" type="presOf" srcId="{C666AA59-4205-4015-AB12-CCDDCFB85CA8}" destId="{6C75AAAA-63FC-449B-878D-45DA5CBDBAC8}" srcOrd="0" destOrd="0" presId="urn:microsoft.com/office/officeart/2005/8/layout/vList2"/>
    <dgm:cxn modelId="{56A94ED4-E3F7-4291-8CA2-EE9EB4021D2B}" type="presOf" srcId="{FD7F31BB-2913-4E01-8177-97D1B8EDC59D}" destId="{5BA431DA-ECE8-47E9-A136-E1FA685464C6}" srcOrd="0" destOrd="0" presId="urn:microsoft.com/office/officeart/2005/8/layout/vList2"/>
    <dgm:cxn modelId="{079E3C29-AC30-4929-A4F3-240DBA55D3D0}" type="presParOf" srcId="{A9891A04-9B65-47C9-B341-AD4AE467E442}" destId="{400F61EE-9126-4CDA-B28E-3DC524E97AE4}" srcOrd="0" destOrd="0" presId="urn:microsoft.com/office/officeart/2005/8/layout/vList2"/>
    <dgm:cxn modelId="{EBD3018C-89D6-4407-BA2C-9041FA203D9C}" type="presParOf" srcId="{A9891A04-9B65-47C9-B341-AD4AE467E442}" destId="{1712D5D2-396E-497D-A73E-DA9B82A3EEB4}" srcOrd="1" destOrd="0" presId="urn:microsoft.com/office/officeart/2005/8/layout/vList2"/>
    <dgm:cxn modelId="{33707A86-4E24-4317-B848-201A307804B2}" type="presParOf" srcId="{A9891A04-9B65-47C9-B341-AD4AE467E442}" destId="{5BA431DA-ECE8-47E9-A136-E1FA685464C6}" srcOrd="2" destOrd="0" presId="urn:microsoft.com/office/officeart/2005/8/layout/vList2"/>
    <dgm:cxn modelId="{3CBA9C07-54D6-4F8C-9850-3973BA10D0BF}" type="presParOf" srcId="{A9891A04-9B65-47C9-B341-AD4AE467E442}" destId="{FC59E29A-48F5-49D2-8943-FBE2E0DDC163}" srcOrd="3" destOrd="0" presId="urn:microsoft.com/office/officeart/2005/8/layout/vList2"/>
    <dgm:cxn modelId="{6530FC94-8D29-43EC-9C5B-99CBE58AAB31}" type="presParOf" srcId="{A9891A04-9B65-47C9-B341-AD4AE467E442}" destId="{6C75AAAA-63FC-449B-878D-45DA5CBDBAC8}" srcOrd="4" destOrd="0" presId="urn:microsoft.com/office/officeart/2005/8/layout/vList2"/>
    <dgm:cxn modelId="{9147ED58-A950-4672-92E2-2D3CBA150BE2}" type="presParOf" srcId="{A9891A04-9B65-47C9-B341-AD4AE467E442}" destId="{F807D145-E450-4583-B806-0558F22EC85A}" srcOrd="5" destOrd="0" presId="urn:microsoft.com/office/officeart/2005/8/layout/vList2"/>
    <dgm:cxn modelId="{21CA3301-E2B4-4473-9DD0-CE19E7E05897}" type="presParOf" srcId="{A9891A04-9B65-47C9-B341-AD4AE467E442}" destId="{51E04138-C323-41DC-A312-241017E33F49}" srcOrd="6" destOrd="0" presId="urn:microsoft.com/office/officeart/2005/8/layout/vList2"/>
    <dgm:cxn modelId="{31CAFF68-3D43-43F1-9182-7194889C64AC}" type="presParOf" srcId="{A9891A04-9B65-47C9-B341-AD4AE467E442}" destId="{23A19E3F-8B87-4286-AA2F-0584CA11364A}" srcOrd="7" destOrd="0" presId="urn:microsoft.com/office/officeart/2005/8/layout/vList2"/>
    <dgm:cxn modelId="{DA153D02-FB40-46A7-81E6-65F2ACD434BC}" type="presParOf" srcId="{A9891A04-9B65-47C9-B341-AD4AE467E442}" destId="{88C3F8B4-7ED7-480D-9A49-6426EAD0796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9333BA9-8FA7-4CBE-9753-6893043DCA81}" type="doc">
      <dgm:prSet loTypeId="urn:microsoft.com/office/officeart/2005/8/layout/chart3" loCatId="cycle" qsTypeId="urn:microsoft.com/office/officeart/2005/8/quickstyle/simple1" qsCatId="simple" csTypeId="urn:microsoft.com/office/officeart/2005/8/colors/accent1_2" csCatId="accent1" phldr="1"/>
      <dgm:spPr/>
      <dgm:t>
        <a:bodyPr/>
        <a:lstStyle/>
        <a:p>
          <a:endParaRPr lang="en-US"/>
        </a:p>
      </dgm:t>
    </dgm:pt>
    <dgm:pt modelId="{F63210F4-254D-45CD-9ED4-C732B665BA4E}">
      <dgm:prSet/>
      <dgm:spPr/>
      <dgm:t>
        <a:bodyPr/>
        <a:lstStyle/>
        <a:p>
          <a:r>
            <a:rPr lang="en-US"/>
            <a:t>Simple Random Sampling: Simple random sampling is a straightforward method of selecting participants from the target population</a:t>
          </a:r>
        </a:p>
      </dgm:t>
    </dgm:pt>
    <dgm:pt modelId="{30F9D996-3211-48AE-AB36-92C6F8D74751}" type="parTrans" cxnId="{3BD5BFD8-17ED-40BE-8301-E079A96CD194}">
      <dgm:prSet/>
      <dgm:spPr/>
      <dgm:t>
        <a:bodyPr/>
        <a:lstStyle/>
        <a:p>
          <a:endParaRPr lang="en-US"/>
        </a:p>
      </dgm:t>
    </dgm:pt>
    <dgm:pt modelId="{EAE5AAA0-A536-4621-825F-0FE5A9ACAB94}" type="sibTrans" cxnId="{3BD5BFD8-17ED-40BE-8301-E079A96CD194}">
      <dgm:prSet/>
      <dgm:spPr/>
      <dgm:t>
        <a:bodyPr/>
        <a:lstStyle/>
        <a:p>
          <a:endParaRPr lang="en-US"/>
        </a:p>
      </dgm:t>
    </dgm:pt>
    <dgm:pt modelId="{3E4D6870-8D1A-41F2-9A03-5EA7BDC3F78C}">
      <dgm:prSet/>
      <dgm:spPr/>
      <dgm:t>
        <a:bodyPr/>
        <a:lstStyle/>
        <a:p>
          <a:r>
            <a:rPr lang="en-US"/>
            <a:t>Stratified Random Sampling: Stratified random sampling is a method of selecting participants that involves dividing the target population into subgroups based on specific characteristics, such as age, education level, or geographic location, and then randomly selecting participants from each subgroup</a:t>
          </a:r>
        </a:p>
      </dgm:t>
    </dgm:pt>
    <dgm:pt modelId="{9CF75278-5292-4A9B-A43C-8905FC52F8DB}" type="parTrans" cxnId="{F643EBCA-66E1-4C3A-9957-AE3A7D8822C2}">
      <dgm:prSet/>
      <dgm:spPr/>
      <dgm:t>
        <a:bodyPr/>
        <a:lstStyle/>
        <a:p>
          <a:endParaRPr lang="en-US"/>
        </a:p>
      </dgm:t>
    </dgm:pt>
    <dgm:pt modelId="{D1287E74-9E53-4C97-A018-3E6C4E80661F}" type="sibTrans" cxnId="{F643EBCA-66E1-4C3A-9957-AE3A7D8822C2}">
      <dgm:prSet/>
      <dgm:spPr/>
      <dgm:t>
        <a:bodyPr/>
        <a:lstStyle/>
        <a:p>
          <a:endParaRPr lang="en-US"/>
        </a:p>
      </dgm:t>
    </dgm:pt>
    <dgm:pt modelId="{1C8308D8-85F4-4368-B187-9B24140E386C}">
      <dgm:prSet/>
      <dgm:spPr/>
      <dgm:t>
        <a:bodyPr/>
        <a:lstStyle/>
        <a:p>
          <a:r>
            <a:rPr lang="en-US"/>
            <a:t>Convenience Sampling: Convenience sampling is a method of selecting participants that involves recruiting individuals who are easily accessible or willing to participate in the study</a:t>
          </a:r>
        </a:p>
      </dgm:t>
    </dgm:pt>
    <dgm:pt modelId="{1B2886A6-187F-41CE-9E06-9DB9E7F3DF7E}" type="parTrans" cxnId="{19AB0E75-E47A-47C4-AB3B-2840366B7940}">
      <dgm:prSet/>
      <dgm:spPr/>
      <dgm:t>
        <a:bodyPr/>
        <a:lstStyle/>
        <a:p>
          <a:endParaRPr lang="en-US"/>
        </a:p>
      </dgm:t>
    </dgm:pt>
    <dgm:pt modelId="{49CE9453-163D-41CA-AAE8-488F654F6E47}" type="sibTrans" cxnId="{19AB0E75-E47A-47C4-AB3B-2840366B7940}">
      <dgm:prSet/>
      <dgm:spPr/>
      <dgm:t>
        <a:bodyPr/>
        <a:lstStyle/>
        <a:p>
          <a:endParaRPr lang="en-US"/>
        </a:p>
      </dgm:t>
    </dgm:pt>
    <dgm:pt modelId="{3703ECE7-A7F6-47AB-981A-30C5EFDDBA49}">
      <dgm:prSet phldr="0"/>
      <dgm:spPr/>
      <dgm:t>
        <a:bodyPr/>
        <a:lstStyle/>
        <a:p>
          <a:pPr algn="ctr" rtl="0">
            <a:lnSpc>
              <a:spcPct val="110000"/>
            </a:lnSpc>
          </a:pPr>
          <a:r>
            <a:rPr lang="en-US"/>
            <a:t>Snowball Sampling: Snowball sampling is a method of selecting participants that involves recruiting individuals through their networks or connections</a:t>
          </a:r>
        </a:p>
      </dgm:t>
    </dgm:pt>
    <dgm:pt modelId="{52C94947-D752-4BEA-B0D4-CE16310D235E}" type="parTrans" cxnId="{18CB1E24-25A9-4642-80A4-0FE2512A10DC}">
      <dgm:prSet/>
      <dgm:spPr/>
    </dgm:pt>
    <dgm:pt modelId="{752D63FD-AB73-41A6-95A4-2C6D8A972CC2}" type="sibTrans" cxnId="{18CB1E24-25A9-4642-80A4-0FE2512A10DC}">
      <dgm:prSet/>
      <dgm:spPr/>
    </dgm:pt>
    <dgm:pt modelId="{4BD870A8-3CBC-48F8-B930-9601CFED75C7}" type="pres">
      <dgm:prSet presAssocID="{B9333BA9-8FA7-4CBE-9753-6893043DCA81}" presName="compositeShape" presStyleCnt="0">
        <dgm:presLayoutVars>
          <dgm:chMax val="7"/>
          <dgm:dir/>
          <dgm:resizeHandles val="exact"/>
        </dgm:presLayoutVars>
      </dgm:prSet>
      <dgm:spPr/>
    </dgm:pt>
    <dgm:pt modelId="{C6F5986E-4ADC-4483-A9D1-7C3125D89312}" type="pres">
      <dgm:prSet presAssocID="{B9333BA9-8FA7-4CBE-9753-6893043DCA81}" presName="wedge1" presStyleLbl="node1" presStyleIdx="0" presStyleCnt="4"/>
      <dgm:spPr/>
    </dgm:pt>
    <dgm:pt modelId="{A9D6B484-8FD9-468F-9916-347386BD9248}" type="pres">
      <dgm:prSet presAssocID="{B9333BA9-8FA7-4CBE-9753-6893043DCA81}" presName="wedge1Tx" presStyleLbl="node1" presStyleIdx="0" presStyleCnt="4">
        <dgm:presLayoutVars>
          <dgm:chMax val="0"/>
          <dgm:chPref val="0"/>
          <dgm:bulletEnabled val="1"/>
        </dgm:presLayoutVars>
      </dgm:prSet>
      <dgm:spPr/>
    </dgm:pt>
    <dgm:pt modelId="{38BCCBBD-26BB-4B21-B5F4-A172D4C88C91}" type="pres">
      <dgm:prSet presAssocID="{B9333BA9-8FA7-4CBE-9753-6893043DCA81}" presName="wedge2" presStyleLbl="node1" presStyleIdx="1" presStyleCnt="4"/>
      <dgm:spPr/>
    </dgm:pt>
    <dgm:pt modelId="{FFD8E80C-E401-44B8-9E7C-0375D4844D34}" type="pres">
      <dgm:prSet presAssocID="{B9333BA9-8FA7-4CBE-9753-6893043DCA81}" presName="wedge2Tx" presStyleLbl="node1" presStyleIdx="1" presStyleCnt="4">
        <dgm:presLayoutVars>
          <dgm:chMax val="0"/>
          <dgm:chPref val="0"/>
          <dgm:bulletEnabled val="1"/>
        </dgm:presLayoutVars>
      </dgm:prSet>
      <dgm:spPr/>
    </dgm:pt>
    <dgm:pt modelId="{9F38D114-80FE-408A-82D2-3301B93AB32F}" type="pres">
      <dgm:prSet presAssocID="{B9333BA9-8FA7-4CBE-9753-6893043DCA81}" presName="wedge3" presStyleLbl="node1" presStyleIdx="2" presStyleCnt="4"/>
      <dgm:spPr/>
    </dgm:pt>
    <dgm:pt modelId="{99FEC4BE-CD62-485D-BDCF-617A006856BC}" type="pres">
      <dgm:prSet presAssocID="{B9333BA9-8FA7-4CBE-9753-6893043DCA81}" presName="wedge3Tx" presStyleLbl="node1" presStyleIdx="2" presStyleCnt="4">
        <dgm:presLayoutVars>
          <dgm:chMax val="0"/>
          <dgm:chPref val="0"/>
          <dgm:bulletEnabled val="1"/>
        </dgm:presLayoutVars>
      </dgm:prSet>
      <dgm:spPr/>
    </dgm:pt>
    <dgm:pt modelId="{14D315DE-A106-403C-8028-0EF169787574}" type="pres">
      <dgm:prSet presAssocID="{B9333BA9-8FA7-4CBE-9753-6893043DCA81}" presName="wedge4" presStyleLbl="node1" presStyleIdx="3" presStyleCnt="4"/>
      <dgm:spPr/>
    </dgm:pt>
    <dgm:pt modelId="{7CF2BABE-4147-440C-A5F6-1A72EA85F152}" type="pres">
      <dgm:prSet presAssocID="{B9333BA9-8FA7-4CBE-9753-6893043DCA81}" presName="wedge4Tx" presStyleLbl="node1" presStyleIdx="3" presStyleCnt="4">
        <dgm:presLayoutVars>
          <dgm:chMax val="0"/>
          <dgm:chPref val="0"/>
          <dgm:bulletEnabled val="1"/>
        </dgm:presLayoutVars>
      </dgm:prSet>
      <dgm:spPr/>
    </dgm:pt>
  </dgm:ptLst>
  <dgm:cxnLst>
    <dgm:cxn modelId="{E7B26F1F-E0B4-4544-9BFA-2B3EFB288748}" type="presOf" srcId="{B9333BA9-8FA7-4CBE-9753-6893043DCA81}" destId="{4BD870A8-3CBC-48F8-B930-9601CFED75C7}" srcOrd="0" destOrd="0" presId="urn:microsoft.com/office/officeart/2005/8/layout/chart3"/>
    <dgm:cxn modelId="{F2AEEB21-76DD-4E29-9237-1142C50D396A}" type="presOf" srcId="{3E4D6870-8D1A-41F2-9A03-5EA7BDC3F78C}" destId="{38BCCBBD-26BB-4B21-B5F4-A172D4C88C91}" srcOrd="0" destOrd="0" presId="urn:microsoft.com/office/officeart/2005/8/layout/chart3"/>
    <dgm:cxn modelId="{18CB1E24-25A9-4642-80A4-0FE2512A10DC}" srcId="{B9333BA9-8FA7-4CBE-9753-6893043DCA81}" destId="{3703ECE7-A7F6-47AB-981A-30C5EFDDBA49}" srcOrd="3" destOrd="0" parTransId="{52C94947-D752-4BEA-B0D4-CE16310D235E}" sibTransId="{752D63FD-AB73-41A6-95A4-2C6D8A972CC2}"/>
    <dgm:cxn modelId="{5C58F13D-9F04-4983-A6B9-1ABBC302B510}" type="presOf" srcId="{3703ECE7-A7F6-47AB-981A-30C5EFDDBA49}" destId="{7CF2BABE-4147-440C-A5F6-1A72EA85F152}" srcOrd="1" destOrd="0" presId="urn:microsoft.com/office/officeart/2005/8/layout/chart3"/>
    <dgm:cxn modelId="{139C6E60-A098-4B9F-B59C-3DED9BE0D726}" type="presOf" srcId="{F63210F4-254D-45CD-9ED4-C732B665BA4E}" destId="{C6F5986E-4ADC-4483-A9D1-7C3125D89312}" srcOrd="0" destOrd="0" presId="urn:microsoft.com/office/officeart/2005/8/layout/chart3"/>
    <dgm:cxn modelId="{EB40AD41-E948-483C-95DA-881CD39A044F}" type="presOf" srcId="{3703ECE7-A7F6-47AB-981A-30C5EFDDBA49}" destId="{14D315DE-A106-403C-8028-0EF169787574}" srcOrd="0" destOrd="0" presId="urn:microsoft.com/office/officeart/2005/8/layout/chart3"/>
    <dgm:cxn modelId="{87F41249-8672-43AA-9C34-2D7080338A8E}" type="presOf" srcId="{1C8308D8-85F4-4368-B187-9B24140E386C}" destId="{9F38D114-80FE-408A-82D2-3301B93AB32F}" srcOrd="0" destOrd="0" presId="urn:microsoft.com/office/officeart/2005/8/layout/chart3"/>
    <dgm:cxn modelId="{19AB0E75-E47A-47C4-AB3B-2840366B7940}" srcId="{B9333BA9-8FA7-4CBE-9753-6893043DCA81}" destId="{1C8308D8-85F4-4368-B187-9B24140E386C}" srcOrd="2" destOrd="0" parTransId="{1B2886A6-187F-41CE-9E06-9DB9E7F3DF7E}" sibTransId="{49CE9453-163D-41CA-AAE8-488F654F6E47}"/>
    <dgm:cxn modelId="{1BA73989-85FD-4AA7-8EAD-A66C5E449916}" type="presOf" srcId="{1C8308D8-85F4-4368-B187-9B24140E386C}" destId="{99FEC4BE-CD62-485D-BDCF-617A006856BC}" srcOrd="1" destOrd="0" presId="urn:microsoft.com/office/officeart/2005/8/layout/chart3"/>
    <dgm:cxn modelId="{F643EBCA-66E1-4C3A-9957-AE3A7D8822C2}" srcId="{B9333BA9-8FA7-4CBE-9753-6893043DCA81}" destId="{3E4D6870-8D1A-41F2-9A03-5EA7BDC3F78C}" srcOrd="1" destOrd="0" parTransId="{9CF75278-5292-4A9B-A43C-8905FC52F8DB}" sibTransId="{D1287E74-9E53-4C97-A018-3E6C4E80661F}"/>
    <dgm:cxn modelId="{3BD5BFD8-17ED-40BE-8301-E079A96CD194}" srcId="{B9333BA9-8FA7-4CBE-9753-6893043DCA81}" destId="{F63210F4-254D-45CD-9ED4-C732B665BA4E}" srcOrd="0" destOrd="0" parTransId="{30F9D996-3211-48AE-AB36-92C6F8D74751}" sibTransId="{EAE5AAA0-A536-4621-825F-0FE5A9ACAB94}"/>
    <dgm:cxn modelId="{3DCF92E7-A10B-48AE-BF7C-FB0C1BEBA2B0}" type="presOf" srcId="{F63210F4-254D-45CD-9ED4-C732B665BA4E}" destId="{A9D6B484-8FD9-468F-9916-347386BD9248}" srcOrd="1" destOrd="0" presId="urn:microsoft.com/office/officeart/2005/8/layout/chart3"/>
    <dgm:cxn modelId="{3E349CFE-4FF9-43D4-A443-85B6D071DDAA}" type="presOf" srcId="{3E4D6870-8D1A-41F2-9A03-5EA7BDC3F78C}" destId="{FFD8E80C-E401-44B8-9E7C-0375D4844D34}" srcOrd="1" destOrd="0" presId="urn:microsoft.com/office/officeart/2005/8/layout/chart3"/>
    <dgm:cxn modelId="{1DE561B8-7D99-4792-965B-637D780D0355}" type="presParOf" srcId="{4BD870A8-3CBC-48F8-B930-9601CFED75C7}" destId="{C6F5986E-4ADC-4483-A9D1-7C3125D89312}" srcOrd="0" destOrd="0" presId="urn:microsoft.com/office/officeart/2005/8/layout/chart3"/>
    <dgm:cxn modelId="{DDC66FC8-E4E4-4BAE-8F66-6C9232D72B9F}" type="presParOf" srcId="{4BD870A8-3CBC-48F8-B930-9601CFED75C7}" destId="{A9D6B484-8FD9-468F-9916-347386BD9248}" srcOrd="1" destOrd="0" presId="urn:microsoft.com/office/officeart/2005/8/layout/chart3"/>
    <dgm:cxn modelId="{0F31F8BC-6A73-4ADD-B9BA-C7629DDB9A00}" type="presParOf" srcId="{4BD870A8-3CBC-48F8-B930-9601CFED75C7}" destId="{38BCCBBD-26BB-4B21-B5F4-A172D4C88C91}" srcOrd="2" destOrd="0" presId="urn:microsoft.com/office/officeart/2005/8/layout/chart3"/>
    <dgm:cxn modelId="{E28BFF1D-3473-49CB-B779-E236327782BB}" type="presParOf" srcId="{4BD870A8-3CBC-48F8-B930-9601CFED75C7}" destId="{FFD8E80C-E401-44B8-9E7C-0375D4844D34}" srcOrd="3" destOrd="0" presId="urn:microsoft.com/office/officeart/2005/8/layout/chart3"/>
    <dgm:cxn modelId="{1A88CD6F-6035-47CC-83AF-258F5C783A22}" type="presParOf" srcId="{4BD870A8-3CBC-48F8-B930-9601CFED75C7}" destId="{9F38D114-80FE-408A-82D2-3301B93AB32F}" srcOrd="4" destOrd="0" presId="urn:microsoft.com/office/officeart/2005/8/layout/chart3"/>
    <dgm:cxn modelId="{3A472933-DAD8-43B2-8EFE-26328627CD88}" type="presParOf" srcId="{4BD870A8-3CBC-48F8-B930-9601CFED75C7}" destId="{99FEC4BE-CD62-485D-BDCF-617A006856BC}" srcOrd="5" destOrd="0" presId="urn:microsoft.com/office/officeart/2005/8/layout/chart3"/>
    <dgm:cxn modelId="{F005419D-00AB-4696-BF0A-078EB85800FD}" type="presParOf" srcId="{4BD870A8-3CBC-48F8-B930-9601CFED75C7}" destId="{14D315DE-A106-403C-8028-0EF169787574}" srcOrd="6" destOrd="0" presId="urn:microsoft.com/office/officeart/2005/8/layout/chart3"/>
    <dgm:cxn modelId="{1245A922-13C5-4936-8FBB-177543A4F90F}" type="presParOf" srcId="{4BD870A8-3CBC-48F8-B930-9601CFED75C7}" destId="{7CF2BABE-4147-440C-A5F6-1A72EA85F152}" srcOrd="7"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731D306-4089-44BA-8EF2-5E4568D64E40}" type="doc">
      <dgm:prSet loTypeId="urn:microsoft.com/office/officeart/2008/layout/LinedList" loCatId="list" qsTypeId="urn:microsoft.com/office/officeart/2005/8/quickstyle/simple4" qsCatId="simple" csTypeId="urn:microsoft.com/office/officeart/2005/8/colors/accent6_2" csCatId="accent6" phldr="1"/>
      <dgm:spPr/>
      <dgm:t>
        <a:bodyPr/>
        <a:lstStyle/>
        <a:p>
          <a:endParaRPr lang="en-US"/>
        </a:p>
      </dgm:t>
    </dgm:pt>
    <dgm:pt modelId="{236CDC6C-7DB0-4450-B7AC-D6EC927F01DD}">
      <dgm:prSet phldr="0"/>
      <dgm:spPr/>
      <dgm:t>
        <a:bodyPr/>
        <a:lstStyle/>
        <a:p>
          <a:pPr rtl="0"/>
          <a:r>
            <a:rPr lang="en-US">
              <a:latin typeface="Sagona Book"/>
            </a:rPr>
            <a:t>Raigarh – Handicrafts and weaving (textile, basketry and other handicrafts), small scale industries (food processing, agro based, soap making etc.), health and education (teachers, nurses, healthcare workers), self-help groups and micro enterprises etc.</a:t>
          </a:r>
        </a:p>
      </dgm:t>
    </dgm:pt>
    <dgm:pt modelId="{192642C1-43C3-4231-B958-D52123E17FC7}" type="parTrans" cxnId="{FE7864F5-D806-4645-835F-CFE4CA30CE3D}">
      <dgm:prSet/>
      <dgm:spPr/>
      <dgm:t>
        <a:bodyPr/>
        <a:lstStyle/>
        <a:p>
          <a:endParaRPr lang="en-US"/>
        </a:p>
      </dgm:t>
    </dgm:pt>
    <dgm:pt modelId="{F9E639B9-66C8-4830-BD35-6D75D2657AFC}" type="sibTrans" cxnId="{FE7864F5-D806-4645-835F-CFE4CA30CE3D}">
      <dgm:prSet/>
      <dgm:spPr/>
      <dgm:t>
        <a:bodyPr/>
        <a:lstStyle/>
        <a:p>
          <a:endParaRPr lang="en-US"/>
        </a:p>
      </dgm:t>
    </dgm:pt>
    <dgm:pt modelId="{3A7247E2-F498-490D-9332-5E4F900762F2}">
      <dgm:prSet phldr="0"/>
      <dgm:spPr/>
      <dgm:t>
        <a:bodyPr/>
        <a:lstStyle/>
        <a:p>
          <a:pPr rtl="0"/>
          <a:r>
            <a:rPr lang="en-US">
              <a:latin typeface="Sagona Book"/>
            </a:rPr>
            <a:t>Nashik – Grape and wine industry (Vineyard management, winemaking and exports), food processing and packaging industry, handloom weaving industry (weaving, dyeing and finishing of textiles) etc.</a:t>
          </a:r>
          <a:endParaRPr lang="en-US"/>
        </a:p>
      </dgm:t>
    </dgm:pt>
    <dgm:pt modelId="{83A39F36-EACB-4F05-ABD4-B27C867A3A1D}" type="parTrans" cxnId="{3ED96AA0-6B57-4469-A518-1F30FA4746D7}">
      <dgm:prSet/>
      <dgm:spPr/>
    </dgm:pt>
    <dgm:pt modelId="{AC5EA48C-01C0-41B5-B64A-4C1EBA5D8D42}" type="sibTrans" cxnId="{3ED96AA0-6B57-4469-A518-1F30FA4746D7}">
      <dgm:prSet/>
      <dgm:spPr/>
    </dgm:pt>
    <dgm:pt modelId="{CDC7779D-A427-4896-B469-E5583BE7AC0C}">
      <dgm:prSet phldr="0"/>
      <dgm:spPr/>
      <dgm:t>
        <a:bodyPr/>
        <a:lstStyle/>
        <a:p>
          <a:pPr rtl="0"/>
          <a:r>
            <a:rPr lang="en-US"/>
            <a:t>Palghar – Fishing industry (sea food packaging, processing and exports), horticulture, handlooms, manufacturing industries (production, assembly line) etc.</a:t>
          </a:r>
          <a:endParaRPr lang="en-US">
            <a:latin typeface="Sagona Book"/>
          </a:endParaRPr>
        </a:p>
      </dgm:t>
    </dgm:pt>
    <dgm:pt modelId="{D1A9FF24-2C8F-42A0-A632-429CA077AC9E}" type="parTrans" cxnId="{4D0B51BD-13EA-4A29-9760-8292A6CC415C}">
      <dgm:prSet/>
      <dgm:spPr/>
    </dgm:pt>
    <dgm:pt modelId="{EA14483E-13D2-4A29-8E0C-24529EC3AE8C}" type="sibTrans" cxnId="{4D0B51BD-13EA-4A29-9760-8292A6CC415C}">
      <dgm:prSet/>
      <dgm:spPr/>
    </dgm:pt>
    <dgm:pt modelId="{31B9CB92-0A7A-4D88-9FC7-5811DAB78D53}" type="pres">
      <dgm:prSet presAssocID="{F731D306-4089-44BA-8EF2-5E4568D64E40}" presName="vert0" presStyleCnt="0">
        <dgm:presLayoutVars>
          <dgm:dir/>
          <dgm:animOne val="branch"/>
          <dgm:animLvl val="lvl"/>
        </dgm:presLayoutVars>
      </dgm:prSet>
      <dgm:spPr/>
    </dgm:pt>
    <dgm:pt modelId="{938BA041-1FB9-4B8F-A48B-252BAD7109EA}" type="pres">
      <dgm:prSet presAssocID="{236CDC6C-7DB0-4450-B7AC-D6EC927F01DD}" presName="thickLine" presStyleLbl="alignNode1" presStyleIdx="0" presStyleCnt="3"/>
      <dgm:spPr/>
    </dgm:pt>
    <dgm:pt modelId="{53FBD18A-C5CF-49DC-A6F9-C4B8AB1EA52C}" type="pres">
      <dgm:prSet presAssocID="{236CDC6C-7DB0-4450-B7AC-D6EC927F01DD}" presName="horz1" presStyleCnt="0"/>
      <dgm:spPr/>
    </dgm:pt>
    <dgm:pt modelId="{0F8283B7-0D61-4A7C-BF03-41B0A4129FAE}" type="pres">
      <dgm:prSet presAssocID="{236CDC6C-7DB0-4450-B7AC-D6EC927F01DD}" presName="tx1" presStyleLbl="revTx" presStyleIdx="0" presStyleCnt="3"/>
      <dgm:spPr/>
    </dgm:pt>
    <dgm:pt modelId="{04C7B90B-E49F-4D82-ADA8-EDEEB9F30951}" type="pres">
      <dgm:prSet presAssocID="{236CDC6C-7DB0-4450-B7AC-D6EC927F01DD}" presName="vert1" presStyleCnt="0"/>
      <dgm:spPr/>
    </dgm:pt>
    <dgm:pt modelId="{DAACF4C2-7DF1-497E-AA7E-001E7D44217C}" type="pres">
      <dgm:prSet presAssocID="{3A7247E2-F498-490D-9332-5E4F900762F2}" presName="thickLine" presStyleLbl="alignNode1" presStyleIdx="1" presStyleCnt="3"/>
      <dgm:spPr/>
    </dgm:pt>
    <dgm:pt modelId="{19DBF398-57D2-4583-BE78-7F0A5ADADCFC}" type="pres">
      <dgm:prSet presAssocID="{3A7247E2-F498-490D-9332-5E4F900762F2}" presName="horz1" presStyleCnt="0"/>
      <dgm:spPr/>
    </dgm:pt>
    <dgm:pt modelId="{7CA7E9FE-F349-4F23-B5E0-35143381D5E3}" type="pres">
      <dgm:prSet presAssocID="{3A7247E2-F498-490D-9332-5E4F900762F2}" presName="tx1" presStyleLbl="revTx" presStyleIdx="1" presStyleCnt="3"/>
      <dgm:spPr/>
    </dgm:pt>
    <dgm:pt modelId="{B6CCE4B4-1EB0-454F-89B1-E4ECF80144EB}" type="pres">
      <dgm:prSet presAssocID="{3A7247E2-F498-490D-9332-5E4F900762F2}" presName="vert1" presStyleCnt="0"/>
      <dgm:spPr/>
    </dgm:pt>
    <dgm:pt modelId="{36B4FF3E-9FA4-4109-8D9F-BE77DB5BEF55}" type="pres">
      <dgm:prSet presAssocID="{CDC7779D-A427-4896-B469-E5583BE7AC0C}" presName="thickLine" presStyleLbl="alignNode1" presStyleIdx="2" presStyleCnt="3"/>
      <dgm:spPr/>
    </dgm:pt>
    <dgm:pt modelId="{9CA7CFA9-86D8-4200-8DE7-E0B3554553BA}" type="pres">
      <dgm:prSet presAssocID="{CDC7779D-A427-4896-B469-E5583BE7AC0C}" presName="horz1" presStyleCnt="0"/>
      <dgm:spPr/>
    </dgm:pt>
    <dgm:pt modelId="{0F567175-D4EF-416B-B543-03CF31460ACF}" type="pres">
      <dgm:prSet presAssocID="{CDC7779D-A427-4896-B469-E5583BE7AC0C}" presName="tx1" presStyleLbl="revTx" presStyleIdx="2" presStyleCnt="3"/>
      <dgm:spPr/>
    </dgm:pt>
    <dgm:pt modelId="{9E4660D7-9BEF-4AF0-A1AA-5BFE4D990A5F}" type="pres">
      <dgm:prSet presAssocID="{CDC7779D-A427-4896-B469-E5583BE7AC0C}" presName="vert1" presStyleCnt="0"/>
      <dgm:spPr/>
    </dgm:pt>
  </dgm:ptLst>
  <dgm:cxnLst>
    <dgm:cxn modelId="{A1C1A785-406C-4909-9A81-D0AAA03C6254}" type="presOf" srcId="{F731D306-4089-44BA-8EF2-5E4568D64E40}" destId="{31B9CB92-0A7A-4D88-9FC7-5811DAB78D53}" srcOrd="0" destOrd="0" presId="urn:microsoft.com/office/officeart/2008/layout/LinedList"/>
    <dgm:cxn modelId="{3ED96AA0-6B57-4469-A518-1F30FA4746D7}" srcId="{F731D306-4089-44BA-8EF2-5E4568D64E40}" destId="{3A7247E2-F498-490D-9332-5E4F900762F2}" srcOrd="1" destOrd="0" parTransId="{83A39F36-EACB-4F05-ABD4-B27C867A3A1D}" sibTransId="{AC5EA48C-01C0-41B5-B64A-4C1EBA5D8D42}"/>
    <dgm:cxn modelId="{331379B9-A026-417E-8D5F-4B343D6CAC13}" type="presOf" srcId="{3A7247E2-F498-490D-9332-5E4F900762F2}" destId="{7CA7E9FE-F349-4F23-B5E0-35143381D5E3}" srcOrd="0" destOrd="0" presId="urn:microsoft.com/office/officeart/2008/layout/LinedList"/>
    <dgm:cxn modelId="{4D0B51BD-13EA-4A29-9760-8292A6CC415C}" srcId="{F731D306-4089-44BA-8EF2-5E4568D64E40}" destId="{CDC7779D-A427-4896-B469-E5583BE7AC0C}" srcOrd="2" destOrd="0" parTransId="{D1A9FF24-2C8F-42A0-A632-429CA077AC9E}" sibTransId="{EA14483E-13D2-4A29-8E0C-24529EC3AE8C}"/>
    <dgm:cxn modelId="{612279CA-2508-4258-AB9B-828B8531087E}" type="presOf" srcId="{236CDC6C-7DB0-4450-B7AC-D6EC927F01DD}" destId="{0F8283B7-0D61-4A7C-BF03-41B0A4129FAE}" srcOrd="0" destOrd="0" presId="urn:microsoft.com/office/officeart/2008/layout/LinedList"/>
    <dgm:cxn modelId="{4E2AFFCC-57D3-4098-A4A3-B494A7075C5C}" type="presOf" srcId="{CDC7779D-A427-4896-B469-E5583BE7AC0C}" destId="{0F567175-D4EF-416B-B543-03CF31460ACF}" srcOrd="0" destOrd="0" presId="urn:microsoft.com/office/officeart/2008/layout/LinedList"/>
    <dgm:cxn modelId="{FE7864F5-D806-4645-835F-CFE4CA30CE3D}" srcId="{F731D306-4089-44BA-8EF2-5E4568D64E40}" destId="{236CDC6C-7DB0-4450-B7AC-D6EC927F01DD}" srcOrd="0" destOrd="0" parTransId="{192642C1-43C3-4231-B958-D52123E17FC7}" sibTransId="{F9E639B9-66C8-4830-BD35-6D75D2657AFC}"/>
    <dgm:cxn modelId="{7A83B536-C8C5-45ED-9908-886512144C83}" type="presParOf" srcId="{31B9CB92-0A7A-4D88-9FC7-5811DAB78D53}" destId="{938BA041-1FB9-4B8F-A48B-252BAD7109EA}" srcOrd="0" destOrd="0" presId="urn:microsoft.com/office/officeart/2008/layout/LinedList"/>
    <dgm:cxn modelId="{775D4E52-6005-47B7-8859-DEAAB6325ACA}" type="presParOf" srcId="{31B9CB92-0A7A-4D88-9FC7-5811DAB78D53}" destId="{53FBD18A-C5CF-49DC-A6F9-C4B8AB1EA52C}" srcOrd="1" destOrd="0" presId="urn:microsoft.com/office/officeart/2008/layout/LinedList"/>
    <dgm:cxn modelId="{B582EFD9-3C8D-47FB-8AA4-B66C563B2826}" type="presParOf" srcId="{53FBD18A-C5CF-49DC-A6F9-C4B8AB1EA52C}" destId="{0F8283B7-0D61-4A7C-BF03-41B0A4129FAE}" srcOrd="0" destOrd="0" presId="urn:microsoft.com/office/officeart/2008/layout/LinedList"/>
    <dgm:cxn modelId="{EE29CD84-50C1-4C03-BAA8-E3E61C841A92}" type="presParOf" srcId="{53FBD18A-C5CF-49DC-A6F9-C4B8AB1EA52C}" destId="{04C7B90B-E49F-4D82-ADA8-EDEEB9F30951}" srcOrd="1" destOrd="0" presId="urn:microsoft.com/office/officeart/2008/layout/LinedList"/>
    <dgm:cxn modelId="{EEFE63F1-469C-466C-B2B8-194779F6ECCD}" type="presParOf" srcId="{31B9CB92-0A7A-4D88-9FC7-5811DAB78D53}" destId="{DAACF4C2-7DF1-497E-AA7E-001E7D44217C}" srcOrd="2" destOrd="0" presId="urn:microsoft.com/office/officeart/2008/layout/LinedList"/>
    <dgm:cxn modelId="{B4B1952A-A47E-41DD-B800-BD1EF3DC4FAC}" type="presParOf" srcId="{31B9CB92-0A7A-4D88-9FC7-5811DAB78D53}" destId="{19DBF398-57D2-4583-BE78-7F0A5ADADCFC}" srcOrd="3" destOrd="0" presId="urn:microsoft.com/office/officeart/2008/layout/LinedList"/>
    <dgm:cxn modelId="{21D52E9A-DF8F-49CC-93AD-9F74907249AF}" type="presParOf" srcId="{19DBF398-57D2-4583-BE78-7F0A5ADADCFC}" destId="{7CA7E9FE-F349-4F23-B5E0-35143381D5E3}" srcOrd="0" destOrd="0" presId="urn:microsoft.com/office/officeart/2008/layout/LinedList"/>
    <dgm:cxn modelId="{D3FEB88F-8753-420B-BABB-78E6E6FB97E1}" type="presParOf" srcId="{19DBF398-57D2-4583-BE78-7F0A5ADADCFC}" destId="{B6CCE4B4-1EB0-454F-89B1-E4ECF80144EB}" srcOrd="1" destOrd="0" presId="urn:microsoft.com/office/officeart/2008/layout/LinedList"/>
    <dgm:cxn modelId="{B50F4801-FE3F-42F9-B094-4B198CFC97A4}" type="presParOf" srcId="{31B9CB92-0A7A-4D88-9FC7-5811DAB78D53}" destId="{36B4FF3E-9FA4-4109-8D9F-BE77DB5BEF55}" srcOrd="4" destOrd="0" presId="urn:microsoft.com/office/officeart/2008/layout/LinedList"/>
    <dgm:cxn modelId="{94458F24-948A-4BE5-A905-006F8E81D36C}" type="presParOf" srcId="{31B9CB92-0A7A-4D88-9FC7-5811DAB78D53}" destId="{9CA7CFA9-86D8-4200-8DE7-E0B3554553BA}" srcOrd="5" destOrd="0" presId="urn:microsoft.com/office/officeart/2008/layout/LinedList"/>
    <dgm:cxn modelId="{18E20652-E01B-47BC-B55A-4267CE95BCA8}" type="presParOf" srcId="{9CA7CFA9-86D8-4200-8DE7-E0B3554553BA}" destId="{0F567175-D4EF-416B-B543-03CF31460ACF}" srcOrd="0" destOrd="0" presId="urn:microsoft.com/office/officeart/2008/layout/LinedList"/>
    <dgm:cxn modelId="{6C1608A2-0663-413E-B9F4-3EF3F07F2B5D}" type="presParOf" srcId="{9CA7CFA9-86D8-4200-8DE7-E0B3554553BA}" destId="{9E4660D7-9BEF-4AF0-A1AA-5BFE4D990A5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B53E09F-63BA-4BCE-92EA-46EE8D3B8A1B}"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184FDFBF-6D34-4389-9E9B-AAD88364E452}">
      <dgm:prSet/>
      <dgm:spPr/>
      <dgm:t>
        <a:bodyPr/>
        <a:lstStyle/>
        <a:p>
          <a:r>
            <a:rPr lang="en-US"/>
            <a:t>What is your current employment status?</a:t>
          </a:r>
        </a:p>
      </dgm:t>
    </dgm:pt>
    <dgm:pt modelId="{37B9932D-F3E2-4A0C-87D0-9DA022F1A3BC}" type="parTrans" cxnId="{6FB2B16E-61E0-47ED-9944-FB5E11263AAD}">
      <dgm:prSet/>
      <dgm:spPr/>
      <dgm:t>
        <a:bodyPr/>
        <a:lstStyle/>
        <a:p>
          <a:endParaRPr lang="en-US"/>
        </a:p>
      </dgm:t>
    </dgm:pt>
    <dgm:pt modelId="{08877586-10FE-4487-95B4-E473EADE46F1}" type="sibTrans" cxnId="{6FB2B16E-61E0-47ED-9944-FB5E11263AAD}">
      <dgm:prSet/>
      <dgm:spPr/>
      <dgm:t>
        <a:bodyPr/>
        <a:lstStyle/>
        <a:p>
          <a:endParaRPr lang="en-US"/>
        </a:p>
      </dgm:t>
    </dgm:pt>
    <dgm:pt modelId="{0264CCCD-6BE2-420A-8B15-E779DCDED016}">
      <dgm:prSet/>
      <dgm:spPr/>
      <dgm:t>
        <a:bodyPr/>
        <a:lstStyle/>
        <a:p>
          <a:r>
            <a:rPr lang="en-US"/>
            <a:t>Have you ever been employed in the past?</a:t>
          </a:r>
        </a:p>
      </dgm:t>
    </dgm:pt>
    <dgm:pt modelId="{B138BFA1-50EA-48B8-A17F-AB3436A029C3}" type="parTrans" cxnId="{156577F0-CE38-4004-BF63-A49AE84C6B85}">
      <dgm:prSet/>
      <dgm:spPr/>
      <dgm:t>
        <a:bodyPr/>
        <a:lstStyle/>
        <a:p>
          <a:endParaRPr lang="en-US"/>
        </a:p>
      </dgm:t>
    </dgm:pt>
    <dgm:pt modelId="{E403DA8D-B58D-42CE-9167-2965203166F5}" type="sibTrans" cxnId="{156577F0-CE38-4004-BF63-A49AE84C6B85}">
      <dgm:prSet/>
      <dgm:spPr/>
      <dgm:t>
        <a:bodyPr/>
        <a:lstStyle/>
        <a:p>
          <a:endParaRPr lang="en-US"/>
        </a:p>
      </dgm:t>
    </dgm:pt>
    <dgm:pt modelId="{C29E2A59-EA87-4347-87EE-2B55E844E3CA}">
      <dgm:prSet/>
      <dgm:spPr/>
      <dgm:t>
        <a:bodyPr/>
        <a:lstStyle/>
        <a:p>
          <a:r>
            <a:rPr lang="en-US"/>
            <a:t>If yes, what type of work have you done in the past?</a:t>
          </a:r>
        </a:p>
      </dgm:t>
    </dgm:pt>
    <dgm:pt modelId="{68E8FB70-E1EC-450F-B206-659BFDF4C3E0}" type="parTrans" cxnId="{AE1DDA0A-6362-4E4C-8B96-65C07139CAFE}">
      <dgm:prSet/>
      <dgm:spPr/>
      <dgm:t>
        <a:bodyPr/>
        <a:lstStyle/>
        <a:p>
          <a:endParaRPr lang="en-US"/>
        </a:p>
      </dgm:t>
    </dgm:pt>
    <dgm:pt modelId="{3BB11102-1152-46C5-BC39-8A9817388460}" type="sibTrans" cxnId="{AE1DDA0A-6362-4E4C-8B96-65C07139CAFE}">
      <dgm:prSet/>
      <dgm:spPr/>
      <dgm:t>
        <a:bodyPr/>
        <a:lstStyle/>
        <a:p>
          <a:endParaRPr lang="en-US"/>
        </a:p>
      </dgm:t>
    </dgm:pt>
    <dgm:pt modelId="{E4E7B8D4-F1CA-46FE-834C-07EF2CF5E53C}">
      <dgm:prSet/>
      <dgm:spPr/>
      <dgm:t>
        <a:bodyPr/>
        <a:lstStyle/>
        <a:p>
          <a:r>
            <a:rPr lang="en-US">
              <a:latin typeface="Sagona Book"/>
            </a:rPr>
            <a:t>What</a:t>
          </a:r>
          <a:r>
            <a:rPr lang="en-US"/>
            <a:t> type of employment opportunities are available to women in your community?</a:t>
          </a:r>
        </a:p>
      </dgm:t>
    </dgm:pt>
    <dgm:pt modelId="{5270CDA3-4E23-4032-8333-E67883719A92}" type="parTrans" cxnId="{59F9A06E-1834-41A1-AA69-EBDB3E5D3FB5}">
      <dgm:prSet/>
      <dgm:spPr/>
      <dgm:t>
        <a:bodyPr/>
        <a:lstStyle/>
        <a:p>
          <a:endParaRPr lang="en-US"/>
        </a:p>
      </dgm:t>
    </dgm:pt>
    <dgm:pt modelId="{6ADC99CA-7747-4483-8F1E-718EAD694234}" type="sibTrans" cxnId="{59F9A06E-1834-41A1-AA69-EBDB3E5D3FB5}">
      <dgm:prSet/>
      <dgm:spPr/>
      <dgm:t>
        <a:bodyPr/>
        <a:lstStyle/>
        <a:p>
          <a:endParaRPr lang="en-US"/>
        </a:p>
      </dgm:t>
    </dgm:pt>
    <dgm:pt modelId="{F072AE91-80C0-40BC-A1C2-4074EF6C4AFA}">
      <dgm:prSet phldr="0"/>
      <dgm:spPr/>
      <dgm:t>
        <a:bodyPr/>
        <a:lstStyle/>
        <a:p>
          <a:pPr rtl="0"/>
          <a:r>
            <a:rPr lang="en-US"/>
            <a:t>Are there any obstacles you face in finding employment in </a:t>
          </a:r>
          <a:r>
            <a:rPr lang="en-US">
              <a:latin typeface="Sagona Book"/>
            </a:rPr>
            <a:t>your area</a:t>
          </a:r>
          <a:r>
            <a:rPr lang="en-US"/>
            <a:t>?</a:t>
          </a:r>
        </a:p>
      </dgm:t>
    </dgm:pt>
    <dgm:pt modelId="{CF5D74D0-8C60-4626-A4E0-AEFFE2138DC1}" type="parTrans" cxnId="{48C62950-17C7-4F0B-B4C6-E28A67C8B62B}">
      <dgm:prSet/>
      <dgm:spPr/>
    </dgm:pt>
    <dgm:pt modelId="{49FE2276-3A33-4FC4-941D-AE1B6EFF2349}" type="sibTrans" cxnId="{48C62950-17C7-4F0B-B4C6-E28A67C8B62B}">
      <dgm:prSet/>
      <dgm:spPr/>
    </dgm:pt>
    <dgm:pt modelId="{73F7F6B4-8CC8-40F6-9A73-F874155F83E5}">
      <dgm:prSet phldr="0"/>
      <dgm:spPr/>
      <dgm:t>
        <a:bodyPr/>
        <a:lstStyle/>
        <a:p>
          <a:pPr rtl="0"/>
          <a:r>
            <a:rPr lang="en-US"/>
            <a:t>Are there any specific industries or businesses that you would like to see in your rural community to create job opportunities?</a:t>
          </a:r>
          <a:endParaRPr lang="en-US">
            <a:latin typeface="Sagona Book"/>
          </a:endParaRPr>
        </a:p>
      </dgm:t>
    </dgm:pt>
    <dgm:pt modelId="{BADB310C-CE87-45D4-9264-473E0CCFFA7A}" type="parTrans" cxnId="{6B715043-6EFC-4D7B-B12E-4BF9948D96B7}">
      <dgm:prSet/>
      <dgm:spPr/>
    </dgm:pt>
    <dgm:pt modelId="{66F707F3-B280-4357-A343-B5EFFC1780F5}" type="sibTrans" cxnId="{6B715043-6EFC-4D7B-B12E-4BF9948D96B7}">
      <dgm:prSet/>
      <dgm:spPr/>
    </dgm:pt>
    <dgm:pt modelId="{9757A1EC-FD49-4524-B341-839CA72BDE81}">
      <dgm:prSet phldr="0"/>
      <dgm:spPr/>
      <dgm:t>
        <a:bodyPr/>
        <a:lstStyle/>
        <a:p>
          <a:pPr rtl="0"/>
          <a:r>
            <a:rPr lang="en-US"/>
            <a:t>Are there any flexible work arrangements, such as part-time or remote work, that would make it easier for you to maintain employment?</a:t>
          </a:r>
          <a:endParaRPr lang="en-US">
            <a:latin typeface="Sagona Book"/>
          </a:endParaRPr>
        </a:p>
      </dgm:t>
    </dgm:pt>
    <dgm:pt modelId="{6F4C66BD-5CEA-4979-8D39-A8B2EB9A91F5}" type="parTrans" cxnId="{D903F08C-A61C-4486-8E3C-7E4CB4F13DC0}">
      <dgm:prSet/>
      <dgm:spPr/>
    </dgm:pt>
    <dgm:pt modelId="{734D7CF3-295F-48BB-9137-C7A4843FEC15}" type="sibTrans" cxnId="{D903F08C-A61C-4486-8E3C-7E4CB4F13DC0}">
      <dgm:prSet/>
      <dgm:spPr/>
    </dgm:pt>
    <dgm:pt modelId="{79DFF741-AED1-4ADC-A135-EF6525A584C6}">
      <dgm:prSet/>
      <dgm:spPr/>
      <dgm:t>
        <a:bodyPr/>
        <a:lstStyle/>
        <a:p>
          <a:r>
            <a:rPr lang="en-US"/>
            <a:t>How would having a job impact your daily life and financial situation?</a:t>
          </a:r>
        </a:p>
      </dgm:t>
    </dgm:pt>
    <dgm:pt modelId="{DC7DBC93-CC97-480D-BB59-41623A484E3F}" type="parTrans" cxnId="{7734BC4C-4154-4EC4-9D82-E0D225A532B7}">
      <dgm:prSet/>
      <dgm:spPr/>
      <dgm:t>
        <a:bodyPr/>
        <a:lstStyle/>
        <a:p>
          <a:endParaRPr lang="en-US"/>
        </a:p>
      </dgm:t>
    </dgm:pt>
    <dgm:pt modelId="{99671A18-5B50-4F2B-86B3-2BDDCD2DB7CF}" type="sibTrans" cxnId="{7734BC4C-4154-4EC4-9D82-E0D225A532B7}">
      <dgm:prSet/>
      <dgm:spPr/>
      <dgm:t>
        <a:bodyPr/>
        <a:lstStyle/>
        <a:p>
          <a:endParaRPr lang="en-US"/>
        </a:p>
      </dgm:t>
    </dgm:pt>
    <dgm:pt modelId="{708C289C-0AC7-4259-968C-6879EF8CB521}">
      <dgm:prSet phldr="0"/>
      <dgm:spPr/>
      <dgm:t>
        <a:bodyPr/>
        <a:lstStyle/>
        <a:p>
          <a:pPr rtl="0"/>
          <a:r>
            <a:rPr lang="en-US"/>
            <a:t>Do you have access to technology and the internet to </a:t>
          </a:r>
          <a:r>
            <a:rPr lang="en-US">
              <a:latin typeface="Sagona Book"/>
            </a:rPr>
            <a:t>search</a:t>
          </a:r>
          <a:r>
            <a:rPr lang="en-US"/>
            <a:t> and apply for jobs?</a:t>
          </a:r>
          <a:endParaRPr lang="en-US">
            <a:latin typeface="Sagona Book"/>
          </a:endParaRPr>
        </a:p>
      </dgm:t>
    </dgm:pt>
    <dgm:pt modelId="{77E377D9-1A4F-456B-874E-D752FEFC4F63}" type="parTrans" cxnId="{96FDAC41-E9A6-48D6-AE32-2DF7E8DD35CF}">
      <dgm:prSet/>
      <dgm:spPr/>
    </dgm:pt>
    <dgm:pt modelId="{6BB14CC9-FB15-4586-B5FB-C442E6B23D5E}" type="sibTrans" cxnId="{96FDAC41-E9A6-48D6-AE32-2DF7E8DD35CF}">
      <dgm:prSet/>
      <dgm:spPr/>
    </dgm:pt>
    <dgm:pt modelId="{CD95DAA3-E6CD-4566-B5DD-280626EED583}">
      <dgm:prSet/>
      <dgm:spPr/>
      <dgm:t>
        <a:bodyPr/>
        <a:lstStyle/>
        <a:p>
          <a:r>
            <a:rPr lang="en-US"/>
            <a:t>Have you faced discrimination or barriers in the job market due to gender, race, or other factors?</a:t>
          </a:r>
        </a:p>
      </dgm:t>
    </dgm:pt>
    <dgm:pt modelId="{3B4E20BE-B584-452C-8F74-95C6809C65F8}" type="parTrans" cxnId="{452B262A-3D8D-4473-836D-A9F8C8DDC440}">
      <dgm:prSet/>
      <dgm:spPr/>
      <dgm:t>
        <a:bodyPr/>
        <a:lstStyle/>
        <a:p>
          <a:endParaRPr lang="en-US"/>
        </a:p>
      </dgm:t>
    </dgm:pt>
    <dgm:pt modelId="{F9D08A2E-FCBC-4006-8BAD-C7F4A50EA45E}" type="sibTrans" cxnId="{452B262A-3D8D-4473-836D-A9F8C8DDC440}">
      <dgm:prSet/>
      <dgm:spPr/>
      <dgm:t>
        <a:bodyPr/>
        <a:lstStyle/>
        <a:p>
          <a:endParaRPr lang="en-US"/>
        </a:p>
      </dgm:t>
    </dgm:pt>
    <dgm:pt modelId="{B3D22875-359C-4E4F-A09C-30E59C6C4DCC}" type="pres">
      <dgm:prSet presAssocID="{BB53E09F-63BA-4BCE-92EA-46EE8D3B8A1B}" presName="vert0" presStyleCnt="0">
        <dgm:presLayoutVars>
          <dgm:dir/>
          <dgm:animOne val="branch"/>
          <dgm:animLvl val="lvl"/>
        </dgm:presLayoutVars>
      </dgm:prSet>
      <dgm:spPr/>
    </dgm:pt>
    <dgm:pt modelId="{DF6827F3-71CF-469C-89E4-2B45E79B50BD}" type="pres">
      <dgm:prSet presAssocID="{184FDFBF-6D34-4389-9E9B-AAD88364E452}" presName="thickLine" presStyleLbl="alignNode1" presStyleIdx="0" presStyleCnt="10"/>
      <dgm:spPr/>
    </dgm:pt>
    <dgm:pt modelId="{861279B3-BAC5-4B85-8671-F2A0746B21B6}" type="pres">
      <dgm:prSet presAssocID="{184FDFBF-6D34-4389-9E9B-AAD88364E452}" presName="horz1" presStyleCnt="0"/>
      <dgm:spPr/>
    </dgm:pt>
    <dgm:pt modelId="{6B723752-2987-433E-8F9A-14715ECD1EF5}" type="pres">
      <dgm:prSet presAssocID="{184FDFBF-6D34-4389-9E9B-AAD88364E452}" presName="tx1" presStyleLbl="revTx" presStyleIdx="0" presStyleCnt="10"/>
      <dgm:spPr/>
    </dgm:pt>
    <dgm:pt modelId="{B1003A69-F74E-447B-A681-1161E296EEAB}" type="pres">
      <dgm:prSet presAssocID="{184FDFBF-6D34-4389-9E9B-AAD88364E452}" presName="vert1" presStyleCnt="0"/>
      <dgm:spPr/>
    </dgm:pt>
    <dgm:pt modelId="{880DBE24-896F-4B02-8370-6761BEE6BA25}" type="pres">
      <dgm:prSet presAssocID="{0264CCCD-6BE2-420A-8B15-E779DCDED016}" presName="thickLine" presStyleLbl="alignNode1" presStyleIdx="1" presStyleCnt="10"/>
      <dgm:spPr/>
    </dgm:pt>
    <dgm:pt modelId="{F4952339-AF1D-4098-89E0-48149B8D85A1}" type="pres">
      <dgm:prSet presAssocID="{0264CCCD-6BE2-420A-8B15-E779DCDED016}" presName="horz1" presStyleCnt="0"/>
      <dgm:spPr/>
    </dgm:pt>
    <dgm:pt modelId="{528B6C47-C90C-4EAE-97A7-39558BF801F3}" type="pres">
      <dgm:prSet presAssocID="{0264CCCD-6BE2-420A-8B15-E779DCDED016}" presName="tx1" presStyleLbl="revTx" presStyleIdx="1" presStyleCnt="10"/>
      <dgm:spPr/>
    </dgm:pt>
    <dgm:pt modelId="{3E2F517C-5AAF-4AB8-89DF-3E19618B5DA0}" type="pres">
      <dgm:prSet presAssocID="{0264CCCD-6BE2-420A-8B15-E779DCDED016}" presName="vert1" presStyleCnt="0"/>
      <dgm:spPr/>
    </dgm:pt>
    <dgm:pt modelId="{96E1B29F-5E35-49F2-9320-686BBBF49ACD}" type="pres">
      <dgm:prSet presAssocID="{C29E2A59-EA87-4347-87EE-2B55E844E3CA}" presName="thickLine" presStyleLbl="alignNode1" presStyleIdx="2" presStyleCnt="10"/>
      <dgm:spPr/>
    </dgm:pt>
    <dgm:pt modelId="{F6C4BB21-3FFA-4194-AC3C-A2728A6E069D}" type="pres">
      <dgm:prSet presAssocID="{C29E2A59-EA87-4347-87EE-2B55E844E3CA}" presName="horz1" presStyleCnt="0"/>
      <dgm:spPr/>
    </dgm:pt>
    <dgm:pt modelId="{853F79BA-6C43-4D1D-8E28-E75F6AF10829}" type="pres">
      <dgm:prSet presAssocID="{C29E2A59-EA87-4347-87EE-2B55E844E3CA}" presName="tx1" presStyleLbl="revTx" presStyleIdx="2" presStyleCnt="10"/>
      <dgm:spPr/>
    </dgm:pt>
    <dgm:pt modelId="{C2EC8F3D-739E-4451-BA83-B19D94F1E6A4}" type="pres">
      <dgm:prSet presAssocID="{C29E2A59-EA87-4347-87EE-2B55E844E3CA}" presName="vert1" presStyleCnt="0"/>
      <dgm:spPr/>
    </dgm:pt>
    <dgm:pt modelId="{2249509B-6CAE-4074-8792-9B8AEF7D9934}" type="pres">
      <dgm:prSet presAssocID="{F072AE91-80C0-40BC-A1C2-4074EF6C4AFA}" presName="thickLine" presStyleLbl="alignNode1" presStyleIdx="3" presStyleCnt="10"/>
      <dgm:spPr/>
    </dgm:pt>
    <dgm:pt modelId="{543E8197-CD0B-4CA7-A774-6635C9D62F12}" type="pres">
      <dgm:prSet presAssocID="{F072AE91-80C0-40BC-A1C2-4074EF6C4AFA}" presName="horz1" presStyleCnt="0"/>
      <dgm:spPr/>
    </dgm:pt>
    <dgm:pt modelId="{CA29A88A-E836-4833-A970-4A19A8072F1A}" type="pres">
      <dgm:prSet presAssocID="{F072AE91-80C0-40BC-A1C2-4074EF6C4AFA}" presName="tx1" presStyleLbl="revTx" presStyleIdx="3" presStyleCnt="10"/>
      <dgm:spPr/>
    </dgm:pt>
    <dgm:pt modelId="{E0E6945A-F801-42E6-B631-BF410565ED69}" type="pres">
      <dgm:prSet presAssocID="{F072AE91-80C0-40BC-A1C2-4074EF6C4AFA}" presName="vert1" presStyleCnt="0"/>
      <dgm:spPr/>
    </dgm:pt>
    <dgm:pt modelId="{BF68E9A4-84FE-44DE-AD11-DB6E3DDCC335}" type="pres">
      <dgm:prSet presAssocID="{E4E7B8D4-F1CA-46FE-834C-07EF2CF5E53C}" presName="thickLine" presStyleLbl="alignNode1" presStyleIdx="4" presStyleCnt="10"/>
      <dgm:spPr/>
    </dgm:pt>
    <dgm:pt modelId="{7A289F6B-781C-42C5-A981-15F7EFCA8291}" type="pres">
      <dgm:prSet presAssocID="{E4E7B8D4-F1CA-46FE-834C-07EF2CF5E53C}" presName="horz1" presStyleCnt="0"/>
      <dgm:spPr/>
    </dgm:pt>
    <dgm:pt modelId="{8B7211ED-3E06-42DD-9D72-990FD7A947C2}" type="pres">
      <dgm:prSet presAssocID="{E4E7B8D4-F1CA-46FE-834C-07EF2CF5E53C}" presName="tx1" presStyleLbl="revTx" presStyleIdx="4" presStyleCnt="10"/>
      <dgm:spPr/>
    </dgm:pt>
    <dgm:pt modelId="{3A4D7A9B-D60A-4A5C-80B9-2172D3431D19}" type="pres">
      <dgm:prSet presAssocID="{E4E7B8D4-F1CA-46FE-834C-07EF2CF5E53C}" presName="vert1" presStyleCnt="0"/>
      <dgm:spPr/>
    </dgm:pt>
    <dgm:pt modelId="{4898CE5E-93D8-4E88-975C-95447A286928}" type="pres">
      <dgm:prSet presAssocID="{73F7F6B4-8CC8-40F6-9A73-F874155F83E5}" presName="thickLine" presStyleLbl="alignNode1" presStyleIdx="5" presStyleCnt="10"/>
      <dgm:spPr/>
    </dgm:pt>
    <dgm:pt modelId="{D0F9E309-6C58-4F41-8A0A-D6E2A0C0EEB4}" type="pres">
      <dgm:prSet presAssocID="{73F7F6B4-8CC8-40F6-9A73-F874155F83E5}" presName="horz1" presStyleCnt="0"/>
      <dgm:spPr/>
    </dgm:pt>
    <dgm:pt modelId="{E8526D7E-E40D-45A0-B0A3-9754FDC8044F}" type="pres">
      <dgm:prSet presAssocID="{73F7F6B4-8CC8-40F6-9A73-F874155F83E5}" presName="tx1" presStyleLbl="revTx" presStyleIdx="5" presStyleCnt="10"/>
      <dgm:spPr/>
    </dgm:pt>
    <dgm:pt modelId="{C572BCEC-219A-4313-AD6C-A38E9AAD9869}" type="pres">
      <dgm:prSet presAssocID="{73F7F6B4-8CC8-40F6-9A73-F874155F83E5}" presName="vert1" presStyleCnt="0"/>
      <dgm:spPr/>
    </dgm:pt>
    <dgm:pt modelId="{62479441-3920-437B-A254-AF2F22665498}" type="pres">
      <dgm:prSet presAssocID="{9757A1EC-FD49-4524-B341-839CA72BDE81}" presName="thickLine" presStyleLbl="alignNode1" presStyleIdx="6" presStyleCnt="10"/>
      <dgm:spPr/>
    </dgm:pt>
    <dgm:pt modelId="{D8894096-E1B8-48BA-A123-DFA22FF42CFA}" type="pres">
      <dgm:prSet presAssocID="{9757A1EC-FD49-4524-B341-839CA72BDE81}" presName="horz1" presStyleCnt="0"/>
      <dgm:spPr/>
    </dgm:pt>
    <dgm:pt modelId="{03C866A2-AEB1-4425-969A-9459A4A6382C}" type="pres">
      <dgm:prSet presAssocID="{9757A1EC-FD49-4524-B341-839CA72BDE81}" presName="tx1" presStyleLbl="revTx" presStyleIdx="6" presStyleCnt="10"/>
      <dgm:spPr/>
    </dgm:pt>
    <dgm:pt modelId="{380A2506-9A52-467C-A507-259332B6475F}" type="pres">
      <dgm:prSet presAssocID="{9757A1EC-FD49-4524-B341-839CA72BDE81}" presName="vert1" presStyleCnt="0"/>
      <dgm:spPr/>
    </dgm:pt>
    <dgm:pt modelId="{DB0EB800-AA8B-4F84-AFC0-A58CCD87AFFA}" type="pres">
      <dgm:prSet presAssocID="{79DFF741-AED1-4ADC-A135-EF6525A584C6}" presName="thickLine" presStyleLbl="alignNode1" presStyleIdx="7" presStyleCnt="10"/>
      <dgm:spPr/>
    </dgm:pt>
    <dgm:pt modelId="{74E81509-4E64-43C1-BD3E-B508CEC17104}" type="pres">
      <dgm:prSet presAssocID="{79DFF741-AED1-4ADC-A135-EF6525A584C6}" presName="horz1" presStyleCnt="0"/>
      <dgm:spPr/>
    </dgm:pt>
    <dgm:pt modelId="{2F22670F-909C-47D8-917D-FA0D0A680E0A}" type="pres">
      <dgm:prSet presAssocID="{79DFF741-AED1-4ADC-A135-EF6525A584C6}" presName="tx1" presStyleLbl="revTx" presStyleIdx="7" presStyleCnt="10"/>
      <dgm:spPr/>
    </dgm:pt>
    <dgm:pt modelId="{0A03222B-3D64-47BB-B049-AA85A5E35B5A}" type="pres">
      <dgm:prSet presAssocID="{79DFF741-AED1-4ADC-A135-EF6525A584C6}" presName="vert1" presStyleCnt="0"/>
      <dgm:spPr/>
    </dgm:pt>
    <dgm:pt modelId="{2691589A-7DF1-4542-A386-00F7FA269134}" type="pres">
      <dgm:prSet presAssocID="{708C289C-0AC7-4259-968C-6879EF8CB521}" presName="thickLine" presStyleLbl="alignNode1" presStyleIdx="8" presStyleCnt="10"/>
      <dgm:spPr/>
    </dgm:pt>
    <dgm:pt modelId="{716C1B63-D755-4761-8837-1329FB781575}" type="pres">
      <dgm:prSet presAssocID="{708C289C-0AC7-4259-968C-6879EF8CB521}" presName="horz1" presStyleCnt="0"/>
      <dgm:spPr/>
    </dgm:pt>
    <dgm:pt modelId="{2DE8068D-81B2-40DE-9B43-23C189AA1255}" type="pres">
      <dgm:prSet presAssocID="{708C289C-0AC7-4259-968C-6879EF8CB521}" presName="tx1" presStyleLbl="revTx" presStyleIdx="8" presStyleCnt="10"/>
      <dgm:spPr/>
    </dgm:pt>
    <dgm:pt modelId="{C4210390-11D6-400A-8544-A7418B62C21E}" type="pres">
      <dgm:prSet presAssocID="{708C289C-0AC7-4259-968C-6879EF8CB521}" presName="vert1" presStyleCnt="0"/>
      <dgm:spPr/>
    </dgm:pt>
    <dgm:pt modelId="{8682C5E4-D5F6-4885-931F-55CCCA5E249C}" type="pres">
      <dgm:prSet presAssocID="{CD95DAA3-E6CD-4566-B5DD-280626EED583}" presName="thickLine" presStyleLbl="alignNode1" presStyleIdx="9" presStyleCnt="10"/>
      <dgm:spPr/>
    </dgm:pt>
    <dgm:pt modelId="{E274066E-88A4-4578-9520-0BB4558FDF31}" type="pres">
      <dgm:prSet presAssocID="{CD95DAA3-E6CD-4566-B5DD-280626EED583}" presName="horz1" presStyleCnt="0"/>
      <dgm:spPr/>
    </dgm:pt>
    <dgm:pt modelId="{AF0E8C6F-902C-4813-B561-2B37EF41CF28}" type="pres">
      <dgm:prSet presAssocID="{CD95DAA3-E6CD-4566-B5DD-280626EED583}" presName="tx1" presStyleLbl="revTx" presStyleIdx="9" presStyleCnt="10"/>
      <dgm:spPr/>
    </dgm:pt>
    <dgm:pt modelId="{B3EC9BFC-5929-4DE2-93CC-A02A06139E92}" type="pres">
      <dgm:prSet presAssocID="{CD95DAA3-E6CD-4566-B5DD-280626EED583}" presName="vert1" presStyleCnt="0"/>
      <dgm:spPr/>
    </dgm:pt>
  </dgm:ptLst>
  <dgm:cxnLst>
    <dgm:cxn modelId="{AE1DDA0A-6362-4E4C-8B96-65C07139CAFE}" srcId="{BB53E09F-63BA-4BCE-92EA-46EE8D3B8A1B}" destId="{C29E2A59-EA87-4347-87EE-2B55E844E3CA}" srcOrd="2" destOrd="0" parTransId="{68E8FB70-E1EC-450F-B206-659BFDF4C3E0}" sibTransId="{3BB11102-1152-46C5-BC39-8A9817388460}"/>
    <dgm:cxn modelId="{BCB84E11-4F94-49D9-AF88-2E192C3299F3}" type="presOf" srcId="{9757A1EC-FD49-4524-B341-839CA72BDE81}" destId="{03C866A2-AEB1-4425-969A-9459A4A6382C}" srcOrd="0" destOrd="0" presId="urn:microsoft.com/office/officeart/2008/layout/LinedList"/>
    <dgm:cxn modelId="{452B262A-3D8D-4473-836D-A9F8C8DDC440}" srcId="{BB53E09F-63BA-4BCE-92EA-46EE8D3B8A1B}" destId="{CD95DAA3-E6CD-4566-B5DD-280626EED583}" srcOrd="9" destOrd="0" parTransId="{3B4E20BE-B584-452C-8F74-95C6809C65F8}" sibTransId="{F9D08A2E-FCBC-4006-8BAD-C7F4A50EA45E}"/>
    <dgm:cxn modelId="{1F09542C-DD89-46DF-8688-8E7195B52E0F}" type="presOf" srcId="{F072AE91-80C0-40BC-A1C2-4074EF6C4AFA}" destId="{CA29A88A-E836-4833-A970-4A19A8072F1A}" srcOrd="0" destOrd="0" presId="urn:microsoft.com/office/officeart/2008/layout/LinedList"/>
    <dgm:cxn modelId="{213AC239-57FA-42AA-B265-2A5FA772FCA1}" type="presOf" srcId="{BB53E09F-63BA-4BCE-92EA-46EE8D3B8A1B}" destId="{B3D22875-359C-4E4F-A09C-30E59C6C4DCC}" srcOrd="0" destOrd="0" presId="urn:microsoft.com/office/officeart/2008/layout/LinedList"/>
    <dgm:cxn modelId="{96FDAC41-E9A6-48D6-AE32-2DF7E8DD35CF}" srcId="{BB53E09F-63BA-4BCE-92EA-46EE8D3B8A1B}" destId="{708C289C-0AC7-4259-968C-6879EF8CB521}" srcOrd="8" destOrd="0" parTransId="{77E377D9-1A4F-456B-874E-D752FEFC4F63}" sibTransId="{6BB14CC9-FB15-4586-B5FB-C442E6B23D5E}"/>
    <dgm:cxn modelId="{6B715043-6EFC-4D7B-B12E-4BF9948D96B7}" srcId="{BB53E09F-63BA-4BCE-92EA-46EE8D3B8A1B}" destId="{73F7F6B4-8CC8-40F6-9A73-F874155F83E5}" srcOrd="5" destOrd="0" parTransId="{BADB310C-CE87-45D4-9264-473E0CCFFA7A}" sibTransId="{66F707F3-B280-4357-A343-B5EFFC1780F5}"/>
    <dgm:cxn modelId="{8D52A343-2189-4737-8361-BCDEC4D0675C}" type="presOf" srcId="{708C289C-0AC7-4259-968C-6879EF8CB521}" destId="{2DE8068D-81B2-40DE-9B43-23C189AA1255}" srcOrd="0" destOrd="0" presId="urn:microsoft.com/office/officeart/2008/layout/LinedList"/>
    <dgm:cxn modelId="{C0DA764A-ADD8-4328-AFCC-882B48212D67}" type="presOf" srcId="{73F7F6B4-8CC8-40F6-9A73-F874155F83E5}" destId="{E8526D7E-E40D-45A0-B0A3-9754FDC8044F}" srcOrd="0" destOrd="0" presId="urn:microsoft.com/office/officeart/2008/layout/LinedList"/>
    <dgm:cxn modelId="{7734BC4C-4154-4EC4-9D82-E0D225A532B7}" srcId="{BB53E09F-63BA-4BCE-92EA-46EE8D3B8A1B}" destId="{79DFF741-AED1-4ADC-A135-EF6525A584C6}" srcOrd="7" destOrd="0" parTransId="{DC7DBC93-CC97-480D-BB59-41623A484E3F}" sibTransId="{99671A18-5B50-4F2B-86B3-2BDDCD2DB7CF}"/>
    <dgm:cxn modelId="{59F9A06E-1834-41A1-AA69-EBDB3E5D3FB5}" srcId="{BB53E09F-63BA-4BCE-92EA-46EE8D3B8A1B}" destId="{E4E7B8D4-F1CA-46FE-834C-07EF2CF5E53C}" srcOrd="4" destOrd="0" parTransId="{5270CDA3-4E23-4032-8333-E67883719A92}" sibTransId="{6ADC99CA-7747-4483-8F1E-718EAD694234}"/>
    <dgm:cxn modelId="{6FB2B16E-61E0-47ED-9944-FB5E11263AAD}" srcId="{BB53E09F-63BA-4BCE-92EA-46EE8D3B8A1B}" destId="{184FDFBF-6D34-4389-9E9B-AAD88364E452}" srcOrd="0" destOrd="0" parTransId="{37B9932D-F3E2-4A0C-87D0-9DA022F1A3BC}" sibTransId="{08877586-10FE-4487-95B4-E473EADE46F1}"/>
    <dgm:cxn modelId="{48C62950-17C7-4F0B-B4C6-E28A67C8B62B}" srcId="{BB53E09F-63BA-4BCE-92EA-46EE8D3B8A1B}" destId="{F072AE91-80C0-40BC-A1C2-4074EF6C4AFA}" srcOrd="3" destOrd="0" parTransId="{CF5D74D0-8C60-4626-A4E0-AEFFE2138DC1}" sibTransId="{49FE2276-3A33-4FC4-941D-AE1B6EFF2349}"/>
    <dgm:cxn modelId="{928FD18A-F581-4918-A14F-BDFFB87E9A42}" type="presOf" srcId="{0264CCCD-6BE2-420A-8B15-E779DCDED016}" destId="{528B6C47-C90C-4EAE-97A7-39558BF801F3}" srcOrd="0" destOrd="0" presId="urn:microsoft.com/office/officeart/2008/layout/LinedList"/>
    <dgm:cxn modelId="{D903F08C-A61C-4486-8E3C-7E4CB4F13DC0}" srcId="{BB53E09F-63BA-4BCE-92EA-46EE8D3B8A1B}" destId="{9757A1EC-FD49-4524-B341-839CA72BDE81}" srcOrd="6" destOrd="0" parTransId="{6F4C66BD-5CEA-4979-8D39-A8B2EB9A91F5}" sibTransId="{734D7CF3-295F-48BB-9137-C7A4843FEC15}"/>
    <dgm:cxn modelId="{F0C19B9A-2810-4180-AC3F-27F1CD04E971}" type="presOf" srcId="{79DFF741-AED1-4ADC-A135-EF6525A584C6}" destId="{2F22670F-909C-47D8-917D-FA0D0A680E0A}" srcOrd="0" destOrd="0" presId="urn:microsoft.com/office/officeart/2008/layout/LinedList"/>
    <dgm:cxn modelId="{6B7269AD-9C84-4FD1-999E-6874EAE235FC}" type="presOf" srcId="{184FDFBF-6D34-4389-9E9B-AAD88364E452}" destId="{6B723752-2987-433E-8F9A-14715ECD1EF5}" srcOrd="0" destOrd="0" presId="urn:microsoft.com/office/officeart/2008/layout/LinedList"/>
    <dgm:cxn modelId="{624303B2-5945-4F05-BA5F-1A0645873075}" type="presOf" srcId="{E4E7B8D4-F1CA-46FE-834C-07EF2CF5E53C}" destId="{8B7211ED-3E06-42DD-9D72-990FD7A947C2}" srcOrd="0" destOrd="0" presId="urn:microsoft.com/office/officeart/2008/layout/LinedList"/>
    <dgm:cxn modelId="{06C869CA-D083-44B3-B3E7-1B0E972584FD}" type="presOf" srcId="{C29E2A59-EA87-4347-87EE-2B55E844E3CA}" destId="{853F79BA-6C43-4D1D-8E28-E75F6AF10829}" srcOrd="0" destOrd="0" presId="urn:microsoft.com/office/officeart/2008/layout/LinedList"/>
    <dgm:cxn modelId="{77D848DD-B1F8-422B-93EF-98D333BC6DB2}" type="presOf" srcId="{CD95DAA3-E6CD-4566-B5DD-280626EED583}" destId="{AF0E8C6F-902C-4813-B561-2B37EF41CF28}" srcOrd="0" destOrd="0" presId="urn:microsoft.com/office/officeart/2008/layout/LinedList"/>
    <dgm:cxn modelId="{156577F0-CE38-4004-BF63-A49AE84C6B85}" srcId="{BB53E09F-63BA-4BCE-92EA-46EE8D3B8A1B}" destId="{0264CCCD-6BE2-420A-8B15-E779DCDED016}" srcOrd="1" destOrd="0" parTransId="{B138BFA1-50EA-48B8-A17F-AB3436A029C3}" sibTransId="{E403DA8D-B58D-42CE-9167-2965203166F5}"/>
    <dgm:cxn modelId="{7086B31D-9571-4324-A256-A64CEA5CCD45}" type="presParOf" srcId="{B3D22875-359C-4E4F-A09C-30E59C6C4DCC}" destId="{DF6827F3-71CF-469C-89E4-2B45E79B50BD}" srcOrd="0" destOrd="0" presId="urn:microsoft.com/office/officeart/2008/layout/LinedList"/>
    <dgm:cxn modelId="{57D00306-AE87-4930-A832-D8A94B90087D}" type="presParOf" srcId="{B3D22875-359C-4E4F-A09C-30E59C6C4DCC}" destId="{861279B3-BAC5-4B85-8671-F2A0746B21B6}" srcOrd="1" destOrd="0" presId="urn:microsoft.com/office/officeart/2008/layout/LinedList"/>
    <dgm:cxn modelId="{BC47E3AA-5AFA-4EFA-90CF-33D307F9EC0C}" type="presParOf" srcId="{861279B3-BAC5-4B85-8671-F2A0746B21B6}" destId="{6B723752-2987-433E-8F9A-14715ECD1EF5}" srcOrd="0" destOrd="0" presId="urn:microsoft.com/office/officeart/2008/layout/LinedList"/>
    <dgm:cxn modelId="{9AF806BD-5760-4279-A8EF-C43037B07CDD}" type="presParOf" srcId="{861279B3-BAC5-4B85-8671-F2A0746B21B6}" destId="{B1003A69-F74E-447B-A681-1161E296EEAB}" srcOrd="1" destOrd="0" presId="urn:microsoft.com/office/officeart/2008/layout/LinedList"/>
    <dgm:cxn modelId="{ECB12B87-410D-49EE-BB83-15690BD2EFE1}" type="presParOf" srcId="{B3D22875-359C-4E4F-A09C-30E59C6C4DCC}" destId="{880DBE24-896F-4B02-8370-6761BEE6BA25}" srcOrd="2" destOrd="0" presId="urn:microsoft.com/office/officeart/2008/layout/LinedList"/>
    <dgm:cxn modelId="{F756474B-23DA-4FDC-8CFA-EA3F9B1A994F}" type="presParOf" srcId="{B3D22875-359C-4E4F-A09C-30E59C6C4DCC}" destId="{F4952339-AF1D-4098-89E0-48149B8D85A1}" srcOrd="3" destOrd="0" presId="urn:microsoft.com/office/officeart/2008/layout/LinedList"/>
    <dgm:cxn modelId="{17BD4DC6-44D9-4E70-8756-40EDFA86989F}" type="presParOf" srcId="{F4952339-AF1D-4098-89E0-48149B8D85A1}" destId="{528B6C47-C90C-4EAE-97A7-39558BF801F3}" srcOrd="0" destOrd="0" presId="urn:microsoft.com/office/officeart/2008/layout/LinedList"/>
    <dgm:cxn modelId="{2A799C6C-B55B-49BC-99ED-B38C9E6D06EE}" type="presParOf" srcId="{F4952339-AF1D-4098-89E0-48149B8D85A1}" destId="{3E2F517C-5AAF-4AB8-89DF-3E19618B5DA0}" srcOrd="1" destOrd="0" presId="urn:microsoft.com/office/officeart/2008/layout/LinedList"/>
    <dgm:cxn modelId="{054390C0-D4D8-453C-84D2-D30157F95066}" type="presParOf" srcId="{B3D22875-359C-4E4F-A09C-30E59C6C4DCC}" destId="{96E1B29F-5E35-49F2-9320-686BBBF49ACD}" srcOrd="4" destOrd="0" presId="urn:microsoft.com/office/officeart/2008/layout/LinedList"/>
    <dgm:cxn modelId="{157C6E2A-B5B8-4E4B-B7B1-016417A18444}" type="presParOf" srcId="{B3D22875-359C-4E4F-A09C-30E59C6C4DCC}" destId="{F6C4BB21-3FFA-4194-AC3C-A2728A6E069D}" srcOrd="5" destOrd="0" presId="urn:microsoft.com/office/officeart/2008/layout/LinedList"/>
    <dgm:cxn modelId="{EC963D0F-2B45-41F4-BD81-C356B19F660E}" type="presParOf" srcId="{F6C4BB21-3FFA-4194-AC3C-A2728A6E069D}" destId="{853F79BA-6C43-4D1D-8E28-E75F6AF10829}" srcOrd="0" destOrd="0" presId="urn:microsoft.com/office/officeart/2008/layout/LinedList"/>
    <dgm:cxn modelId="{8EE83AFF-5DF0-47AD-8D78-70FDCE289A92}" type="presParOf" srcId="{F6C4BB21-3FFA-4194-AC3C-A2728A6E069D}" destId="{C2EC8F3D-739E-4451-BA83-B19D94F1E6A4}" srcOrd="1" destOrd="0" presId="urn:microsoft.com/office/officeart/2008/layout/LinedList"/>
    <dgm:cxn modelId="{02E11135-A9BE-4469-AECD-0935E571A14C}" type="presParOf" srcId="{B3D22875-359C-4E4F-A09C-30E59C6C4DCC}" destId="{2249509B-6CAE-4074-8792-9B8AEF7D9934}" srcOrd="6" destOrd="0" presId="urn:microsoft.com/office/officeart/2008/layout/LinedList"/>
    <dgm:cxn modelId="{2F6F8438-9078-4BFD-93BD-1008319CE4FE}" type="presParOf" srcId="{B3D22875-359C-4E4F-A09C-30E59C6C4DCC}" destId="{543E8197-CD0B-4CA7-A774-6635C9D62F12}" srcOrd="7" destOrd="0" presId="urn:microsoft.com/office/officeart/2008/layout/LinedList"/>
    <dgm:cxn modelId="{8B0F6E05-C2B6-464F-9818-5C8AE72563D8}" type="presParOf" srcId="{543E8197-CD0B-4CA7-A774-6635C9D62F12}" destId="{CA29A88A-E836-4833-A970-4A19A8072F1A}" srcOrd="0" destOrd="0" presId="urn:microsoft.com/office/officeart/2008/layout/LinedList"/>
    <dgm:cxn modelId="{F877B705-5DED-4AE8-996A-60D5FE4246AE}" type="presParOf" srcId="{543E8197-CD0B-4CA7-A774-6635C9D62F12}" destId="{E0E6945A-F801-42E6-B631-BF410565ED69}" srcOrd="1" destOrd="0" presId="urn:microsoft.com/office/officeart/2008/layout/LinedList"/>
    <dgm:cxn modelId="{DD580F23-14FC-437E-A90B-142B1543C076}" type="presParOf" srcId="{B3D22875-359C-4E4F-A09C-30E59C6C4DCC}" destId="{BF68E9A4-84FE-44DE-AD11-DB6E3DDCC335}" srcOrd="8" destOrd="0" presId="urn:microsoft.com/office/officeart/2008/layout/LinedList"/>
    <dgm:cxn modelId="{33BBF735-5548-41DC-82AA-580B7B14C5C4}" type="presParOf" srcId="{B3D22875-359C-4E4F-A09C-30E59C6C4DCC}" destId="{7A289F6B-781C-42C5-A981-15F7EFCA8291}" srcOrd="9" destOrd="0" presId="urn:microsoft.com/office/officeart/2008/layout/LinedList"/>
    <dgm:cxn modelId="{99B75B3C-D929-4645-AC0F-F756524D68E1}" type="presParOf" srcId="{7A289F6B-781C-42C5-A981-15F7EFCA8291}" destId="{8B7211ED-3E06-42DD-9D72-990FD7A947C2}" srcOrd="0" destOrd="0" presId="urn:microsoft.com/office/officeart/2008/layout/LinedList"/>
    <dgm:cxn modelId="{E1C9FA39-7C25-412E-BE04-155B4FBB4613}" type="presParOf" srcId="{7A289F6B-781C-42C5-A981-15F7EFCA8291}" destId="{3A4D7A9B-D60A-4A5C-80B9-2172D3431D19}" srcOrd="1" destOrd="0" presId="urn:microsoft.com/office/officeart/2008/layout/LinedList"/>
    <dgm:cxn modelId="{9E3B2C3E-253D-4E8C-8F77-154925BA0ACD}" type="presParOf" srcId="{B3D22875-359C-4E4F-A09C-30E59C6C4DCC}" destId="{4898CE5E-93D8-4E88-975C-95447A286928}" srcOrd="10" destOrd="0" presId="urn:microsoft.com/office/officeart/2008/layout/LinedList"/>
    <dgm:cxn modelId="{9C272151-6E23-4E0F-8A07-2C50CC8C4656}" type="presParOf" srcId="{B3D22875-359C-4E4F-A09C-30E59C6C4DCC}" destId="{D0F9E309-6C58-4F41-8A0A-D6E2A0C0EEB4}" srcOrd="11" destOrd="0" presId="urn:microsoft.com/office/officeart/2008/layout/LinedList"/>
    <dgm:cxn modelId="{4B3B0508-FEB6-487C-99C7-BA8D386EDEE4}" type="presParOf" srcId="{D0F9E309-6C58-4F41-8A0A-D6E2A0C0EEB4}" destId="{E8526D7E-E40D-45A0-B0A3-9754FDC8044F}" srcOrd="0" destOrd="0" presId="urn:microsoft.com/office/officeart/2008/layout/LinedList"/>
    <dgm:cxn modelId="{564E8E9A-5EB0-462D-B582-5D9CD2218129}" type="presParOf" srcId="{D0F9E309-6C58-4F41-8A0A-D6E2A0C0EEB4}" destId="{C572BCEC-219A-4313-AD6C-A38E9AAD9869}" srcOrd="1" destOrd="0" presId="urn:microsoft.com/office/officeart/2008/layout/LinedList"/>
    <dgm:cxn modelId="{E53BCA8C-3948-41D7-B318-7728BB4AB3A6}" type="presParOf" srcId="{B3D22875-359C-4E4F-A09C-30E59C6C4DCC}" destId="{62479441-3920-437B-A254-AF2F22665498}" srcOrd="12" destOrd="0" presId="urn:microsoft.com/office/officeart/2008/layout/LinedList"/>
    <dgm:cxn modelId="{414881B4-657C-4F45-88FA-DCA64F424E57}" type="presParOf" srcId="{B3D22875-359C-4E4F-A09C-30E59C6C4DCC}" destId="{D8894096-E1B8-48BA-A123-DFA22FF42CFA}" srcOrd="13" destOrd="0" presId="urn:microsoft.com/office/officeart/2008/layout/LinedList"/>
    <dgm:cxn modelId="{20B20503-78DD-4B62-8581-C0C3DD2EE89C}" type="presParOf" srcId="{D8894096-E1B8-48BA-A123-DFA22FF42CFA}" destId="{03C866A2-AEB1-4425-969A-9459A4A6382C}" srcOrd="0" destOrd="0" presId="urn:microsoft.com/office/officeart/2008/layout/LinedList"/>
    <dgm:cxn modelId="{73EE8CD8-9762-479C-8C06-3B6A48076DA5}" type="presParOf" srcId="{D8894096-E1B8-48BA-A123-DFA22FF42CFA}" destId="{380A2506-9A52-467C-A507-259332B6475F}" srcOrd="1" destOrd="0" presId="urn:microsoft.com/office/officeart/2008/layout/LinedList"/>
    <dgm:cxn modelId="{ABEA3C93-1221-4B58-8CBC-E2AB57AE3264}" type="presParOf" srcId="{B3D22875-359C-4E4F-A09C-30E59C6C4DCC}" destId="{DB0EB800-AA8B-4F84-AFC0-A58CCD87AFFA}" srcOrd="14" destOrd="0" presId="urn:microsoft.com/office/officeart/2008/layout/LinedList"/>
    <dgm:cxn modelId="{A92CD773-2044-4F17-A7DF-22657D4D3455}" type="presParOf" srcId="{B3D22875-359C-4E4F-A09C-30E59C6C4DCC}" destId="{74E81509-4E64-43C1-BD3E-B508CEC17104}" srcOrd="15" destOrd="0" presId="urn:microsoft.com/office/officeart/2008/layout/LinedList"/>
    <dgm:cxn modelId="{E20026F7-DAF6-4256-B751-6B80F1A80731}" type="presParOf" srcId="{74E81509-4E64-43C1-BD3E-B508CEC17104}" destId="{2F22670F-909C-47D8-917D-FA0D0A680E0A}" srcOrd="0" destOrd="0" presId="urn:microsoft.com/office/officeart/2008/layout/LinedList"/>
    <dgm:cxn modelId="{275F9421-90D9-44DC-BEBB-D2ED71AC89A6}" type="presParOf" srcId="{74E81509-4E64-43C1-BD3E-B508CEC17104}" destId="{0A03222B-3D64-47BB-B049-AA85A5E35B5A}" srcOrd="1" destOrd="0" presId="urn:microsoft.com/office/officeart/2008/layout/LinedList"/>
    <dgm:cxn modelId="{9ACE0932-B978-48D1-8EE3-42CD218D92BD}" type="presParOf" srcId="{B3D22875-359C-4E4F-A09C-30E59C6C4DCC}" destId="{2691589A-7DF1-4542-A386-00F7FA269134}" srcOrd="16" destOrd="0" presId="urn:microsoft.com/office/officeart/2008/layout/LinedList"/>
    <dgm:cxn modelId="{51354E82-8285-43ED-BAAC-0E291FC56E3F}" type="presParOf" srcId="{B3D22875-359C-4E4F-A09C-30E59C6C4DCC}" destId="{716C1B63-D755-4761-8837-1329FB781575}" srcOrd="17" destOrd="0" presId="urn:microsoft.com/office/officeart/2008/layout/LinedList"/>
    <dgm:cxn modelId="{2268E15F-D16C-404C-82B6-21FAB9EA1599}" type="presParOf" srcId="{716C1B63-D755-4761-8837-1329FB781575}" destId="{2DE8068D-81B2-40DE-9B43-23C189AA1255}" srcOrd="0" destOrd="0" presId="urn:microsoft.com/office/officeart/2008/layout/LinedList"/>
    <dgm:cxn modelId="{3E71B399-CAED-4024-BE25-1BD39A3D3738}" type="presParOf" srcId="{716C1B63-D755-4761-8837-1329FB781575}" destId="{C4210390-11D6-400A-8544-A7418B62C21E}" srcOrd="1" destOrd="0" presId="urn:microsoft.com/office/officeart/2008/layout/LinedList"/>
    <dgm:cxn modelId="{8BF8DC59-62C1-4CA3-974F-99574C23EEBC}" type="presParOf" srcId="{B3D22875-359C-4E4F-A09C-30E59C6C4DCC}" destId="{8682C5E4-D5F6-4885-931F-55CCCA5E249C}" srcOrd="18" destOrd="0" presId="urn:microsoft.com/office/officeart/2008/layout/LinedList"/>
    <dgm:cxn modelId="{804C1FDE-6EF2-4EDA-9281-FC9512F49CF2}" type="presParOf" srcId="{B3D22875-359C-4E4F-A09C-30E59C6C4DCC}" destId="{E274066E-88A4-4578-9520-0BB4558FDF31}" srcOrd="19" destOrd="0" presId="urn:microsoft.com/office/officeart/2008/layout/LinedList"/>
    <dgm:cxn modelId="{343D2031-F672-489A-813A-988C18798183}" type="presParOf" srcId="{E274066E-88A4-4578-9520-0BB4558FDF31}" destId="{AF0E8C6F-902C-4813-B561-2B37EF41CF28}" srcOrd="0" destOrd="0" presId="urn:microsoft.com/office/officeart/2008/layout/LinedList"/>
    <dgm:cxn modelId="{5BBC40F7-3A4A-4AAD-A80E-5022F5A44436}" type="presParOf" srcId="{E274066E-88A4-4578-9520-0BB4558FDF31}" destId="{B3EC9BFC-5929-4DE2-93CC-A02A06139E9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E895D1C-B8A6-4B66-8558-BD9C988DA3A9}"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D2AAC0B2-E1EB-4CBA-A3C6-822D925C2EBE}">
      <dgm:prSet/>
      <dgm:spPr/>
      <dgm:t>
        <a:bodyPr/>
        <a:lstStyle/>
        <a:p>
          <a:pPr rtl="0"/>
          <a:r>
            <a:rPr lang="en-US"/>
            <a:t>Are there any specific skills or qualifications that are necessary for women to obtain employment in your community?</a:t>
          </a:r>
          <a:endParaRPr lang="en-US">
            <a:latin typeface="Sagona Book"/>
          </a:endParaRPr>
        </a:p>
      </dgm:t>
    </dgm:pt>
    <dgm:pt modelId="{4D258C70-778D-4954-B42E-0A0BA1D416A4}" type="parTrans" cxnId="{E7811EBA-0C86-4BAC-BAB4-00B8821D42D1}">
      <dgm:prSet/>
      <dgm:spPr/>
      <dgm:t>
        <a:bodyPr/>
        <a:lstStyle/>
        <a:p>
          <a:endParaRPr lang="en-US"/>
        </a:p>
      </dgm:t>
    </dgm:pt>
    <dgm:pt modelId="{93493ED2-AD5A-45DD-A9C7-A3667FB37603}" type="sibTrans" cxnId="{E7811EBA-0C86-4BAC-BAB4-00B8821D42D1}">
      <dgm:prSet/>
      <dgm:spPr/>
      <dgm:t>
        <a:bodyPr/>
        <a:lstStyle/>
        <a:p>
          <a:endParaRPr lang="en-US"/>
        </a:p>
      </dgm:t>
    </dgm:pt>
    <dgm:pt modelId="{E478B7A1-7864-4341-B71A-B691CE8469AE}">
      <dgm:prSet/>
      <dgm:spPr/>
      <dgm:t>
        <a:bodyPr/>
        <a:lstStyle/>
        <a:p>
          <a:pPr rtl="0"/>
          <a:r>
            <a:rPr lang="en-US"/>
            <a:t>What changes do you think are needed to improve employment opportunities for women in rural areas?</a:t>
          </a:r>
        </a:p>
      </dgm:t>
    </dgm:pt>
    <dgm:pt modelId="{EBA4B4FB-0357-4C70-BE0C-05FB37558E0D}" type="parTrans" cxnId="{56B085D0-3D6C-4004-A849-811C037833E8}">
      <dgm:prSet/>
      <dgm:spPr/>
      <dgm:t>
        <a:bodyPr/>
        <a:lstStyle/>
        <a:p>
          <a:endParaRPr lang="en-US"/>
        </a:p>
      </dgm:t>
    </dgm:pt>
    <dgm:pt modelId="{D76DC172-2390-4571-A86F-EF8B96F9253E}" type="sibTrans" cxnId="{56B085D0-3D6C-4004-A849-811C037833E8}">
      <dgm:prSet/>
      <dgm:spPr/>
      <dgm:t>
        <a:bodyPr/>
        <a:lstStyle/>
        <a:p>
          <a:endParaRPr lang="en-US"/>
        </a:p>
      </dgm:t>
    </dgm:pt>
    <dgm:pt modelId="{B8022C87-AFD7-4FFD-BB89-D6A8F08A9C68}">
      <dgm:prSet/>
      <dgm:spPr/>
      <dgm:t>
        <a:bodyPr/>
        <a:lstStyle/>
        <a:p>
          <a:pPr rtl="0"/>
          <a:r>
            <a:rPr lang="en-US"/>
            <a:t>In your opinion, what are the benefits of increased women's employment in rural areas?</a:t>
          </a:r>
        </a:p>
      </dgm:t>
    </dgm:pt>
    <dgm:pt modelId="{58D5B139-E416-4DC0-BFD9-9B7A00544122}" type="parTrans" cxnId="{DEC9B5AE-5800-41CC-AD82-D592C4FB5710}">
      <dgm:prSet/>
      <dgm:spPr/>
      <dgm:t>
        <a:bodyPr/>
        <a:lstStyle/>
        <a:p>
          <a:endParaRPr lang="en-US"/>
        </a:p>
      </dgm:t>
    </dgm:pt>
    <dgm:pt modelId="{EEAE9C2D-25F4-48C6-8524-0B0A24DDC00C}" type="sibTrans" cxnId="{DEC9B5AE-5800-41CC-AD82-D592C4FB5710}">
      <dgm:prSet/>
      <dgm:spPr/>
      <dgm:t>
        <a:bodyPr/>
        <a:lstStyle/>
        <a:p>
          <a:endParaRPr lang="en-US"/>
        </a:p>
      </dgm:t>
    </dgm:pt>
    <dgm:pt modelId="{932EE3AB-F7BD-4CFE-ACEB-D99812E6DDB8}">
      <dgm:prSet/>
      <dgm:spPr/>
      <dgm:t>
        <a:bodyPr/>
        <a:lstStyle/>
        <a:p>
          <a:pPr rtl="0"/>
          <a:r>
            <a:rPr lang="en-US"/>
            <a:t>Have you received any training or education to improve your job skills or employment prospects</a:t>
          </a:r>
          <a:r>
            <a:rPr lang="en-US">
              <a:latin typeface="Sagona Book"/>
            </a:rPr>
            <a:t>? If yes, </a:t>
          </a:r>
          <a:r>
            <a:rPr lang="en-US"/>
            <a:t>was the training or education provided by the government or the private sector?</a:t>
          </a:r>
        </a:p>
      </dgm:t>
    </dgm:pt>
    <dgm:pt modelId="{88124E4A-C99C-473C-A3EF-E7FB1DE13D90}" type="parTrans" cxnId="{055BAA7C-3654-4BBE-B4F9-48BC9AC5DE22}">
      <dgm:prSet/>
      <dgm:spPr/>
      <dgm:t>
        <a:bodyPr/>
        <a:lstStyle/>
        <a:p>
          <a:endParaRPr lang="en-US"/>
        </a:p>
      </dgm:t>
    </dgm:pt>
    <dgm:pt modelId="{F63A5F6F-42FC-451A-B2E6-471DE69B5FC1}" type="sibTrans" cxnId="{055BAA7C-3654-4BBE-B4F9-48BC9AC5DE22}">
      <dgm:prSet/>
      <dgm:spPr/>
      <dgm:t>
        <a:bodyPr/>
        <a:lstStyle/>
        <a:p>
          <a:endParaRPr lang="en-US"/>
        </a:p>
      </dgm:t>
    </dgm:pt>
    <dgm:pt modelId="{71D2BEE5-03C4-47CC-BE01-DE5FA78C6BA1}">
      <dgm:prSet phldr="0"/>
      <dgm:spPr/>
      <dgm:t>
        <a:bodyPr/>
        <a:lstStyle/>
        <a:p>
          <a:pPr rtl="0"/>
          <a:r>
            <a:rPr lang="en-US"/>
            <a:t>Do you think that access to childcare services is a barrier to women's employment in rural</a:t>
          </a:r>
        </a:p>
      </dgm:t>
    </dgm:pt>
    <dgm:pt modelId="{5B0B6041-8F9E-4C6E-B3B7-C462BF526B79}" type="parTrans" cxnId="{D3C8EFE2-E2F0-4614-A12B-676D1C304AE4}">
      <dgm:prSet/>
      <dgm:spPr/>
    </dgm:pt>
    <dgm:pt modelId="{0082A6DA-9282-40EA-BD19-4280876C895C}" type="sibTrans" cxnId="{D3C8EFE2-E2F0-4614-A12B-676D1C304AE4}">
      <dgm:prSet/>
      <dgm:spPr/>
    </dgm:pt>
    <dgm:pt modelId="{C7A6D7F8-FC05-4CA7-9AAF-6982DB66E6E6}">
      <dgm:prSet phldr="0"/>
      <dgm:spPr/>
      <dgm:t>
        <a:bodyPr/>
        <a:lstStyle/>
        <a:p>
          <a:r>
            <a:rPr lang="en-US"/>
            <a:t>Have you noticed any changes in the employment or entrepreneurship opportunities for women in your community in the last 5 years? If yes, what type of support did you receive and was it helpful in starting your business</a:t>
          </a:r>
        </a:p>
      </dgm:t>
    </dgm:pt>
    <dgm:pt modelId="{75331356-2C7F-4155-84A4-BF00E9DD9550}" type="parTrans" cxnId="{B5427217-38BF-4960-849A-49B1648B7097}">
      <dgm:prSet/>
      <dgm:spPr/>
    </dgm:pt>
    <dgm:pt modelId="{8870E411-5BB4-4FB9-9FDD-7A1E3BB11656}" type="sibTrans" cxnId="{B5427217-38BF-4960-849A-49B1648B7097}">
      <dgm:prSet/>
      <dgm:spPr/>
    </dgm:pt>
    <dgm:pt modelId="{9E5C28E8-6029-4C56-A8DA-F26939B0815A}">
      <dgm:prSet phldr="0"/>
      <dgm:spPr/>
      <dgm:t>
        <a:bodyPr/>
        <a:lstStyle/>
        <a:p>
          <a:pPr rtl="0"/>
          <a:r>
            <a:rPr lang="en-US"/>
            <a:t>Have you ever faced discrimination or harassment in the workplace?</a:t>
          </a:r>
        </a:p>
      </dgm:t>
    </dgm:pt>
    <dgm:pt modelId="{1DC0287D-29E2-486D-978F-E495CD5CC869}" type="parTrans" cxnId="{77AD96D4-248E-4FE4-B530-B1DC48EE0697}">
      <dgm:prSet/>
      <dgm:spPr/>
    </dgm:pt>
    <dgm:pt modelId="{F8925A45-241C-4649-9AAD-61D41E4F55DE}" type="sibTrans" cxnId="{77AD96D4-248E-4FE4-B530-B1DC48EE0697}">
      <dgm:prSet/>
      <dgm:spPr/>
    </dgm:pt>
    <dgm:pt modelId="{034483D0-E641-4D0A-B819-8C1921BE5D05}">
      <dgm:prSet phldr="0"/>
      <dgm:spPr/>
      <dgm:t>
        <a:bodyPr/>
        <a:lstStyle/>
        <a:p>
          <a:r>
            <a:rPr lang="en-US"/>
            <a:t>Have you ever attempted to start your own business or become an entrepreneur? If Yes, what challenges did you face in starting your own business ?</a:t>
          </a:r>
        </a:p>
      </dgm:t>
    </dgm:pt>
    <dgm:pt modelId="{1BD65B37-93EE-49E2-83C3-77B4D03A94E1}" type="parTrans" cxnId="{38CBE40F-FD60-4BEF-97EC-0B742245162A}">
      <dgm:prSet/>
      <dgm:spPr/>
    </dgm:pt>
    <dgm:pt modelId="{8A2435DA-294E-4C7C-81AC-2D822404B6F4}" type="sibTrans" cxnId="{38CBE40F-FD60-4BEF-97EC-0B742245162A}">
      <dgm:prSet/>
      <dgm:spPr/>
    </dgm:pt>
    <dgm:pt modelId="{07671914-41D8-48B0-8141-9E54584AD3C5}">
      <dgm:prSet phldr="0"/>
      <dgm:spPr/>
      <dgm:t>
        <a:bodyPr/>
        <a:lstStyle/>
        <a:p>
          <a:pPr rtl="0"/>
          <a:r>
            <a:rPr lang="en-US"/>
            <a:t>Are there any resources or services in your community that would help you overcome these barriers?</a:t>
          </a:r>
        </a:p>
      </dgm:t>
    </dgm:pt>
    <dgm:pt modelId="{8C5AB1D8-F763-460A-A36B-B029132D5524}" type="parTrans" cxnId="{20AABE0D-D686-4969-981B-57AE3B5749F5}">
      <dgm:prSet/>
      <dgm:spPr/>
    </dgm:pt>
    <dgm:pt modelId="{D11F70BE-DD87-423C-9FC4-656E2819EF67}" type="sibTrans" cxnId="{20AABE0D-D686-4969-981B-57AE3B5749F5}">
      <dgm:prSet/>
      <dgm:spPr/>
    </dgm:pt>
    <dgm:pt modelId="{0A3DE27A-61DA-4D3A-A26B-DC519885D0BC}">
      <dgm:prSet phldr="0"/>
      <dgm:spPr/>
      <dgm:t>
        <a:bodyPr/>
        <a:lstStyle/>
        <a:p>
          <a:r>
            <a:rPr lang="en-US"/>
            <a:t>Do you think government policies and programs aimed at promoting women's employment in rural areas are effective?</a:t>
          </a:r>
        </a:p>
      </dgm:t>
    </dgm:pt>
    <dgm:pt modelId="{94BA2EBB-D02A-4FFD-BAC8-84EB70E4E438}" type="parTrans" cxnId="{3167C41F-EADC-4111-9D9D-7AE989D78C0B}">
      <dgm:prSet/>
      <dgm:spPr/>
    </dgm:pt>
    <dgm:pt modelId="{9EE9649A-A28C-47CF-A376-B1BA53CFD044}" type="sibTrans" cxnId="{3167C41F-EADC-4111-9D9D-7AE989D78C0B}">
      <dgm:prSet/>
      <dgm:spPr/>
    </dgm:pt>
    <dgm:pt modelId="{AB17DD9F-7D47-4BF9-847F-45A742A39AD0}" type="pres">
      <dgm:prSet presAssocID="{6E895D1C-B8A6-4B66-8558-BD9C988DA3A9}" presName="vert0" presStyleCnt="0">
        <dgm:presLayoutVars>
          <dgm:dir/>
          <dgm:animOne val="branch"/>
          <dgm:animLvl val="lvl"/>
        </dgm:presLayoutVars>
      </dgm:prSet>
      <dgm:spPr/>
    </dgm:pt>
    <dgm:pt modelId="{F500F685-BDE4-486B-9449-74641EB377F0}" type="pres">
      <dgm:prSet presAssocID="{07671914-41D8-48B0-8141-9E54584AD3C5}" presName="thickLine" presStyleLbl="alignNode1" presStyleIdx="0" presStyleCnt="10"/>
      <dgm:spPr/>
    </dgm:pt>
    <dgm:pt modelId="{FDD004EF-D461-4797-8BD6-48B1B088B43E}" type="pres">
      <dgm:prSet presAssocID="{07671914-41D8-48B0-8141-9E54584AD3C5}" presName="horz1" presStyleCnt="0"/>
      <dgm:spPr/>
    </dgm:pt>
    <dgm:pt modelId="{E33DC56E-0FE2-4D02-94E9-324D670F301C}" type="pres">
      <dgm:prSet presAssocID="{07671914-41D8-48B0-8141-9E54584AD3C5}" presName="tx1" presStyleLbl="revTx" presStyleIdx="0" presStyleCnt="10"/>
      <dgm:spPr/>
    </dgm:pt>
    <dgm:pt modelId="{92DA5E9C-7799-4EB6-AFA0-549D3650E491}" type="pres">
      <dgm:prSet presAssocID="{07671914-41D8-48B0-8141-9E54584AD3C5}" presName="vert1" presStyleCnt="0"/>
      <dgm:spPr/>
    </dgm:pt>
    <dgm:pt modelId="{FEDD9E3E-8E6C-47C9-9DD2-95FD146420DD}" type="pres">
      <dgm:prSet presAssocID="{D2AAC0B2-E1EB-4CBA-A3C6-822D925C2EBE}" presName="thickLine" presStyleLbl="alignNode1" presStyleIdx="1" presStyleCnt="10"/>
      <dgm:spPr/>
    </dgm:pt>
    <dgm:pt modelId="{D207D4F0-799C-40DB-9AEE-91B4C0915E8B}" type="pres">
      <dgm:prSet presAssocID="{D2AAC0B2-E1EB-4CBA-A3C6-822D925C2EBE}" presName="horz1" presStyleCnt="0"/>
      <dgm:spPr/>
    </dgm:pt>
    <dgm:pt modelId="{EE2AB5DE-DD01-48A6-BABB-48291C5625C2}" type="pres">
      <dgm:prSet presAssocID="{D2AAC0B2-E1EB-4CBA-A3C6-822D925C2EBE}" presName="tx1" presStyleLbl="revTx" presStyleIdx="1" presStyleCnt="10"/>
      <dgm:spPr/>
    </dgm:pt>
    <dgm:pt modelId="{4CCE9076-8BF5-4C71-983F-5FE7989BC0CC}" type="pres">
      <dgm:prSet presAssocID="{D2AAC0B2-E1EB-4CBA-A3C6-822D925C2EBE}" presName="vert1" presStyleCnt="0"/>
      <dgm:spPr/>
    </dgm:pt>
    <dgm:pt modelId="{C31CEF42-DCCC-4F0E-81F0-0E350A498C69}" type="pres">
      <dgm:prSet presAssocID="{0A3DE27A-61DA-4D3A-A26B-DC519885D0BC}" presName="thickLine" presStyleLbl="alignNode1" presStyleIdx="2" presStyleCnt="10"/>
      <dgm:spPr/>
    </dgm:pt>
    <dgm:pt modelId="{2A2837B2-04FD-4AF6-A5C3-BDCD7FF54852}" type="pres">
      <dgm:prSet presAssocID="{0A3DE27A-61DA-4D3A-A26B-DC519885D0BC}" presName="horz1" presStyleCnt="0"/>
      <dgm:spPr/>
    </dgm:pt>
    <dgm:pt modelId="{E50929E7-B964-4347-A9F5-4094F8C678B7}" type="pres">
      <dgm:prSet presAssocID="{0A3DE27A-61DA-4D3A-A26B-DC519885D0BC}" presName="tx1" presStyleLbl="revTx" presStyleIdx="2" presStyleCnt="10"/>
      <dgm:spPr/>
    </dgm:pt>
    <dgm:pt modelId="{5FC11DD4-0078-41EE-9D7F-BA30975FBAE0}" type="pres">
      <dgm:prSet presAssocID="{0A3DE27A-61DA-4D3A-A26B-DC519885D0BC}" presName="vert1" presStyleCnt="0"/>
      <dgm:spPr/>
    </dgm:pt>
    <dgm:pt modelId="{A55C106B-D013-4C5B-A414-B7430EB3D065}" type="pres">
      <dgm:prSet presAssocID="{E478B7A1-7864-4341-B71A-B691CE8469AE}" presName="thickLine" presStyleLbl="alignNode1" presStyleIdx="3" presStyleCnt="10"/>
      <dgm:spPr/>
    </dgm:pt>
    <dgm:pt modelId="{FE66B5AC-F4B0-45DE-9416-71548EC2378A}" type="pres">
      <dgm:prSet presAssocID="{E478B7A1-7864-4341-B71A-B691CE8469AE}" presName="horz1" presStyleCnt="0"/>
      <dgm:spPr/>
    </dgm:pt>
    <dgm:pt modelId="{F971E420-1C83-4ABB-B5A9-7CF23B19DF66}" type="pres">
      <dgm:prSet presAssocID="{E478B7A1-7864-4341-B71A-B691CE8469AE}" presName="tx1" presStyleLbl="revTx" presStyleIdx="3" presStyleCnt="10"/>
      <dgm:spPr/>
    </dgm:pt>
    <dgm:pt modelId="{0973664E-E7A6-44B7-92EB-46BCB2D3071E}" type="pres">
      <dgm:prSet presAssocID="{E478B7A1-7864-4341-B71A-B691CE8469AE}" presName="vert1" presStyleCnt="0"/>
      <dgm:spPr/>
    </dgm:pt>
    <dgm:pt modelId="{28437814-74FF-4C28-8468-C7A165927879}" type="pres">
      <dgm:prSet presAssocID="{B8022C87-AFD7-4FFD-BB89-D6A8F08A9C68}" presName="thickLine" presStyleLbl="alignNode1" presStyleIdx="4" presStyleCnt="10"/>
      <dgm:spPr/>
    </dgm:pt>
    <dgm:pt modelId="{DBDC95DE-CAAA-45C1-AAF7-84EF45F10858}" type="pres">
      <dgm:prSet presAssocID="{B8022C87-AFD7-4FFD-BB89-D6A8F08A9C68}" presName="horz1" presStyleCnt="0"/>
      <dgm:spPr/>
    </dgm:pt>
    <dgm:pt modelId="{E552A3AE-612A-43FE-811D-1B9A5B269115}" type="pres">
      <dgm:prSet presAssocID="{B8022C87-AFD7-4FFD-BB89-D6A8F08A9C68}" presName="tx1" presStyleLbl="revTx" presStyleIdx="4" presStyleCnt="10"/>
      <dgm:spPr/>
    </dgm:pt>
    <dgm:pt modelId="{357A9185-B018-45B5-A96D-B1BA601F28E1}" type="pres">
      <dgm:prSet presAssocID="{B8022C87-AFD7-4FFD-BB89-D6A8F08A9C68}" presName="vert1" presStyleCnt="0"/>
      <dgm:spPr/>
    </dgm:pt>
    <dgm:pt modelId="{49AFA53E-BC15-4145-8194-F9245F939C92}" type="pres">
      <dgm:prSet presAssocID="{932EE3AB-F7BD-4CFE-ACEB-D99812E6DDB8}" presName="thickLine" presStyleLbl="alignNode1" presStyleIdx="5" presStyleCnt="10"/>
      <dgm:spPr/>
    </dgm:pt>
    <dgm:pt modelId="{2FFF1175-1C9A-4625-B8FB-1252CA924112}" type="pres">
      <dgm:prSet presAssocID="{932EE3AB-F7BD-4CFE-ACEB-D99812E6DDB8}" presName="horz1" presStyleCnt="0"/>
      <dgm:spPr/>
    </dgm:pt>
    <dgm:pt modelId="{CC8B9A6E-CD0D-4006-89B4-CA62616EF3F0}" type="pres">
      <dgm:prSet presAssocID="{932EE3AB-F7BD-4CFE-ACEB-D99812E6DDB8}" presName="tx1" presStyleLbl="revTx" presStyleIdx="5" presStyleCnt="10"/>
      <dgm:spPr/>
    </dgm:pt>
    <dgm:pt modelId="{ECD48F2A-FCDE-49BC-972D-DDD86E04362D}" type="pres">
      <dgm:prSet presAssocID="{932EE3AB-F7BD-4CFE-ACEB-D99812E6DDB8}" presName="vert1" presStyleCnt="0"/>
      <dgm:spPr/>
    </dgm:pt>
    <dgm:pt modelId="{02EAEF10-B471-4E49-B34D-2F75A0517025}" type="pres">
      <dgm:prSet presAssocID="{71D2BEE5-03C4-47CC-BE01-DE5FA78C6BA1}" presName="thickLine" presStyleLbl="alignNode1" presStyleIdx="6" presStyleCnt="10"/>
      <dgm:spPr/>
    </dgm:pt>
    <dgm:pt modelId="{60510592-47A1-4C14-B001-2B016E2224BC}" type="pres">
      <dgm:prSet presAssocID="{71D2BEE5-03C4-47CC-BE01-DE5FA78C6BA1}" presName="horz1" presStyleCnt="0"/>
      <dgm:spPr/>
    </dgm:pt>
    <dgm:pt modelId="{D5CC35FA-3ED2-4EB3-B4C9-B038F4380994}" type="pres">
      <dgm:prSet presAssocID="{71D2BEE5-03C4-47CC-BE01-DE5FA78C6BA1}" presName="tx1" presStyleLbl="revTx" presStyleIdx="6" presStyleCnt="10"/>
      <dgm:spPr/>
    </dgm:pt>
    <dgm:pt modelId="{5FD2D708-A753-4B92-AAA9-9C405D2672B8}" type="pres">
      <dgm:prSet presAssocID="{71D2BEE5-03C4-47CC-BE01-DE5FA78C6BA1}" presName="vert1" presStyleCnt="0"/>
      <dgm:spPr/>
    </dgm:pt>
    <dgm:pt modelId="{72802289-DF0B-4EE7-9034-554B1DC5C999}" type="pres">
      <dgm:prSet presAssocID="{9E5C28E8-6029-4C56-A8DA-F26939B0815A}" presName="thickLine" presStyleLbl="alignNode1" presStyleIdx="7" presStyleCnt="10"/>
      <dgm:spPr/>
    </dgm:pt>
    <dgm:pt modelId="{8888908C-791D-43FA-869C-5122D4ED252C}" type="pres">
      <dgm:prSet presAssocID="{9E5C28E8-6029-4C56-A8DA-F26939B0815A}" presName="horz1" presStyleCnt="0"/>
      <dgm:spPr/>
    </dgm:pt>
    <dgm:pt modelId="{DBACDA6A-E267-4A76-BC83-BF6A3955D021}" type="pres">
      <dgm:prSet presAssocID="{9E5C28E8-6029-4C56-A8DA-F26939B0815A}" presName="tx1" presStyleLbl="revTx" presStyleIdx="7" presStyleCnt="10"/>
      <dgm:spPr/>
    </dgm:pt>
    <dgm:pt modelId="{7440C43E-B34F-4949-B9B9-0836286BEE5B}" type="pres">
      <dgm:prSet presAssocID="{9E5C28E8-6029-4C56-A8DA-F26939B0815A}" presName="vert1" presStyleCnt="0"/>
      <dgm:spPr/>
    </dgm:pt>
    <dgm:pt modelId="{891A501D-1171-4F4E-B87E-F411F7BDC9F0}" type="pres">
      <dgm:prSet presAssocID="{034483D0-E641-4D0A-B819-8C1921BE5D05}" presName="thickLine" presStyleLbl="alignNode1" presStyleIdx="8" presStyleCnt="10"/>
      <dgm:spPr/>
    </dgm:pt>
    <dgm:pt modelId="{8B0FEE33-2CBD-468D-B86B-0C118BE75C4E}" type="pres">
      <dgm:prSet presAssocID="{034483D0-E641-4D0A-B819-8C1921BE5D05}" presName="horz1" presStyleCnt="0"/>
      <dgm:spPr/>
    </dgm:pt>
    <dgm:pt modelId="{F23EC666-E80A-44CA-B58B-732E7F5EDDDD}" type="pres">
      <dgm:prSet presAssocID="{034483D0-E641-4D0A-B819-8C1921BE5D05}" presName="tx1" presStyleLbl="revTx" presStyleIdx="8" presStyleCnt="10"/>
      <dgm:spPr/>
    </dgm:pt>
    <dgm:pt modelId="{B079B9BF-D90C-4E0C-BE06-AA9FA266D4AC}" type="pres">
      <dgm:prSet presAssocID="{034483D0-E641-4D0A-B819-8C1921BE5D05}" presName="vert1" presStyleCnt="0"/>
      <dgm:spPr/>
    </dgm:pt>
    <dgm:pt modelId="{232D6E1C-8EF8-4ABC-ABE3-01DF738C7132}" type="pres">
      <dgm:prSet presAssocID="{C7A6D7F8-FC05-4CA7-9AAF-6982DB66E6E6}" presName="thickLine" presStyleLbl="alignNode1" presStyleIdx="9" presStyleCnt="10"/>
      <dgm:spPr/>
    </dgm:pt>
    <dgm:pt modelId="{D9D31B40-604A-4C4F-82EF-6F52CCD92A79}" type="pres">
      <dgm:prSet presAssocID="{C7A6D7F8-FC05-4CA7-9AAF-6982DB66E6E6}" presName="horz1" presStyleCnt="0"/>
      <dgm:spPr/>
    </dgm:pt>
    <dgm:pt modelId="{42E04DE9-1F56-4C97-B494-3E7E0B35A12E}" type="pres">
      <dgm:prSet presAssocID="{C7A6D7F8-FC05-4CA7-9AAF-6982DB66E6E6}" presName="tx1" presStyleLbl="revTx" presStyleIdx="9" presStyleCnt="10"/>
      <dgm:spPr/>
    </dgm:pt>
    <dgm:pt modelId="{CC74FB54-A607-441D-A337-7BA07CA17C76}" type="pres">
      <dgm:prSet presAssocID="{C7A6D7F8-FC05-4CA7-9AAF-6982DB66E6E6}" presName="vert1" presStyleCnt="0"/>
      <dgm:spPr/>
    </dgm:pt>
  </dgm:ptLst>
  <dgm:cxnLst>
    <dgm:cxn modelId="{20AABE0D-D686-4969-981B-57AE3B5749F5}" srcId="{6E895D1C-B8A6-4B66-8558-BD9C988DA3A9}" destId="{07671914-41D8-48B0-8141-9E54584AD3C5}" srcOrd="0" destOrd="0" parTransId="{8C5AB1D8-F763-460A-A36B-B029132D5524}" sibTransId="{D11F70BE-DD87-423C-9FC4-656E2819EF67}"/>
    <dgm:cxn modelId="{38CBE40F-FD60-4BEF-97EC-0B742245162A}" srcId="{6E895D1C-B8A6-4B66-8558-BD9C988DA3A9}" destId="{034483D0-E641-4D0A-B819-8C1921BE5D05}" srcOrd="8" destOrd="0" parTransId="{1BD65B37-93EE-49E2-83C3-77B4D03A94E1}" sibTransId="{8A2435DA-294E-4C7C-81AC-2D822404B6F4}"/>
    <dgm:cxn modelId="{10C8EB10-8779-4CEE-923A-DFB0B9B77C95}" type="presOf" srcId="{E478B7A1-7864-4341-B71A-B691CE8469AE}" destId="{F971E420-1C83-4ABB-B5A9-7CF23B19DF66}" srcOrd="0" destOrd="0" presId="urn:microsoft.com/office/officeart/2008/layout/LinedList"/>
    <dgm:cxn modelId="{BABB0C11-9BC3-49ED-A6B0-28185522B8F9}" type="presOf" srcId="{9E5C28E8-6029-4C56-A8DA-F26939B0815A}" destId="{DBACDA6A-E267-4A76-BC83-BF6A3955D021}" srcOrd="0" destOrd="0" presId="urn:microsoft.com/office/officeart/2008/layout/LinedList"/>
    <dgm:cxn modelId="{16286016-611B-4E45-BFCA-ECC9891C85E3}" type="presOf" srcId="{932EE3AB-F7BD-4CFE-ACEB-D99812E6DDB8}" destId="{CC8B9A6E-CD0D-4006-89B4-CA62616EF3F0}" srcOrd="0" destOrd="0" presId="urn:microsoft.com/office/officeart/2008/layout/LinedList"/>
    <dgm:cxn modelId="{B5427217-38BF-4960-849A-49B1648B7097}" srcId="{6E895D1C-B8A6-4B66-8558-BD9C988DA3A9}" destId="{C7A6D7F8-FC05-4CA7-9AAF-6982DB66E6E6}" srcOrd="9" destOrd="0" parTransId="{75331356-2C7F-4155-84A4-BF00E9DD9550}" sibTransId="{8870E411-5BB4-4FB9-9FDD-7A1E3BB11656}"/>
    <dgm:cxn modelId="{3167C41F-EADC-4111-9D9D-7AE989D78C0B}" srcId="{6E895D1C-B8A6-4B66-8558-BD9C988DA3A9}" destId="{0A3DE27A-61DA-4D3A-A26B-DC519885D0BC}" srcOrd="2" destOrd="0" parTransId="{94BA2EBB-D02A-4FFD-BAC8-84EB70E4E438}" sibTransId="{9EE9649A-A28C-47CF-A376-B1BA53CFD044}"/>
    <dgm:cxn modelId="{105F5E36-91C3-4057-8854-C8050AF2C60A}" type="presOf" srcId="{6E895D1C-B8A6-4B66-8558-BD9C988DA3A9}" destId="{AB17DD9F-7D47-4BF9-847F-45A742A39AD0}" srcOrd="0" destOrd="0" presId="urn:microsoft.com/office/officeart/2008/layout/LinedList"/>
    <dgm:cxn modelId="{D4239D38-CFC3-4F7E-95AE-5A68187A09EA}" type="presOf" srcId="{034483D0-E641-4D0A-B819-8C1921BE5D05}" destId="{F23EC666-E80A-44CA-B58B-732E7F5EDDDD}" srcOrd="0" destOrd="0" presId="urn:microsoft.com/office/officeart/2008/layout/LinedList"/>
    <dgm:cxn modelId="{D503624D-6F42-4F6C-A8D2-235D3368AC27}" type="presOf" srcId="{71D2BEE5-03C4-47CC-BE01-DE5FA78C6BA1}" destId="{D5CC35FA-3ED2-4EB3-B4C9-B038F4380994}" srcOrd="0" destOrd="0" presId="urn:microsoft.com/office/officeart/2008/layout/LinedList"/>
    <dgm:cxn modelId="{B5966E6E-344C-47C0-B08C-34C99573D693}" type="presOf" srcId="{B8022C87-AFD7-4FFD-BB89-D6A8F08A9C68}" destId="{E552A3AE-612A-43FE-811D-1B9A5B269115}" srcOrd="0" destOrd="0" presId="urn:microsoft.com/office/officeart/2008/layout/LinedList"/>
    <dgm:cxn modelId="{055BAA7C-3654-4BBE-B4F9-48BC9AC5DE22}" srcId="{6E895D1C-B8A6-4B66-8558-BD9C988DA3A9}" destId="{932EE3AB-F7BD-4CFE-ACEB-D99812E6DDB8}" srcOrd="5" destOrd="0" parTransId="{88124E4A-C99C-473C-A3EF-E7FB1DE13D90}" sibTransId="{F63A5F6F-42FC-451A-B2E6-471DE69B5FC1}"/>
    <dgm:cxn modelId="{49398DAE-54A9-40A1-BDCB-F24302FAD999}" type="presOf" srcId="{0A3DE27A-61DA-4D3A-A26B-DC519885D0BC}" destId="{E50929E7-B964-4347-A9F5-4094F8C678B7}" srcOrd="0" destOrd="0" presId="urn:microsoft.com/office/officeart/2008/layout/LinedList"/>
    <dgm:cxn modelId="{DEC9B5AE-5800-41CC-AD82-D592C4FB5710}" srcId="{6E895D1C-B8A6-4B66-8558-BD9C988DA3A9}" destId="{B8022C87-AFD7-4FFD-BB89-D6A8F08A9C68}" srcOrd="4" destOrd="0" parTransId="{58D5B139-E416-4DC0-BFD9-9B7A00544122}" sibTransId="{EEAE9C2D-25F4-48C6-8524-0B0A24DDC00C}"/>
    <dgm:cxn modelId="{E7811EBA-0C86-4BAC-BAB4-00B8821D42D1}" srcId="{6E895D1C-B8A6-4B66-8558-BD9C988DA3A9}" destId="{D2AAC0B2-E1EB-4CBA-A3C6-822D925C2EBE}" srcOrd="1" destOrd="0" parTransId="{4D258C70-778D-4954-B42E-0A0BA1D416A4}" sibTransId="{93493ED2-AD5A-45DD-A9C7-A3667FB37603}"/>
    <dgm:cxn modelId="{DF5942C2-45BE-4B4A-8344-F23C74A03E33}" type="presOf" srcId="{D2AAC0B2-E1EB-4CBA-A3C6-822D925C2EBE}" destId="{EE2AB5DE-DD01-48A6-BABB-48291C5625C2}" srcOrd="0" destOrd="0" presId="urn:microsoft.com/office/officeart/2008/layout/LinedList"/>
    <dgm:cxn modelId="{56B085D0-3D6C-4004-A849-811C037833E8}" srcId="{6E895D1C-B8A6-4B66-8558-BD9C988DA3A9}" destId="{E478B7A1-7864-4341-B71A-B691CE8469AE}" srcOrd="3" destOrd="0" parTransId="{EBA4B4FB-0357-4C70-BE0C-05FB37558E0D}" sibTransId="{D76DC172-2390-4571-A86F-EF8B96F9253E}"/>
    <dgm:cxn modelId="{77AD96D4-248E-4FE4-B530-B1DC48EE0697}" srcId="{6E895D1C-B8A6-4B66-8558-BD9C988DA3A9}" destId="{9E5C28E8-6029-4C56-A8DA-F26939B0815A}" srcOrd="7" destOrd="0" parTransId="{1DC0287D-29E2-486D-978F-E495CD5CC869}" sibTransId="{F8925A45-241C-4649-9AAD-61D41E4F55DE}"/>
    <dgm:cxn modelId="{D3C8EFE2-E2F0-4614-A12B-676D1C304AE4}" srcId="{6E895D1C-B8A6-4B66-8558-BD9C988DA3A9}" destId="{71D2BEE5-03C4-47CC-BE01-DE5FA78C6BA1}" srcOrd="6" destOrd="0" parTransId="{5B0B6041-8F9E-4C6E-B3B7-C462BF526B79}" sibTransId="{0082A6DA-9282-40EA-BD19-4280876C895C}"/>
    <dgm:cxn modelId="{E50143F4-7996-436D-877C-1DB8CCF221F3}" type="presOf" srcId="{07671914-41D8-48B0-8141-9E54584AD3C5}" destId="{E33DC56E-0FE2-4D02-94E9-324D670F301C}" srcOrd="0" destOrd="0" presId="urn:microsoft.com/office/officeart/2008/layout/LinedList"/>
    <dgm:cxn modelId="{A220BFF5-7212-4852-8777-21B2E2895A88}" type="presOf" srcId="{C7A6D7F8-FC05-4CA7-9AAF-6982DB66E6E6}" destId="{42E04DE9-1F56-4C97-B494-3E7E0B35A12E}" srcOrd="0" destOrd="0" presId="urn:microsoft.com/office/officeart/2008/layout/LinedList"/>
    <dgm:cxn modelId="{C3EBD442-4631-4036-9B12-DC43EC230ABB}" type="presParOf" srcId="{AB17DD9F-7D47-4BF9-847F-45A742A39AD0}" destId="{F500F685-BDE4-486B-9449-74641EB377F0}" srcOrd="0" destOrd="0" presId="urn:microsoft.com/office/officeart/2008/layout/LinedList"/>
    <dgm:cxn modelId="{8188FE63-CED9-41FB-B8A2-13A1B3DD519D}" type="presParOf" srcId="{AB17DD9F-7D47-4BF9-847F-45A742A39AD0}" destId="{FDD004EF-D461-4797-8BD6-48B1B088B43E}" srcOrd="1" destOrd="0" presId="urn:microsoft.com/office/officeart/2008/layout/LinedList"/>
    <dgm:cxn modelId="{39DE483A-3CD9-4940-98B5-EBE656FC7DDF}" type="presParOf" srcId="{FDD004EF-D461-4797-8BD6-48B1B088B43E}" destId="{E33DC56E-0FE2-4D02-94E9-324D670F301C}" srcOrd="0" destOrd="0" presId="urn:microsoft.com/office/officeart/2008/layout/LinedList"/>
    <dgm:cxn modelId="{01C88EC2-0202-4D1C-AC1B-8D071C4D9ECC}" type="presParOf" srcId="{FDD004EF-D461-4797-8BD6-48B1B088B43E}" destId="{92DA5E9C-7799-4EB6-AFA0-549D3650E491}" srcOrd="1" destOrd="0" presId="urn:microsoft.com/office/officeart/2008/layout/LinedList"/>
    <dgm:cxn modelId="{0F26FF72-1113-421C-9EAF-4E439626FF4A}" type="presParOf" srcId="{AB17DD9F-7D47-4BF9-847F-45A742A39AD0}" destId="{FEDD9E3E-8E6C-47C9-9DD2-95FD146420DD}" srcOrd="2" destOrd="0" presId="urn:microsoft.com/office/officeart/2008/layout/LinedList"/>
    <dgm:cxn modelId="{3E7E9FB0-D70C-478B-80C6-F0DC9C8CCCCB}" type="presParOf" srcId="{AB17DD9F-7D47-4BF9-847F-45A742A39AD0}" destId="{D207D4F0-799C-40DB-9AEE-91B4C0915E8B}" srcOrd="3" destOrd="0" presId="urn:microsoft.com/office/officeart/2008/layout/LinedList"/>
    <dgm:cxn modelId="{94D0D0CD-9BB9-42F9-A010-B50F53DEBBF1}" type="presParOf" srcId="{D207D4F0-799C-40DB-9AEE-91B4C0915E8B}" destId="{EE2AB5DE-DD01-48A6-BABB-48291C5625C2}" srcOrd="0" destOrd="0" presId="urn:microsoft.com/office/officeart/2008/layout/LinedList"/>
    <dgm:cxn modelId="{D66BEF55-5F86-4388-B5AF-7A9DB44D42B8}" type="presParOf" srcId="{D207D4F0-799C-40DB-9AEE-91B4C0915E8B}" destId="{4CCE9076-8BF5-4C71-983F-5FE7989BC0CC}" srcOrd="1" destOrd="0" presId="urn:microsoft.com/office/officeart/2008/layout/LinedList"/>
    <dgm:cxn modelId="{04260DB4-5080-4C46-8A39-3152C192B8DC}" type="presParOf" srcId="{AB17DD9F-7D47-4BF9-847F-45A742A39AD0}" destId="{C31CEF42-DCCC-4F0E-81F0-0E350A498C69}" srcOrd="4" destOrd="0" presId="urn:microsoft.com/office/officeart/2008/layout/LinedList"/>
    <dgm:cxn modelId="{025D888C-ED36-4EA3-B7AD-AB5CDABF639A}" type="presParOf" srcId="{AB17DD9F-7D47-4BF9-847F-45A742A39AD0}" destId="{2A2837B2-04FD-4AF6-A5C3-BDCD7FF54852}" srcOrd="5" destOrd="0" presId="urn:microsoft.com/office/officeart/2008/layout/LinedList"/>
    <dgm:cxn modelId="{9C50858D-AA06-489D-9859-1BA000FC2E51}" type="presParOf" srcId="{2A2837B2-04FD-4AF6-A5C3-BDCD7FF54852}" destId="{E50929E7-B964-4347-A9F5-4094F8C678B7}" srcOrd="0" destOrd="0" presId="urn:microsoft.com/office/officeart/2008/layout/LinedList"/>
    <dgm:cxn modelId="{58C6DCD1-872E-4859-B720-78D3C9A3DE3C}" type="presParOf" srcId="{2A2837B2-04FD-4AF6-A5C3-BDCD7FF54852}" destId="{5FC11DD4-0078-41EE-9D7F-BA30975FBAE0}" srcOrd="1" destOrd="0" presId="urn:microsoft.com/office/officeart/2008/layout/LinedList"/>
    <dgm:cxn modelId="{028187A5-765D-48FE-A142-461CB6D16A9B}" type="presParOf" srcId="{AB17DD9F-7D47-4BF9-847F-45A742A39AD0}" destId="{A55C106B-D013-4C5B-A414-B7430EB3D065}" srcOrd="6" destOrd="0" presId="urn:microsoft.com/office/officeart/2008/layout/LinedList"/>
    <dgm:cxn modelId="{D6B4332E-47E8-4786-8FE8-D0CF961D066E}" type="presParOf" srcId="{AB17DD9F-7D47-4BF9-847F-45A742A39AD0}" destId="{FE66B5AC-F4B0-45DE-9416-71548EC2378A}" srcOrd="7" destOrd="0" presId="urn:microsoft.com/office/officeart/2008/layout/LinedList"/>
    <dgm:cxn modelId="{DB08AA35-DE9D-44D4-B2CA-F5428FBD4AA3}" type="presParOf" srcId="{FE66B5AC-F4B0-45DE-9416-71548EC2378A}" destId="{F971E420-1C83-4ABB-B5A9-7CF23B19DF66}" srcOrd="0" destOrd="0" presId="urn:microsoft.com/office/officeart/2008/layout/LinedList"/>
    <dgm:cxn modelId="{83765CF9-B271-4FA9-BCDE-C72563502B97}" type="presParOf" srcId="{FE66B5AC-F4B0-45DE-9416-71548EC2378A}" destId="{0973664E-E7A6-44B7-92EB-46BCB2D3071E}" srcOrd="1" destOrd="0" presId="urn:microsoft.com/office/officeart/2008/layout/LinedList"/>
    <dgm:cxn modelId="{F05CB5BF-3599-4485-A281-F19A57C62B95}" type="presParOf" srcId="{AB17DD9F-7D47-4BF9-847F-45A742A39AD0}" destId="{28437814-74FF-4C28-8468-C7A165927879}" srcOrd="8" destOrd="0" presId="urn:microsoft.com/office/officeart/2008/layout/LinedList"/>
    <dgm:cxn modelId="{46D55F4A-8640-4DD6-A891-9C8EE2BDACFB}" type="presParOf" srcId="{AB17DD9F-7D47-4BF9-847F-45A742A39AD0}" destId="{DBDC95DE-CAAA-45C1-AAF7-84EF45F10858}" srcOrd="9" destOrd="0" presId="urn:microsoft.com/office/officeart/2008/layout/LinedList"/>
    <dgm:cxn modelId="{3C5A4B95-8118-4E83-8D2F-F059314742BC}" type="presParOf" srcId="{DBDC95DE-CAAA-45C1-AAF7-84EF45F10858}" destId="{E552A3AE-612A-43FE-811D-1B9A5B269115}" srcOrd="0" destOrd="0" presId="urn:microsoft.com/office/officeart/2008/layout/LinedList"/>
    <dgm:cxn modelId="{D95970F6-FC87-4F6E-8C88-DBA5FDB1AB61}" type="presParOf" srcId="{DBDC95DE-CAAA-45C1-AAF7-84EF45F10858}" destId="{357A9185-B018-45B5-A96D-B1BA601F28E1}" srcOrd="1" destOrd="0" presId="urn:microsoft.com/office/officeart/2008/layout/LinedList"/>
    <dgm:cxn modelId="{2E9F35EC-2C8F-4F0A-B930-EEA44A3C6A6B}" type="presParOf" srcId="{AB17DD9F-7D47-4BF9-847F-45A742A39AD0}" destId="{49AFA53E-BC15-4145-8194-F9245F939C92}" srcOrd="10" destOrd="0" presId="urn:microsoft.com/office/officeart/2008/layout/LinedList"/>
    <dgm:cxn modelId="{9D01AB78-FD4E-4C7E-86B1-4F4ED39A9F02}" type="presParOf" srcId="{AB17DD9F-7D47-4BF9-847F-45A742A39AD0}" destId="{2FFF1175-1C9A-4625-B8FB-1252CA924112}" srcOrd="11" destOrd="0" presId="urn:microsoft.com/office/officeart/2008/layout/LinedList"/>
    <dgm:cxn modelId="{22F75C08-0316-4A79-ACDC-317F2A59D6DB}" type="presParOf" srcId="{2FFF1175-1C9A-4625-B8FB-1252CA924112}" destId="{CC8B9A6E-CD0D-4006-89B4-CA62616EF3F0}" srcOrd="0" destOrd="0" presId="urn:microsoft.com/office/officeart/2008/layout/LinedList"/>
    <dgm:cxn modelId="{330E3970-C261-4B6E-A3F2-08F314CFDFCE}" type="presParOf" srcId="{2FFF1175-1C9A-4625-B8FB-1252CA924112}" destId="{ECD48F2A-FCDE-49BC-972D-DDD86E04362D}" srcOrd="1" destOrd="0" presId="urn:microsoft.com/office/officeart/2008/layout/LinedList"/>
    <dgm:cxn modelId="{C77ED25E-1BC4-41A5-8256-AFECC8641F6A}" type="presParOf" srcId="{AB17DD9F-7D47-4BF9-847F-45A742A39AD0}" destId="{02EAEF10-B471-4E49-B34D-2F75A0517025}" srcOrd="12" destOrd="0" presId="urn:microsoft.com/office/officeart/2008/layout/LinedList"/>
    <dgm:cxn modelId="{BD2E955E-D9DD-46B3-8353-807DC8143CF3}" type="presParOf" srcId="{AB17DD9F-7D47-4BF9-847F-45A742A39AD0}" destId="{60510592-47A1-4C14-B001-2B016E2224BC}" srcOrd="13" destOrd="0" presId="urn:microsoft.com/office/officeart/2008/layout/LinedList"/>
    <dgm:cxn modelId="{CAE7F418-796A-4658-8413-AB4F7AE30C2C}" type="presParOf" srcId="{60510592-47A1-4C14-B001-2B016E2224BC}" destId="{D5CC35FA-3ED2-4EB3-B4C9-B038F4380994}" srcOrd="0" destOrd="0" presId="urn:microsoft.com/office/officeart/2008/layout/LinedList"/>
    <dgm:cxn modelId="{F177F77C-D6E8-4778-A2F2-598812BEE4E1}" type="presParOf" srcId="{60510592-47A1-4C14-B001-2B016E2224BC}" destId="{5FD2D708-A753-4B92-AAA9-9C405D2672B8}" srcOrd="1" destOrd="0" presId="urn:microsoft.com/office/officeart/2008/layout/LinedList"/>
    <dgm:cxn modelId="{2043C458-D28E-4CD4-BC68-EBDF34A42F0F}" type="presParOf" srcId="{AB17DD9F-7D47-4BF9-847F-45A742A39AD0}" destId="{72802289-DF0B-4EE7-9034-554B1DC5C999}" srcOrd="14" destOrd="0" presId="urn:microsoft.com/office/officeart/2008/layout/LinedList"/>
    <dgm:cxn modelId="{3BDB2332-1BF6-45B6-A728-C18159738E52}" type="presParOf" srcId="{AB17DD9F-7D47-4BF9-847F-45A742A39AD0}" destId="{8888908C-791D-43FA-869C-5122D4ED252C}" srcOrd="15" destOrd="0" presId="urn:microsoft.com/office/officeart/2008/layout/LinedList"/>
    <dgm:cxn modelId="{FB9CD8CC-BEAA-4C6C-BC6C-F36C25EB9C67}" type="presParOf" srcId="{8888908C-791D-43FA-869C-5122D4ED252C}" destId="{DBACDA6A-E267-4A76-BC83-BF6A3955D021}" srcOrd="0" destOrd="0" presId="urn:microsoft.com/office/officeart/2008/layout/LinedList"/>
    <dgm:cxn modelId="{4E922D08-929E-4014-9CF5-B6E20582ED35}" type="presParOf" srcId="{8888908C-791D-43FA-869C-5122D4ED252C}" destId="{7440C43E-B34F-4949-B9B9-0836286BEE5B}" srcOrd="1" destOrd="0" presId="urn:microsoft.com/office/officeart/2008/layout/LinedList"/>
    <dgm:cxn modelId="{CAEC9F07-02D8-4114-8EF1-365074D36D5F}" type="presParOf" srcId="{AB17DD9F-7D47-4BF9-847F-45A742A39AD0}" destId="{891A501D-1171-4F4E-B87E-F411F7BDC9F0}" srcOrd="16" destOrd="0" presId="urn:microsoft.com/office/officeart/2008/layout/LinedList"/>
    <dgm:cxn modelId="{8AA04AB8-2B25-4424-B999-9AECA11614BA}" type="presParOf" srcId="{AB17DD9F-7D47-4BF9-847F-45A742A39AD0}" destId="{8B0FEE33-2CBD-468D-B86B-0C118BE75C4E}" srcOrd="17" destOrd="0" presId="urn:microsoft.com/office/officeart/2008/layout/LinedList"/>
    <dgm:cxn modelId="{4F290F7D-CD3E-42D9-AC32-44EC3367D9A9}" type="presParOf" srcId="{8B0FEE33-2CBD-468D-B86B-0C118BE75C4E}" destId="{F23EC666-E80A-44CA-B58B-732E7F5EDDDD}" srcOrd="0" destOrd="0" presId="urn:microsoft.com/office/officeart/2008/layout/LinedList"/>
    <dgm:cxn modelId="{BAE33462-4C68-4677-A1F9-C40AEEA6F7C1}" type="presParOf" srcId="{8B0FEE33-2CBD-468D-B86B-0C118BE75C4E}" destId="{B079B9BF-D90C-4E0C-BE06-AA9FA266D4AC}" srcOrd="1" destOrd="0" presId="urn:microsoft.com/office/officeart/2008/layout/LinedList"/>
    <dgm:cxn modelId="{C73FB692-375E-455D-8B6D-2EEFB2F384CE}" type="presParOf" srcId="{AB17DD9F-7D47-4BF9-847F-45A742A39AD0}" destId="{232D6E1C-8EF8-4ABC-ABE3-01DF738C7132}" srcOrd="18" destOrd="0" presId="urn:microsoft.com/office/officeart/2008/layout/LinedList"/>
    <dgm:cxn modelId="{D71CE719-91F6-4BEF-9009-2D3CD7E5BFCA}" type="presParOf" srcId="{AB17DD9F-7D47-4BF9-847F-45A742A39AD0}" destId="{D9D31B40-604A-4C4F-82EF-6F52CCD92A79}" srcOrd="19" destOrd="0" presId="urn:microsoft.com/office/officeart/2008/layout/LinedList"/>
    <dgm:cxn modelId="{ED4215BA-F25E-40D1-92CF-001E208E64B9}" type="presParOf" srcId="{D9D31B40-604A-4C4F-82EF-6F52CCD92A79}" destId="{42E04DE9-1F56-4C97-B494-3E7E0B35A12E}" srcOrd="0" destOrd="0" presId="urn:microsoft.com/office/officeart/2008/layout/LinedList"/>
    <dgm:cxn modelId="{C9C7CDF9-C747-4004-8F0F-2B74BB7C6970}" type="presParOf" srcId="{D9D31B40-604A-4C4F-82EF-6F52CCD92A79}" destId="{CC74FB54-A607-441D-A337-7BA07CA17C7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6477A3E-C9DE-433E-B8DE-A43BBBC4CFFE}"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48C848F2-D41A-4A41-B94C-8549399D548A}">
      <dgm:prSet/>
      <dgm:spPr/>
      <dgm:t>
        <a:bodyPr/>
        <a:lstStyle/>
        <a:p>
          <a:pPr>
            <a:lnSpc>
              <a:spcPct val="100000"/>
            </a:lnSpc>
          </a:pPr>
          <a:r>
            <a:rPr lang="en-IN">
              <a:latin typeface="Calibri"/>
              <a:cs typeface="Calibri"/>
            </a:rPr>
            <a:t>Thematic Analysis: Thematic analysis will be conducted on the qualitative data collected from the in-person interviews, online surveys, focus groups, and observations. This will involve coding the data into themes and patterns related to the barriers to employment</a:t>
          </a:r>
          <a:endParaRPr lang="en-US"/>
        </a:p>
      </dgm:t>
    </dgm:pt>
    <dgm:pt modelId="{9954E72F-617F-41F7-B099-77F6EBE0B561}" type="parTrans" cxnId="{64348D34-B1C9-4A25-8304-E9CC4A576C84}">
      <dgm:prSet/>
      <dgm:spPr/>
      <dgm:t>
        <a:bodyPr/>
        <a:lstStyle/>
        <a:p>
          <a:endParaRPr lang="en-US"/>
        </a:p>
      </dgm:t>
    </dgm:pt>
    <dgm:pt modelId="{DF380338-E7BF-454A-AE31-CAA272E7B214}" type="sibTrans" cxnId="{64348D34-B1C9-4A25-8304-E9CC4A576C84}">
      <dgm:prSet/>
      <dgm:spPr/>
      <dgm:t>
        <a:bodyPr/>
        <a:lstStyle/>
        <a:p>
          <a:endParaRPr lang="en-US"/>
        </a:p>
      </dgm:t>
    </dgm:pt>
    <dgm:pt modelId="{BAE39AE5-621A-47A2-AE73-20F1F2B52E3C}">
      <dgm:prSet phldr="0"/>
      <dgm:spPr/>
      <dgm:t>
        <a:bodyPr/>
        <a:lstStyle/>
        <a:p>
          <a:pPr>
            <a:lnSpc>
              <a:spcPct val="100000"/>
            </a:lnSpc>
          </a:pPr>
          <a:r>
            <a:rPr lang="en-IN">
              <a:latin typeface="Calibri"/>
              <a:cs typeface="Calibri"/>
            </a:rPr>
            <a:t>Descriptive Statistics: Descriptive statistics will be used to summarize the demographic characteristics of the sample and to describe the experiences and perspectives of the women on the barriers to employment. This will include measures of central tendency (mean, median, mode) and dispersion (standard deviation) for demographic variables and frequencies for categorical variables related to barriers to employment.</a:t>
          </a:r>
          <a:endParaRPr lang="en-US"/>
        </a:p>
      </dgm:t>
    </dgm:pt>
    <dgm:pt modelId="{4FCEA6EB-1B3A-436C-A655-284F9331F308}" type="parTrans" cxnId="{B9AAD35A-0068-4BD2-AA48-CADBCBEFABC9}">
      <dgm:prSet/>
      <dgm:spPr/>
    </dgm:pt>
    <dgm:pt modelId="{A80BA172-290B-4527-9B10-9D929779DFE1}" type="sibTrans" cxnId="{B9AAD35A-0068-4BD2-AA48-CADBCBEFABC9}">
      <dgm:prSet/>
      <dgm:spPr/>
      <dgm:t>
        <a:bodyPr/>
        <a:lstStyle/>
        <a:p>
          <a:endParaRPr lang="en-US"/>
        </a:p>
      </dgm:t>
    </dgm:pt>
    <dgm:pt modelId="{8188E4D5-2904-4C4D-B7E5-427765999E30}">
      <dgm:prSet phldr="0"/>
      <dgm:spPr/>
      <dgm:t>
        <a:bodyPr/>
        <a:lstStyle/>
        <a:p>
          <a:pPr>
            <a:lnSpc>
              <a:spcPct val="100000"/>
            </a:lnSpc>
          </a:pPr>
          <a:r>
            <a:rPr lang="en-IN">
              <a:latin typeface="Calibri"/>
              <a:cs typeface="Calibri"/>
            </a:rPr>
            <a:t>Inferential Statistics: Inferential statistics will be used to test hypotheses about the relationships between variables. For example, a t-test may be used to compare the mean education level of employed women to the mean education level of unemployed women. A chi-squared test may be used to examine the association between access to transportation and employment status</a:t>
          </a:r>
          <a:endParaRPr lang="en-US"/>
        </a:p>
      </dgm:t>
    </dgm:pt>
    <dgm:pt modelId="{19E7CF07-473C-4770-9C83-FD3890EB425F}" type="parTrans" cxnId="{13E88BC1-DBDA-4B02-AB93-585F43C6D20C}">
      <dgm:prSet/>
      <dgm:spPr/>
    </dgm:pt>
    <dgm:pt modelId="{F468899D-1A2F-4562-B76C-FAAB9C09FC42}" type="sibTrans" cxnId="{13E88BC1-DBDA-4B02-AB93-585F43C6D20C}">
      <dgm:prSet/>
      <dgm:spPr/>
      <dgm:t>
        <a:bodyPr/>
        <a:lstStyle/>
        <a:p>
          <a:endParaRPr lang="en-US"/>
        </a:p>
      </dgm:t>
    </dgm:pt>
    <dgm:pt modelId="{73219315-7957-48B2-8A8D-EB7CF9C1830B}">
      <dgm:prSet phldr="0"/>
      <dgm:spPr/>
      <dgm:t>
        <a:bodyPr/>
        <a:lstStyle/>
        <a:p>
          <a:pPr>
            <a:lnSpc>
              <a:spcPct val="100000"/>
            </a:lnSpc>
          </a:pPr>
          <a:r>
            <a:rPr lang="en-IN"/>
            <a:t>Content Analysis: Content analysis will be conducted on secondary data sources to identify trends and patterns related to the barriers to employment in rural India.</a:t>
          </a:r>
          <a:endParaRPr lang="en-US"/>
        </a:p>
      </dgm:t>
    </dgm:pt>
    <dgm:pt modelId="{BC4823BC-C2DF-401C-9158-E613D54FAD4A}" type="parTrans" cxnId="{5F6AB223-1C92-4CCF-AB75-9BB5E3685336}">
      <dgm:prSet/>
      <dgm:spPr/>
    </dgm:pt>
    <dgm:pt modelId="{8C113CAC-5DED-41F0-9EF6-E90E862DAC0C}" type="sibTrans" cxnId="{5F6AB223-1C92-4CCF-AB75-9BB5E3685336}">
      <dgm:prSet/>
      <dgm:spPr/>
      <dgm:t>
        <a:bodyPr/>
        <a:lstStyle/>
        <a:p>
          <a:endParaRPr lang="en-US"/>
        </a:p>
      </dgm:t>
    </dgm:pt>
    <dgm:pt modelId="{D5444E1C-D2EE-475E-B25C-3B75E6B59FC5}">
      <dgm:prSet phldr="0"/>
      <dgm:spPr/>
      <dgm:t>
        <a:bodyPr/>
        <a:lstStyle/>
        <a:p>
          <a:pPr>
            <a:lnSpc>
              <a:spcPct val="100000"/>
            </a:lnSpc>
          </a:pPr>
          <a:r>
            <a:rPr lang="en-IN"/>
            <a:t>Triangulation: The data collected from multiple sources and methods will be triangulated to increase the validity and reliability of the findings. For example, findings from the in-person interviews will be compared to the findings from the online surveys to ensure that the results are consistent</a:t>
          </a:r>
          <a:endParaRPr lang="en-US"/>
        </a:p>
      </dgm:t>
    </dgm:pt>
    <dgm:pt modelId="{B49AEF51-2521-4D78-B59A-DB89ED15530C}" type="parTrans" cxnId="{2E7E425E-6FA7-4E4F-B478-9ECD1231B03C}">
      <dgm:prSet/>
      <dgm:spPr/>
    </dgm:pt>
    <dgm:pt modelId="{8ACCCEB1-26E0-449C-9A1F-F6FD2B221895}" type="sibTrans" cxnId="{2E7E425E-6FA7-4E4F-B478-9ECD1231B03C}">
      <dgm:prSet/>
      <dgm:spPr/>
      <dgm:t>
        <a:bodyPr/>
        <a:lstStyle/>
        <a:p>
          <a:endParaRPr lang="en-US"/>
        </a:p>
      </dgm:t>
    </dgm:pt>
    <dgm:pt modelId="{7624412A-AEA9-407B-A4F5-C31E7BEEF556}" type="pres">
      <dgm:prSet presAssocID="{A6477A3E-C9DE-433E-B8DE-A43BBBC4CFFE}" presName="linear" presStyleCnt="0">
        <dgm:presLayoutVars>
          <dgm:animLvl val="lvl"/>
          <dgm:resizeHandles val="exact"/>
        </dgm:presLayoutVars>
      </dgm:prSet>
      <dgm:spPr/>
    </dgm:pt>
    <dgm:pt modelId="{23D45827-D5F8-4486-983C-CBB4BDC65180}" type="pres">
      <dgm:prSet presAssocID="{BAE39AE5-621A-47A2-AE73-20F1F2B52E3C}" presName="parentText" presStyleLbl="node1" presStyleIdx="0" presStyleCnt="5">
        <dgm:presLayoutVars>
          <dgm:chMax val="0"/>
          <dgm:bulletEnabled val="1"/>
        </dgm:presLayoutVars>
      </dgm:prSet>
      <dgm:spPr/>
    </dgm:pt>
    <dgm:pt modelId="{CF01EE13-9487-4308-B4C5-61C79C0F3CC6}" type="pres">
      <dgm:prSet presAssocID="{A80BA172-290B-4527-9B10-9D929779DFE1}" presName="spacer" presStyleCnt="0"/>
      <dgm:spPr/>
    </dgm:pt>
    <dgm:pt modelId="{B057879B-AF3D-4B33-BB0F-79B88D140164}" type="pres">
      <dgm:prSet presAssocID="{8188E4D5-2904-4C4D-B7E5-427765999E30}" presName="parentText" presStyleLbl="node1" presStyleIdx="1" presStyleCnt="5">
        <dgm:presLayoutVars>
          <dgm:chMax val="0"/>
          <dgm:bulletEnabled val="1"/>
        </dgm:presLayoutVars>
      </dgm:prSet>
      <dgm:spPr/>
    </dgm:pt>
    <dgm:pt modelId="{4B437B38-4CFF-4EF6-BD58-D1CFAB07173F}" type="pres">
      <dgm:prSet presAssocID="{F468899D-1A2F-4562-B76C-FAAB9C09FC42}" presName="spacer" presStyleCnt="0"/>
      <dgm:spPr/>
    </dgm:pt>
    <dgm:pt modelId="{F256CE3B-1DF8-450B-91DE-8DE901B34A80}" type="pres">
      <dgm:prSet presAssocID="{48C848F2-D41A-4A41-B94C-8549399D548A}" presName="parentText" presStyleLbl="node1" presStyleIdx="2" presStyleCnt="5">
        <dgm:presLayoutVars>
          <dgm:chMax val="0"/>
          <dgm:bulletEnabled val="1"/>
        </dgm:presLayoutVars>
      </dgm:prSet>
      <dgm:spPr/>
    </dgm:pt>
    <dgm:pt modelId="{E88A606C-BCEF-4122-AC89-BEA0567F1B23}" type="pres">
      <dgm:prSet presAssocID="{DF380338-E7BF-454A-AE31-CAA272E7B214}" presName="spacer" presStyleCnt="0"/>
      <dgm:spPr/>
    </dgm:pt>
    <dgm:pt modelId="{69A3BD40-E5E1-4FEF-83BC-6C0C46B64DD6}" type="pres">
      <dgm:prSet presAssocID="{73219315-7957-48B2-8A8D-EB7CF9C1830B}" presName="parentText" presStyleLbl="node1" presStyleIdx="3" presStyleCnt="5">
        <dgm:presLayoutVars>
          <dgm:chMax val="0"/>
          <dgm:bulletEnabled val="1"/>
        </dgm:presLayoutVars>
      </dgm:prSet>
      <dgm:spPr/>
    </dgm:pt>
    <dgm:pt modelId="{D5B02E42-C0FB-45D7-AB56-F340ECF1E2A1}" type="pres">
      <dgm:prSet presAssocID="{8C113CAC-5DED-41F0-9EF6-E90E862DAC0C}" presName="spacer" presStyleCnt="0"/>
      <dgm:spPr/>
    </dgm:pt>
    <dgm:pt modelId="{4D187FA6-E62B-440E-89AB-761B9A0F52A6}" type="pres">
      <dgm:prSet presAssocID="{D5444E1C-D2EE-475E-B25C-3B75E6B59FC5}" presName="parentText" presStyleLbl="node1" presStyleIdx="4" presStyleCnt="5">
        <dgm:presLayoutVars>
          <dgm:chMax val="0"/>
          <dgm:bulletEnabled val="1"/>
        </dgm:presLayoutVars>
      </dgm:prSet>
      <dgm:spPr/>
    </dgm:pt>
  </dgm:ptLst>
  <dgm:cxnLst>
    <dgm:cxn modelId="{DC6D0213-F0AA-4EDC-960B-0E1A09C018A6}" type="presOf" srcId="{8188E4D5-2904-4C4D-B7E5-427765999E30}" destId="{B057879B-AF3D-4B33-BB0F-79B88D140164}" srcOrd="0" destOrd="0" presId="urn:microsoft.com/office/officeart/2005/8/layout/vList2"/>
    <dgm:cxn modelId="{B320B51C-4EC7-4D47-B188-CE62F3719F23}" type="presOf" srcId="{73219315-7957-48B2-8A8D-EB7CF9C1830B}" destId="{69A3BD40-E5E1-4FEF-83BC-6C0C46B64DD6}" srcOrd="0" destOrd="0" presId="urn:microsoft.com/office/officeart/2005/8/layout/vList2"/>
    <dgm:cxn modelId="{5F6AB223-1C92-4CCF-AB75-9BB5E3685336}" srcId="{A6477A3E-C9DE-433E-B8DE-A43BBBC4CFFE}" destId="{73219315-7957-48B2-8A8D-EB7CF9C1830B}" srcOrd="3" destOrd="0" parTransId="{BC4823BC-C2DF-401C-9158-E613D54FAD4A}" sibTransId="{8C113CAC-5DED-41F0-9EF6-E90E862DAC0C}"/>
    <dgm:cxn modelId="{64348D34-B1C9-4A25-8304-E9CC4A576C84}" srcId="{A6477A3E-C9DE-433E-B8DE-A43BBBC4CFFE}" destId="{48C848F2-D41A-4A41-B94C-8549399D548A}" srcOrd="2" destOrd="0" parTransId="{9954E72F-617F-41F7-B099-77F6EBE0B561}" sibTransId="{DF380338-E7BF-454A-AE31-CAA272E7B214}"/>
    <dgm:cxn modelId="{0854F837-8446-4EF1-9886-E8148127E2A7}" type="presOf" srcId="{A6477A3E-C9DE-433E-B8DE-A43BBBC4CFFE}" destId="{7624412A-AEA9-407B-A4F5-C31E7BEEF556}" srcOrd="0" destOrd="0" presId="urn:microsoft.com/office/officeart/2005/8/layout/vList2"/>
    <dgm:cxn modelId="{2E7E425E-6FA7-4E4F-B478-9ECD1231B03C}" srcId="{A6477A3E-C9DE-433E-B8DE-A43BBBC4CFFE}" destId="{D5444E1C-D2EE-475E-B25C-3B75E6B59FC5}" srcOrd="4" destOrd="0" parTransId="{B49AEF51-2521-4D78-B59A-DB89ED15530C}" sibTransId="{8ACCCEB1-26E0-449C-9A1F-F6FD2B221895}"/>
    <dgm:cxn modelId="{10A53769-F892-4C72-B963-4B9E8369AA7B}" type="presOf" srcId="{D5444E1C-D2EE-475E-B25C-3B75E6B59FC5}" destId="{4D187FA6-E62B-440E-89AB-761B9A0F52A6}" srcOrd="0" destOrd="0" presId="urn:microsoft.com/office/officeart/2005/8/layout/vList2"/>
    <dgm:cxn modelId="{D6443E72-33F0-4CEB-93A3-3E356623BA48}" type="presOf" srcId="{48C848F2-D41A-4A41-B94C-8549399D548A}" destId="{F256CE3B-1DF8-450B-91DE-8DE901B34A80}" srcOrd="0" destOrd="0" presId="urn:microsoft.com/office/officeart/2005/8/layout/vList2"/>
    <dgm:cxn modelId="{B9AAD35A-0068-4BD2-AA48-CADBCBEFABC9}" srcId="{A6477A3E-C9DE-433E-B8DE-A43BBBC4CFFE}" destId="{BAE39AE5-621A-47A2-AE73-20F1F2B52E3C}" srcOrd="0" destOrd="0" parTransId="{4FCEA6EB-1B3A-436C-A655-284F9331F308}" sibTransId="{A80BA172-290B-4527-9B10-9D929779DFE1}"/>
    <dgm:cxn modelId="{4144F0B6-07BE-4A41-A592-A8083B5C2396}" type="presOf" srcId="{BAE39AE5-621A-47A2-AE73-20F1F2B52E3C}" destId="{23D45827-D5F8-4486-983C-CBB4BDC65180}" srcOrd="0" destOrd="0" presId="urn:microsoft.com/office/officeart/2005/8/layout/vList2"/>
    <dgm:cxn modelId="{13E88BC1-DBDA-4B02-AB93-585F43C6D20C}" srcId="{A6477A3E-C9DE-433E-B8DE-A43BBBC4CFFE}" destId="{8188E4D5-2904-4C4D-B7E5-427765999E30}" srcOrd="1" destOrd="0" parTransId="{19E7CF07-473C-4770-9C83-FD3890EB425F}" sibTransId="{F468899D-1A2F-4562-B76C-FAAB9C09FC42}"/>
    <dgm:cxn modelId="{B1067AC2-47CC-471D-A2B4-76DF6A00995D}" type="presParOf" srcId="{7624412A-AEA9-407B-A4F5-C31E7BEEF556}" destId="{23D45827-D5F8-4486-983C-CBB4BDC65180}" srcOrd="0" destOrd="0" presId="urn:microsoft.com/office/officeart/2005/8/layout/vList2"/>
    <dgm:cxn modelId="{11115AED-4540-4CBA-8FED-CB8EFBB5D25D}" type="presParOf" srcId="{7624412A-AEA9-407B-A4F5-C31E7BEEF556}" destId="{CF01EE13-9487-4308-B4C5-61C79C0F3CC6}" srcOrd="1" destOrd="0" presId="urn:microsoft.com/office/officeart/2005/8/layout/vList2"/>
    <dgm:cxn modelId="{4B706486-A395-44B6-ACB7-D2881968ED6C}" type="presParOf" srcId="{7624412A-AEA9-407B-A4F5-C31E7BEEF556}" destId="{B057879B-AF3D-4B33-BB0F-79B88D140164}" srcOrd="2" destOrd="0" presId="urn:microsoft.com/office/officeart/2005/8/layout/vList2"/>
    <dgm:cxn modelId="{371F2CC9-AC2A-492C-AC0B-B7ADD4C390C0}" type="presParOf" srcId="{7624412A-AEA9-407B-A4F5-C31E7BEEF556}" destId="{4B437B38-4CFF-4EF6-BD58-D1CFAB07173F}" srcOrd="3" destOrd="0" presId="urn:microsoft.com/office/officeart/2005/8/layout/vList2"/>
    <dgm:cxn modelId="{F9A6988A-7C3D-484E-89B8-C75D683C9B06}" type="presParOf" srcId="{7624412A-AEA9-407B-A4F5-C31E7BEEF556}" destId="{F256CE3B-1DF8-450B-91DE-8DE901B34A80}" srcOrd="4" destOrd="0" presId="urn:microsoft.com/office/officeart/2005/8/layout/vList2"/>
    <dgm:cxn modelId="{54C94427-3513-4185-8B94-621F0ECC4703}" type="presParOf" srcId="{7624412A-AEA9-407B-A4F5-C31E7BEEF556}" destId="{E88A606C-BCEF-4122-AC89-BEA0567F1B23}" srcOrd="5" destOrd="0" presId="urn:microsoft.com/office/officeart/2005/8/layout/vList2"/>
    <dgm:cxn modelId="{DD7E7D5E-B3F2-4D04-9A21-7FAFFC55653D}" type="presParOf" srcId="{7624412A-AEA9-407B-A4F5-C31E7BEEF556}" destId="{69A3BD40-E5E1-4FEF-83BC-6C0C46B64DD6}" srcOrd="6" destOrd="0" presId="urn:microsoft.com/office/officeart/2005/8/layout/vList2"/>
    <dgm:cxn modelId="{93D43D84-3052-4BF8-B253-254E382977C2}" type="presParOf" srcId="{7624412A-AEA9-407B-A4F5-C31E7BEEF556}" destId="{D5B02E42-C0FB-45D7-AB56-F340ECF1E2A1}" srcOrd="7" destOrd="0" presId="urn:microsoft.com/office/officeart/2005/8/layout/vList2"/>
    <dgm:cxn modelId="{F02F5F1C-1D74-4E9E-8A9D-24457D6C2B05}" type="presParOf" srcId="{7624412A-AEA9-407B-A4F5-C31E7BEEF556}" destId="{4D187FA6-E62B-440E-89AB-761B9A0F52A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C358029-7B8A-41C9-9FC3-E05931280139}"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D7943347-FF75-4E0F-8CC9-B094633B9283}">
      <dgm:prSet phldr="0"/>
      <dgm:spPr/>
      <dgm:t>
        <a:bodyPr/>
        <a:lstStyle/>
        <a:p>
          <a:r>
            <a:rPr lang="en-IN">
              <a:latin typeface="Calibri"/>
              <a:cs typeface="Calibri"/>
            </a:rPr>
            <a:t>Discussion: The discussion will interpret the findings of the study and will provide insights into the experiences and perspectives of the women on the barriers to employment. The discussion will highlight the implications of the findings for policies and programs aimed at addressing the barriers to employment in rural India.</a:t>
          </a:r>
          <a:endParaRPr lang="en-US"/>
        </a:p>
      </dgm:t>
    </dgm:pt>
    <dgm:pt modelId="{E53FE76D-8671-43F3-BAC6-7379D5DD27F4}" type="parTrans" cxnId="{A2430AA1-977C-42DD-B93D-345453C2F383}">
      <dgm:prSet/>
      <dgm:spPr/>
      <dgm:t>
        <a:bodyPr/>
        <a:lstStyle/>
        <a:p>
          <a:endParaRPr lang="en-US"/>
        </a:p>
      </dgm:t>
    </dgm:pt>
    <dgm:pt modelId="{4838E4A3-85EE-4479-BA2B-48C50EFBF6EA}" type="sibTrans" cxnId="{A2430AA1-977C-42DD-B93D-345453C2F383}">
      <dgm:prSet/>
      <dgm:spPr/>
      <dgm:t>
        <a:bodyPr/>
        <a:lstStyle/>
        <a:p>
          <a:endParaRPr lang="en-US"/>
        </a:p>
      </dgm:t>
    </dgm:pt>
    <dgm:pt modelId="{99849908-6C25-43F1-A9B3-F2C3BC717627}">
      <dgm:prSet phldr="0"/>
      <dgm:spPr/>
      <dgm:t>
        <a:bodyPr/>
        <a:lstStyle/>
        <a:p>
          <a:pPr rtl="0"/>
          <a:r>
            <a:rPr lang="en-IN">
              <a:latin typeface="Calibri"/>
              <a:cs typeface="Calibri"/>
            </a:rPr>
            <a:t>Data Presentation: The data collected from the study will be presented in a clear and concise manner using tables, graphs, and charts. Descriptive statistics will be used to summarize the demographic characteristics of the sample and to describe the experiences and perspectives of the women on the barriers to employment. Inferential statistics will be used to test hypotheses about the relationships between variables.</a:t>
          </a:r>
          <a:endParaRPr lang="en-US"/>
        </a:p>
      </dgm:t>
    </dgm:pt>
    <dgm:pt modelId="{05FD7093-C1B0-4DA4-9E3F-5A39B6E72CF6}" type="parTrans" cxnId="{692AA9AB-A89D-4905-9148-FE4FE9E2C579}">
      <dgm:prSet/>
      <dgm:spPr/>
    </dgm:pt>
    <dgm:pt modelId="{DFDBE5BD-BE9D-431C-95FA-567492DD03F5}" type="sibTrans" cxnId="{692AA9AB-A89D-4905-9148-FE4FE9E2C579}">
      <dgm:prSet/>
      <dgm:spPr/>
    </dgm:pt>
    <dgm:pt modelId="{3A48A49F-DE99-4D1E-A04B-F3B208A9A4FE}">
      <dgm:prSet phldr="0"/>
      <dgm:spPr/>
      <dgm:t>
        <a:bodyPr/>
        <a:lstStyle/>
        <a:p>
          <a:r>
            <a:rPr lang="en-IN">
              <a:latin typeface="Calibri"/>
              <a:cs typeface="Calibri"/>
            </a:rPr>
            <a:t>Findings: The findings from the study will be reported in a clear and concise manner and will focus on the key barriers to women's employment in rural India. The findings will be supported by the data collected from the study and will be compared to the relevant literature.</a:t>
          </a:r>
          <a:endParaRPr lang="en-US"/>
        </a:p>
      </dgm:t>
    </dgm:pt>
    <dgm:pt modelId="{1C32412D-DBAD-4A82-939E-1493B911005C}" type="parTrans" cxnId="{5743069F-0B8C-46D9-9390-E513BACF3114}">
      <dgm:prSet/>
      <dgm:spPr/>
    </dgm:pt>
    <dgm:pt modelId="{C1D921BB-86A1-46EE-9ADA-758B9AAF9C0F}" type="sibTrans" cxnId="{5743069F-0B8C-46D9-9390-E513BACF3114}">
      <dgm:prSet/>
      <dgm:spPr/>
    </dgm:pt>
    <dgm:pt modelId="{1F8B5398-E5CF-4495-B837-2A81E0BD3848}">
      <dgm:prSet phldr="0"/>
      <dgm:spPr/>
      <dgm:t>
        <a:bodyPr/>
        <a:lstStyle/>
        <a:p>
          <a:pPr rtl="0"/>
          <a:r>
            <a:rPr lang="en-IN"/>
            <a:t>Recommendations: The study will conclude with recommendations for addressing the barriers to women's employment in rural India. These recommendations will be based on the findings of the study and will be informed by the relevant literature. The recommendations will be targeted at policy-makers, employers, and other stakeholders in the rural areas of India.</a:t>
          </a:r>
        </a:p>
      </dgm:t>
    </dgm:pt>
    <dgm:pt modelId="{53A96FAC-96AC-4758-9980-AA9A1D66459C}" type="parTrans" cxnId="{7DAC61EA-C07A-42C5-949E-B5053F195CB0}">
      <dgm:prSet/>
      <dgm:spPr/>
    </dgm:pt>
    <dgm:pt modelId="{EA09E3A2-0E6B-4009-85A8-D6F1CF66490B}" type="sibTrans" cxnId="{7DAC61EA-C07A-42C5-949E-B5053F195CB0}">
      <dgm:prSet/>
      <dgm:spPr/>
    </dgm:pt>
    <dgm:pt modelId="{41C5FE26-34D6-4534-8E7E-FEA046256EAD}">
      <dgm:prSet phldr="0"/>
      <dgm:spPr/>
      <dgm:t>
        <a:bodyPr/>
        <a:lstStyle/>
        <a:p>
          <a:r>
            <a:rPr lang="en-IN"/>
            <a:t>Limitations: The study will acknowledge the limitations of the data collected and the methods used. The limitations will be discussed in detail and will provide insights into areas for future research.</a:t>
          </a:r>
        </a:p>
      </dgm:t>
    </dgm:pt>
    <dgm:pt modelId="{B24168F9-5A19-43A1-884F-9E6512C2C93D}" type="parTrans" cxnId="{ADE9F16A-E71B-4A91-8B41-1BF22C57EBEE}">
      <dgm:prSet/>
      <dgm:spPr/>
    </dgm:pt>
    <dgm:pt modelId="{2B0216FC-3182-4E78-B2F3-76135AA8D39B}" type="sibTrans" cxnId="{ADE9F16A-E71B-4A91-8B41-1BF22C57EBEE}">
      <dgm:prSet/>
      <dgm:spPr/>
    </dgm:pt>
    <dgm:pt modelId="{2BF99602-87C3-4467-9E24-94045974D93E}" type="pres">
      <dgm:prSet presAssocID="{3C358029-7B8A-41C9-9FC3-E05931280139}" presName="linear" presStyleCnt="0">
        <dgm:presLayoutVars>
          <dgm:animLvl val="lvl"/>
          <dgm:resizeHandles val="exact"/>
        </dgm:presLayoutVars>
      </dgm:prSet>
      <dgm:spPr/>
    </dgm:pt>
    <dgm:pt modelId="{288765FF-2F64-497A-8719-7DEB417488B1}" type="pres">
      <dgm:prSet presAssocID="{99849908-6C25-43F1-A9B3-F2C3BC717627}" presName="parentText" presStyleLbl="node1" presStyleIdx="0" presStyleCnt="5">
        <dgm:presLayoutVars>
          <dgm:chMax val="0"/>
          <dgm:bulletEnabled val="1"/>
        </dgm:presLayoutVars>
      </dgm:prSet>
      <dgm:spPr/>
    </dgm:pt>
    <dgm:pt modelId="{77CC57A5-BD90-4183-B75C-2F5B44B90E77}" type="pres">
      <dgm:prSet presAssocID="{DFDBE5BD-BE9D-431C-95FA-567492DD03F5}" presName="spacer" presStyleCnt="0"/>
      <dgm:spPr/>
    </dgm:pt>
    <dgm:pt modelId="{45F630CA-280A-414D-845F-B82C04BC13EB}" type="pres">
      <dgm:prSet presAssocID="{3A48A49F-DE99-4D1E-A04B-F3B208A9A4FE}" presName="parentText" presStyleLbl="node1" presStyleIdx="1" presStyleCnt="5">
        <dgm:presLayoutVars>
          <dgm:chMax val="0"/>
          <dgm:bulletEnabled val="1"/>
        </dgm:presLayoutVars>
      </dgm:prSet>
      <dgm:spPr/>
    </dgm:pt>
    <dgm:pt modelId="{B8F8121A-AF49-475F-8E82-583A1CF2F7FF}" type="pres">
      <dgm:prSet presAssocID="{C1D921BB-86A1-46EE-9ADA-758B9AAF9C0F}" presName="spacer" presStyleCnt="0"/>
      <dgm:spPr/>
    </dgm:pt>
    <dgm:pt modelId="{FEF22EC6-615B-4959-A641-4B7A315D7BFF}" type="pres">
      <dgm:prSet presAssocID="{D7943347-FF75-4E0F-8CC9-B094633B9283}" presName="parentText" presStyleLbl="node1" presStyleIdx="2" presStyleCnt="5">
        <dgm:presLayoutVars>
          <dgm:chMax val="0"/>
          <dgm:bulletEnabled val="1"/>
        </dgm:presLayoutVars>
      </dgm:prSet>
      <dgm:spPr/>
    </dgm:pt>
    <dgm:pt modelId="{CF4C968F-B49E-42C2-AF53-48AB1C438525}" type="pres">
      <dgm:prSet presAssocID="{4838E4A3-85EE-4479-BA2B-48C50EFBF6EA}" presName="spacer" presStyleCnt="0"/>
      <dgm:spPr/>
    </dgm:pt>
    <dgm:pt modelId="{71C7723B-8BE1-4359-89B5-63E83FC34A8D}" type="pres">
      <dgm:prSet presAssocID="{1F8B5398-E5CF-4495-B837-2A81E0BD3848}" presName="parentText" presStyleLbl="node1" presStyleIdx="3" presStyleCnt="5">
        <dgm:presLayoutVars>
          <dgm:chMax val="0"/>
          <dgm:bulletEnabled val="1"/>
        </dgm:presLayoutVars>
      </dgm:prSet>
      <dgm:spPr/>
    </dgm:pt>
    <dgm:pt modelId="{66F2849C-8725-4F5B-852C-A8C3A3161BDA}" type="pres">
      <dgm:prSet presAssocID="{EA09E3A2-0E6B-4009-85A8-D6F1CF66490B}" presName="spacer" presStyleCnt="0"/>
      <dgm:spPr/>
    </dgm:pt>
    <dgm:pt modelId="{FBAE6B5E-839D-49C1-B280-355F431AADCC}" type="pres">
      <dgm:prSet presAssocID="{41C5FE26-34D6-4534-8E7E-FEA046256EAD}" presName="parentText" presStyleLbl="node1" presStyleIdx="4" presStyleCnt="5">
        <dgm:presLayoutVars>
          <dgm:chMax val="0"/>
          <dgm:bulletEnabled val="1"/>
        </dgm:presLayoutVars>
      </dgm:prSet>
      <dgm:spPr/>
    </dgm:pt>
  </dgm:ptLst>
  <dgm:cxnLst>
    <dgm:cxn modelId="{3A949F15-4F2E-4862-87E2-321E8D2CF2A1}" type="presOf" srcId="{41C5FE26-34D6-4534-8E7E-FEA046256EAD}" destId="{FBAE6B5E-839D-49C1-B280-355F431AADCC}" srcOrd="0" destOrd="0" presId="urn:microsoft.com/office/officeart/2005/8/layout/vList2"/>
    <dgm:cxn modelId="{E58B295F-051E-4E46-94CC-CEF27FE8BC2C}" type="presOf" srcId="{99849908-6C25-43F1-A9B3-F2C3BC717627}" destId="{288765FF-2F64-497A-8719-7DEB417488B1}" srcOrd="0" destOrd="0" presId="urn:microsoft.com/office/officeart/2005/8/layout/vList2"/>
    <dgm:cxn modelId="{0085F763-D7FF-4E02-B6A7-C0F51AD12B4F}" type="presOf" srcId="{3A48A49F-DE99-4D1E-A04B-F3B208A9A4FE}" destId="{45F630CA-280A-414D-845F-B82C04BC13EB}" srcOrd="0" destOrd="0" presId="urn:microsoft.com/office/officeart/2005/8/layout/vList2"/>
    <dgm:cxn modelId="{75AF6847-D04B-4444-88D9-A9D7D1344B88}" type="presOf" srcId="{D7943347-FF75-4E0F-8CC9-B094633B9283}" destId="{FEF22EC6-615B-4959-A641-4B7A315D7BFF}" srcOrd="0" destOrd="0" presId="urn:microsoft.com/office/officeart/2005/8/layout/vList2"/>
    <dgm:cxn modelId="{ADE9F16A-E71B-4A91-8B41-1BF22C57EBEE}" srcId="{3C358029-7B8A-41C9-9FC3-E05931280139}" destId="{41C5FE26-34D6-4534-8E7E-FEA046256EAD}" srcOrd="4" destOrd="0" parTransId="{B24168F9-5A19-43A1-884F-9E6512C2C93D}" sibTransId="{2B0216FC-3182-4E78-B2F3-76135AA8D39B}"/>
    <dgm:cxn modelId="{5743069F-0B8C-46D9-9390-E513BACF3114}" srcId="{3C358029-7B8A-41C9-9FC3-E05931280139}" destId="{3A48A49F-DE99-4D1E-A04B-F3B208A9A4FE}" srcOrd="1" destOrd="0" parTransId="{1C32412D-DBAD-4A82-939E-1493B911005C}" sibTransId="{C1D921BB-86A1-46EE-9ADA-758B9AAF9C0F}"/>
    <dgm:cxn modelId="{A2430AA1-977C-42DD-B93D-345453C2F383}" srcId="{3C358029-7B8A-41C9-9FC3-E05931280139}" destId="{D7943347-FF75-4E0F-8CC9-B094633B9283}" srcOrd="2" destOrd="0" parTransId="{E53FE76D-8671-43F3-BAC6-7379D5DD27F4}" sibTransId="{4838E4A3-85EE-4479-BA2B-48C50EFBF6EA}"/>
    <dgm:cxn modelId="{692AA9AB-A89D-4905-9148-FE4FE9E2C579}" srcId="{3C358029-7B8A-41C9-9FC3-E05931280139}" destId="{99849908-6C25-43F1-A9B3-F2C3BC717627}" srcOrd="0" destOrd="0" parTransId="{05FD7093-C1B0-4DA4-9E3F-5A39B6E72CF6}" sibTransId="{DFDBE5BD-BE9D-431C-95FA-567492DD03F5}"/>
    <dgm:cxn modelId="{C681BCBD-EEBE-4CF9-AABA-40371D4049F8}" type="presOf" srcId="{1F8B5398-E5CF-4495-B837-2A81E0BD3848}" destId="{71C7723B-8BE1-4359-89B5-63E83FC34A8D}" srcOrd="0" destOrd="0" presId="urn:microsoft.com/office/officeart/2005/8/layout/vList2"/>
    <dgm:cxn modelId="{7DAC61EA-C07A-42C5-949E-B5053F195CB0}" srcId="{3C358029-7B8A-41C9-9FC3-E05931280139}" destId="{1F8B5398-E5CF-4495-B837-2A81E0BD3848}" srcOrd="3" destOrd="0" parTransId="{53A96FAC-96AC-4758-9980-AA9A1D66459C}" sibTransId="{EA09E3A2-0E6B-4009-85A8-D6F1CF66490B}"/>
    <dgm:cxn modelId="{6E230DF6-1A57-4B61-83DF-8218608A5107}" type="presOf" srcId="{3C358029-7B8A-41C9-9FC3-E05931280139}" destId="{2BF99602-87C3-4467-9E24-94045974D93E}" srcOrd="0" destOrd="0" presId="urn:microsoft.com/office/officeart/2005/8/layout/vList2"/>
    <dgm:cxn modelId="{BAD6921A-BAE4-49FD-A16B-6BCEDF7BDA4B}" type="presParOf" srcId="{2BF99602-87C3-4467-9E24-94045974D93E}" destId="{288765FF-2F64-497A-8719-7DEB417488B1}" srcOrd="0" destOrd="0" presId="urn:microsoft.com/office/officeart/2005/8/layout/vList2"/>
    <dgm:cxn modelId="{8A524D96-BCA4-4572-A26C-15D9353BC4C7}" type="presParOf" srcId="{2BF99602-87C3-4467-9E24-94045974D93E}" destId="{77CC57A5-BD90-4183-B75C-2F5B44B90E77}" srcOrd="1" destOrd="0" presId="urn:microsoft.com/office/officeart/2005/8/layout/vList2"/>
    <dgm:cxn modelId="{587EB333-C824-493D-832F-9A640EBDF0CD}" type="presParOf" srcId="{2BF99602-87C3-4467-9E24-94045974D93E}" destId="{45F630CA-280A-414D-845F-B82C04BC13EB}" srcOrd="2" destOrd="0" presId="urn:microsoft.com/office/officeart/2005/8/layout/vList2"/>
    <dgm:cxn modelId="{93A26FCD-8AD9-4014-A2A5-FEEDAF04DC1E}" type="presParOf" srcId="{2BF99602-87C3-4467-9E24-94045974D93E}" destId="{B8F8121A-AF49-475F-8E82-583A1CF2F7FF}" srcOrd="3" destOrd="0" presId="urn:microsoft.com/office/officeart/2005/8/layout/vList2"/>
    <dgm:cxn modelId="{ED741265-49AC-4FEF-A178-2B1AE5349A22}" type="presParOf" srcId="{2BF99602-87C3-4467-9E24-94045974D93E}" destId="{FEF22EC6-615B-4959-A641-4B7A315D7BFF}" srcOrd="4" destOrd="0" presId="urn:microsoft.com/office/officeart/2005/8/layout/vList2"/>
    <dgm:cxn modelId="{D9DD2FB3-20E8-4108-AC95-F7DDA94733C5}" type="presParOf" srcId="{2BF99602-87C3-4467-9E24-94045974D93E}" destId="{CF4C968F-B49E-42C2-AF53-48AB1C438525}" srcOrd="5" destOrd="0" presId="urn:microsoft.com/office/officeart/2005/8/layout/vList2"/>
    <dgm:cxn modelId="{0EEB7B2B-4728-4DC2-B2CC-4FFF3A281042}" type="presParOf" srcId="{2BF99602-87C3-4467-9E24-94045974D93E}" destId="{71C7723B-8BE1-4359-89B5-63E83FC34A8D}" srcOrd="6" destOrd="0" presId="urn:microsoft.com/office/officeart/2005/8/layout/vList2"/>
    <dgm:cxn modelId="{DE60F96E-1976-401E-9B08-C6B9CE51AAF7}" type="presParOf" srcId="{2BF99602-87C3-4467-9E24-94045974D93E}" destId="{66F2849C-8725-4F5B-852C-A8C3A3161BDA}" srcOrd="7" destOrd="0" presId="urn:microsoft.com/office/officeart/2005/8/layout/vList2"/>
    <dgm:cxn modelId="{CFF906CA-A94A-4A8B-AF4E-BCC10330671D}" type="presParOf" srcId="{2BF99602-87C3-4467-9E24-94045974D93E}" destId="{FBAE6B5E-839D-49C1-B280-355F431AADCC}"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5E42D2-507B-4C91-A8F4-032F096B6CEB}">
      <dsp:nvSpPr>
        <dsp:cNvPr id="0" name=""/>
        <dsp:cNvSpPr/>
      </dsp:nvSpPr>
      <dsp:spPr>
        <a:xfrm>
          <a:off x="0" y="0"/>
          <a:ext cx="617340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572E70-703D-419A-BD34-D5A72A56A33A}">
      <dsp:nvSpPr>
        <dsp:cNvPr id="0" name=""/>
        <dsp:cNvSpPr/>
      </dsp:nvSpPr>
      <dsp:spPr>
        <a:xfrm>
          <a:off x="0" y="0"/>
          <a:ext cx="6173409" cy="146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L</a:t>
          </a:r>
          <a:r>
            <a:rPr lang="en-US" sz="2000" b="1" kern="1200"/>
            <a:t>ack of education and skills:</a:t>
          </a:r>
          <a:r>
            <a:rPr lang="en-US" sz="2000" kern="1200"/>
            <a:t> Many women in rural areas do not have the education or skills necessary to secure formal employment</a:t>
          </a:r>
        </a:p>
      </dsp:txBody>
      <dsp:txXfrm>
        <a:off x="0" y="0"/>
        <a:ext cx="6173409" cy="1460867"/>
      </dsp:txXfrm>
    </dsp:sp>
    <dsp:sp modelId="{21D98414-8695-4D53-90E3-0F2DAA60AEB1}">
      <dsp:nvSpPr>
        <dsp:cNvPr id="0" name=""/>
        <dsp:cNvSpPr/>
      </dsp:nvSpPr>
      <dsp:spPr>
        <a:xfrm>
          <a:off x="0" y="1460867"/>
          <a:ext cx="6173409"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317816-3243-4054-AFA8-04E919D73534}">
      <dsp:nvSpPr>
        <dsp:cNvPr id="0" name=""/>
        <dsp:cNvSpPr/>
      </dsp:nvSpPr>
      <dsp:spPr>
        <a:xfrm>
          <a:off x="0" y="1460867"/>
          <a:ext cx="6173409" cy="146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Social and cultural norms</a:t>
          </a:r>
          <a:r>
            <a:rPr lang="en-US" sz="2000" kern="1200"/>
            <a:t>: Traditional gender roles and cultural norms can limit women's opportunities for employment, particularly in more conservative communities</a:t>
          </a:r>
        </a:p>
      </dsp:txBody>
      <dsp:txXfrm>
        <a:off x="0" y="1460867"/>
        <a:ext cx="6173409" cy="1460867"/>
      </dsp:txXfrm>
    </dsp:sp>
    <dsp:sp modelId="{1A465ACE-D7E3-421B-9B13-96C08DE7BA1E}">
      <dsp:nvSpPr>
        <dsp:cNvPr id="0" name=""/>
        <dsp:cNvSpPr/>
      </dsp:nvSpPr>
      <dsp:spPr>
        <a:xfrm>
          <a:off x="0" y="2921734"/>
          <a:ext cx="6173409"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E29C09-713A-428B-9C14-DD10898AE216}">
      <dsp:nvSpPr>
        <dsp:cNvPr id="0" name=""/>
        <dsp:cNvSpPr/>
      </dsp:nvSpPr>
      <dsp:spPr>
        <a:xfrm>
          <a:off x="0" y="2921734"/>
          <a:ext cx="6173409" cy="146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Lack of infrastructure and transportation</a:t>
          </a:r>
          <a:r>
            <a:rPr lang="en-US" sz="2000" kern="1200"/>
            <a:t>: Rural areas often lack the infrastructure and transportation necessary to support formal employment, making it difficult for women to access job opportunities</a:t>
          </a:r>
        </a:p>
      </dsp:txBody>
      <dsp:txXfrm>
        <a:off x="0" y="2921734"/>
        <a:ext cx="6173409" cy="1460867"/>
      </dsp:txXfrm>
    </dsp:sp>
    <dsp:sp modelId="{27807E9C-F94E-4DF2-AD3A-957D51FF1BC1}">
      <dsp:nvSpPr>
        <dsp:cNvPr id="0" name=""/>
        <dsp:cNvSpPr/>
      </dsp:nvSpPr>
      <dsp:spPr>
        <a:xfrm>
          <a:off x="0" y="4382601"/>
          <a:ext cx="6173409"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706C28-A67A-4CEE-BEA8-69005F64BCAF}">
      <dsp:nvSpPr>
        <dsp:cNvPr id="0" name=""/>
        <dsp:cNvSpPr/>
      </dsp:nvSpPr>
      <dsp:spPr>
        <a:xfrm>
          <a:off x="0" y="4382601"/>
          <a:ext cx="6173409" cy="146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Limited access to credit and financial resources:</a:t>
          </a:r>
          <a:r>
            <a:rPr lang="en-US" sz="2000" kern="1200"/>
            <a:t> Women in rural areas may have limited access to the credit and financial resources necessary to start or expand a business</a:t>
          </a:r>
        </a:p>
      </dsp:txBody>
      <dsp:txXfrm>
        <a:off x="0" y="4382601"/>
        <a:ext cx="6173409" cy="14608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50F59-E001-42C5-88FB-D9838898DC7E}">
      <dsp:nvSpPr>
        <dsp:cNvPr id="0" name=""/>
        <dsp:cNvSpPr/>
      </dsp:nvSpPr>
      <dsp:spPr>
        <a:xfrm>
          <a:off x="0" y="0"/>
          <a:ext cx="617340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81FCD1-3CB9-494D-ADB2-2D0FF79779EF}">
      <dsp:nvSpPr>
        <dsp:cNvPr id="0" name=""/>
        <dsp:cNvSpPr/>
      </dsp:nvSpPr>
      <dsp:spPr>
        <a:xfrm>
          <a:off x="0" y="0"/>
          <a:ext cx="6173409" cy="146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kern="1200"/>
            <a:t>Time-consuming household responsibilities: </a:t>
          </a:r>
          <a:r>
            <a:rPr lang="en-US" sz="2100" kern="1200"/>
            <a:t>Many women in rural areas are primarily responsible for household chores and childcare, which can limit their ability to participate in paid work</a:t>
          </a:r>
        </a:p>
      </dsp:txBody>
      <dsp:txXfrm>
        <a:off x="0" y="0"/>
        <a:ext cx="6173409" cy="1460867"/>
      </dsp:txXfrm>
    </dsp:sp>
    <dsp:sp modelId="{5E8007CB-94CC-420E-9341-A0186038FDD1}">
      <dsp:nvSpPr>
        <dsp:cNvPr id="0" name=""/>
        <dsp:cNvSpPr/>
      </dsp:nvSpPr>
      <dsp:spPr>
        <a:xfrm>
          <a:off x="0" y="1460867"/>
          <a:ext cx="6173409" cy="0"/>
        </a:xfrm>
        <a:prstGeom prst="line">
          <a:avLst/>
        </a:prstGeom>
        <a:solidFill>
          <a:schemeClr val="accent2">
            <a:hueOff val="992310"/>
            <a:satOff val="-4125"/>
            <a:lumOff val="-3399"/>
            <a:alphaOff val="0"/>
          </a:schemeClr>
        </a:solidFill>
        <a:ln w="12700" cap="flat" cmpd="sng" algn="ctr">
          <a:solidFill>
            <a:schemeClr val="accent2">
              <a:hueOff val="992310"/>
              <a:satOff val="-4125"/>
              <a:lumOff val="-339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7EE4DA-3AC7-4FD1-BCDE-F552F8344222}">
      <dsp:nvSpPr>
        <dsp:cNvPr id="0" name=""/>
        <dsp:cNvSpPr/>
      </dsp:nvSpPr>
      <dsp:spPr>
        <a:xfrm>
          <a:off x="0" y="1460867"/>
          <a:ext cx="6173409" cy="146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Limited access to decision making power and ownership of property and assets, this limits their ability to access credit and financial resources for starting or expanding a business</a:t>
          </a:r>
        </a:p>
      </dsp:txBody>
      <dsp:txXfrm>
        <a:off x="0" y="1460867"/>
        <a:ext cx="6173409" cy="1460867"/>
      </dsp:txXfrm>
    </dsp:sp>
    <dsp:sp modelId="{4A6CF0F3-7620-4102-8CD0-43786A81CDCF}">
      <dsp:nvSpPr>
        <dsp:cNvPr id="0" name=""/>
        <dsp:cNvSpPr/>
      </dsp:nvSpPr>
      <dsp:spPr>
        <a:xfrm>
          <a:off x="0" y="2921734"/>
          <a:ext cx="6173409" cy="0"/>
        </a:xfrm>
        <a:prstGeom prst="line">
          <a:avLst/>
        </a:prstGeom>
        <a:solidFill>
          <a:schemeClr val="accent2">
            <a:hueOff val="1984621"/>
            <a:satOff val="-8250"/>
            <a:lumOff val="-6797"/>
            <a:alphaOff val="0"/>
          </a:schemeClr>
        </a:solidFill>
        <a:ln w="12700" cap="flat" cmpd="sng" algn="ctr">
          <a:solidFill>
            <a:schemeClr val="accent2">
              <a:hueOff val="1984621"/>
              <a:satOff val="-8250"/>
              <a:lumOff val="-679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641F2D-2D79-4EB6-8C61-722D9A8F6818}">
      <dsp:nvSpPr>
        <dsp:cNvPr id="0" name=""/>
        <dsp:cNvSpPr/>
      </dsp:nvSpPr>
      <dsp:spPr>
        <a:xfrm>
          <a:off x="0" y="2921734"/>
          <a:ext cx="6173409" cy="146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Limited access to technology and digital infrastructure, this limits their ability to access information and opportunities for education and employment</a:t>
          </a:r>
        </a:p>
      </dsp:txBody>
      <dsp:txXfrm>
        <a:off x="0" y="2921734"/>
        <a:ext cx="6173409" cy="1460867"/>
      </dsp:txXfrm>
    </dsp:sp>
    <dsp:sp modelId="{60732D34-4B4B-457F-82B6-2905D753E4AE}">
      <dsp:nvSpPr>
        <dsp:cNvPr id="0" name=""/>
        <dsp:cNvSpPr/>
      </dsp:nvSpPr>
      <dsp:spPr>
        <a:xfrm>
          <a:off x="0" y="4382601"/>
          <a:ext cx="6173409" cy="0"/>
        </a:xfrm>
        <a:prstGeom prst="line">
          <a:avLst/>
        </a:prstGeom>
        <a:solidFill>
          <a:schemeClr val="accent2">
            <a:hueOff val="2976931"/>
            <a:satOff val="-12375"/>
            <a:lumOff val="-10196"/>
            <a:alphaOff val="0"/>
          </a:schemeClr>
        </a:solidFill>
        <a:ln w="12700" cap="flat" cmpd="sng" algn="ctr">
          <a:solidFill>
            <a:schemeClr val="accent2">
              <a:hueOff val="2976931"/>
              <a:satOff val="-12375"/>
              <a:lumOff val="-10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0C0224-62A2-4A94-999C-054A1F4E1242}">
      <dsp:nvSpPr>
        <dsp:cNvPr id="0" name=""/>
        <dsp:cNvSpPr/>
      </dsp:nvSpPr>
      <dsp:spPr>
        <a:xfrm>
          <a:off x="0" y="4382601"/>
          <a:ext cx="6173409" cy="1460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Inadequate healthcare facilities and services, this affects their ability to take care of their health and participate in paid work</a:t>
          </a:r>
        </a:p>
      </dsp:txBody>
      <dsp:txXfrm>
        <a:off x="0" y="4382601"/>
        <a:ext cx="6173409" cy="14608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E286BF-53CF-4943-A636-B89FC21149B6}">
      <dsp:nvSpPr>
        <dsp:cNvPr id="0" name=""/>
        <dsp:cNvSpPr/>
      </dsp:nvSpPr>
      <dsp:spPr>
        <a:xfrm>
          <a:off x="0" y="6053"/>
          <a:ext cx="9844293" cy="74324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latin typeface="Sagona Book"/>
            </a:rPr>
            <a:t>No</a:t>
          </a:r>
          <a:r>
            <a:rPr lang="en-US" sz="1400" kern="1200"/>
            <a:t> Poverty - Women's unemployment in rural areas can lead to poverty and exacerbates the cycle of poverty in these communities.</a:t>
          </a:r>
        </a:p>
      </dsp:txBody>
      <dsp:txXfrm>
        <a:off x="36282" y="42335"/>
        <a:ext cx="9771729" cy="670678"/>
      </dsp:txXfrm>
    </dsp:sp>
    <dsp:sp modelId="{3D24573A-C60C-4CEC-A808-5E870D6243B6}">
      <dsp:nvSpPr>
        <dsp:cNvPr id="0" name=""/>
        <dsp:cNvSpPr/>
      </dsp:nvSpPr>
      <dsp:spPr>
        <a:xfrm>
          <a:off x="0" y="789615"/>
          <a:ext cx="9844293" cy="74324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Gender Equality - Women's employment opportunities are often limited in rural areas due to gender-based discrimination and unequal access to education and training.</a:t>
          </a:r>
        </a:p>
      </dsp:txBody>
      <dsp:txXfrm>
        <a:off x="36282" y="825897"/>
        <a:ext cx="9771729" cy="670678"/>
      </dsp:txXfrm>
    </dsp:sp>
    <dsp:sp modelId="{4A3BCAB4-4462-470F-AE89-CB5B8FE82646}">
      <dsp:nvSpPr>
        <dsp:cNvPr id="0" name=""/>
        <dsp:cNvSpPr/>
      </dsp:nvSpPr>
      <dsp:spPr>
        <a:xfrm>
          <a:off x="0" y="1573178"/>
          <a:ext cx="9844293" cy="74324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latin typeface="Sagona Book"/>
            </a:rPr>
            <a:t>Decent</a:t>
          </a:r>
          <a:r>
            <a:rPr lang="en-US" sz="1400" kern="1200"/>
            <a:t> Work and Economic Growth - Women's employment plays a crucial role in the economic growth and development of rural areas. Addressing the barriers to women's employment will help promote sustainable economic growth in these areas.</a:t>
          </a:r>
        </a:p>
      </dsp:txBody>
      <dsp:txXfrm>
        <a:off x="36282" y="1609460"/>
        <a:ext cx="9771729" cy="670678"/>
      </dsp:txXfrm>
    </dsp:sp>
    <dsp:sp modelId="{608BAFD7-75AF-4671-B0BC-214D8800B913}">
      <dsp:nvSpPr>
        <dsp:cNvPr id="0" name=""/>
        <dsp:cNvSpPr/>
      </dsp:nvSpPr>
      <dsp:spPr>
        <a:xfrm>
          <a:off x="0" y="2356740"/>
          <a:ext cx="9844293" cy="74324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latin typeface="Sagona Book"/>
            </a:rPr>
            <a:t>Reduced</a:t>
          </a:r>
          <a:r>
            <a:rPr lang="en-US" sz="1400" kern="1200"/>
            <a:t> Inequalities - Addressing the barriers to women's employment will help reduce income inequalities and improve the standard of living for women in rural areas.</a:t>
          </a:r>
        </a:p>
      </dsp:txBody>
      <dsp:txXfrm>
        <a:off x="36282" y="2393022"/>
        <a:ext cx="9771729" cy="670678"/>
      </dsp:txXfrm>
    </dsp:sp>
    <dsp:sp modelId="{A6392E7C-FF2C-4AD7-8B31-11F80DD2A2AA}">
      <dsp:nvSpPr>
        <dsp:cNvPr id="0" name=""/>
        <dsp:cNvSpPr/>
      </dsp:nvSpPr>
      <dsp:spPr>
        <a:xfrm>
          <a:off x="0" y="3140303"/>
          <a:ext cx="9844293" cy="74324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latin typeface="Sagona Book"/>
            </a:rPr>
            <a:t>Peace</a:t>
          </a:r>
          <a:r>
            <a:rPr lang="en-US" sz="1400" kern="1200"/>
            <a:t>, Justice and Strong Institutions - Addressing the barriers to women's employment will help promote gender equality and improve the rule of law in rural areas, thereby promoting peace and stability.</a:t>
          </a:r>
        </a:p>
      </dsp:txBody>
      <dsp:txXfrm>
        <a:off x="36282" y="3176585"/>
        <a:ext cx="9771729" cy="6706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A86BF-CD2B-46FC-AB4D-9E0A846A9E7C}">
      <dsp:nvSpPr>
        <dsp:cNvPr id="0" name=""/>
        <dsp:cNvSpPr/>
      </dsp:nvSpPr>
      <dsp:spPr>
        <a:xfrm>
          <a:off x="0" y="108442"/>
          <a:ext cx="10515600" cy="955597"/>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Women in rural areas: The primary stakeholders, who face the barriers to employment and are affected by them</a:t>
          </a:r>
        </a:p>
      </dsp:txBody>
      <dsp:txXfrm>
        <a:off x="46648" y="155090"/>
        <a:ext cx="10422304" cy="862301"/>
      </dsp:txXfrm>
    </dsp:sp>
    <dsp:sp modelId="{B56D7E2F-40D0-48D5-8EF0-BA00A94D6A28}">
      <dsp:nvSpPr>
        <dsp:cNvPr id="0" name=""/>
        <dsp:cNvSpPr/>
      </dsp:nvSpPr>
      <dsp:spPr>
        <a:xfrm>
          <a:off x="0" y="1115880"/>
          <a:ext cx="10515600" cy="955597"/>
        </a:xfrm>
        <a:prstGeom prst="roundRect">
          <a:avLst/>
        </a:prstGeom>
        <a:solidFill>
          <a:schemeClr val="accent5">
            <a:hueOff val="498503"/>
            <a:satOff val="-76"/>
            <a:lumOff val="-183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Families: The families of women in rural areas are also affected by the lack of employment opportunities for women and the resulting poverty and socio-economic disadvantage</a:t>
          </a:r>
        </a:p>
      </dsp:txBody>
      <dsp:txXfrm>
        <a:off x="46648" y="1162528"/>
        <a:ext cx="10422304" cy="862301"/>
      </dsp:txXfrm>
    </dsp:sp>
    <dsp:sp modelId="{C24D242C-0BC6-4E83-9811-A462009C4214}">
      <dsp:nvSpPr>
        <dsp:cNvPr id="0" name=""/>
        <dsp:cNvSpPr/>
      </dsp:nvSpPr>
      <dsp:spPr>
        <a:xfrm>
          <a:off x="0" y="2123317"/>
          <a:ext cx="10515600" cy="955597"/>
        </a:xfrm>
        <a:prstGeom prst="roundRect">
          <a:avLst/>
        </a:prstGeom>
        <a:solidFill>
          <a:schemeClr val="accent5">
            <a:hueOff val="997005"/>
            <a:satOff val="-152"/>
            <a:lumOff val="-36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Employers: Employers in rural areas, particularly in the informal sector, may have a vested interest in increasing the number of women in the workforce, as they can offer a reliable and cost-effective source of labor</a:t>
          </a:r>
        </a:p>
      </dsp:txBody>
      <dsp:txXfrm>
        <a:off x="46648" y="2169965"/>
        <a:ext cx="10422304" cy="862301"/>
      </dsp:txXfrm>
    </dsp:sp>
    <dsp:sp modelId="{9875FAEE-DE19-4BFB-B16B-AE76F0C6831D}">
      <dsp:nvSpPr>
        <dsp:cNvPr id="0" name=""/>
        <dsp:cNvSpPr/>
      </dsp:nvSpPr>
      <dsp:spPr>
        <a:xfrm>
          <a:off x="0" y="3130755"/>
          <a:ext cx="10515600" cy="955597"/>
        </a:xfrm>
        <a:prstGeom prst="roundRect">
          <a:avLst/>
        </a:prstGeom>
        <a:solidFill>
          <a:schemeClr val="accent5">
            <a:hueOff val="1495508"/>
            <a:satOff val="-228"/>
            <a:lumOff val="-54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Government: The Government of India is responsible for creating the policies and programs that address the barriers to women's employment in rural areas, and is also responsible for monitoring and evaluating their effectiveness</a:t>
          </a:r>
        </a:p>
      </dsp:txBody>
      <dsp:txXfrm>
        <a:off x="46648" y="3177403"/>
        <a:ext cx="10422304" cy="86230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DB9630-DC10-4978-8272-E675F2701757}">
      <dsp:nvSpPr>
        <dsp:cNvPr id="0" name=""/>
        <dsp:cNvSpPr/>
      </dsp:nvSpPr>
      <dsp:spPr>
        <a:xfrm>
          <a:off x="0" y="16063"/>
          <a:ext cx="10515600" cy="134915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NGOs and civil society organizations: NGOs and civil society organizations play an important role in advocating for women's rights and providing support services to help women overcome the barriers to employment</a:t>
          </a:r>
        </a:p>
      </dsp:txBody>
      <dsp:txXfrm>
        <a:off x="65860" y="81923"/>
        <a:ext cx="10383880" cy="1217436"/>
      </dsp:txXfrm>
    </dsp:sp>
    <dsp:sp modelId="{4D052BA9-A462-4915-A472-4453201AB508}">
      <dsp:nvSpPr>
        <dsp:cNvPr id="0" name=""/>
        <dsp:cNvSpPr/>
      </dsp:nvSpPr>
      <dsp:spPr>
        <a:xfrm>
          <a:off x="0" y="1422819"/>
          <a:ext cx="10515600" cy="1349156"/>
        </a:xfrm>
        <a:prstGeom prst="roundRect">
          <a:avLst/>
        </a:prstGeom>
        <a:solidFill>
          <a:schemeClr val="accent5">
            <a:hueOff val="747754"/>
            <a:satOff val="-114"/>
            <a:lumOff val="-27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Private sector companies: Private sector companies operating in rural areas have a vested interest in improving the socio-economic conditions in the region, as it can enhance the quality of life and improve their reputation</a:t>
          </a:r>
        </a:p>
      </dsp:txBody>
      <dsp:txXfrm>
        <a:off x="65860" y="1488679"/>
        <a:ext cx="10383880" cy="1217436"/>
      </dsp:txXfrm>
    </dsp:sp>
    <dsp:sp modelId="{83860BB1-89CF-4664-ABB1-E5DED534F99E}">
      <dsp:nvSpPr>
        <dsp:cNvPr id="0" name=""/>
        <dsp:cNvSpPr/>
      </dsp:nvSpPr>
      <dsp:spPr>
        <a:xfrm>
          <a:off x="0" y="2829575"/>
          <a:ext cx="10515600" cy="1349156"/>
        </a:xfrm>
        <a:prstGeom prst="roundRect">
          <a:avLst/>
        </a:prstGeom>
        <a:solidFill>
          <a:schemeClr val="accent5">
            <a:hueOff val="1495508"/>
            <a:satOff val="-228"/>
            <a:lumOff val="-54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International organizations: International organizations such as the United Nations and the World Bank are involved in promoting women's empowerment and gender equality globally, and may provide support and resources to address the barriers to women's employment in rural India</a:t>
          </a:r>
        </a:p>
      </dsp:txBody>
      <dsp:txXfrm>
        <a:off x="65860" y="2895435"/>
        <a:ext cx="10383880" cy="121743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C21152-8C70-4660-90EF-891082E6B3F3}">
      <dsp:nvSpPr>
        <dsp:cNvPr id="0" name=""/>
        <dsp:cNvSpPr/>
      </dsp:nvSpPr>
      <dsp:spPr>
        <a:xfrm>
          <a:off x="0" y="512"/>
          <a:ext cx="10515600" cy="11982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49A263-2EA6-4296-BBEE-9483C0F46EB6}">
      <dsp:nvSpPr>
        <dsp:cNvPr id="0" name=""/>
        <dsp:cNvSpPr/>
      </dsp:nvSpPr>
      <dsp:spPr>
        <a:xfrm>
          <a:off x="362461" y="270111"/>
          <a:ext cx="659021" cy="6590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36328F-0547-4AF5-9720-A4ED1C3D6A56}">
      <dsp:nvSpPr>
        <dsp:cNvPr id="0" name=""/>
        <dsp:cNvSpPr/>
      </dsp:nvSpPr>
      <dsp:spPr>
        <a:xfrm>
          <a:off x="1383944" y="512"/>
          <a:ext cx="9131655" cy="1198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812" tIns="126812" rIns="126812" bIns="126812" numCol="1" spcCol="1270" anchor="ctr" anchorCtr="0">
          <a:noAutofit/>
        </a:bodyPr>
        <a:lstStyle/>
        <a:p>
          <a:pPr marL="0" lvl="0" indent="0" algn="l" defTabSz="1022350">
            <a:lnSpc>
              <a:spcPct val="90000"/>
            </a:lnSpc>
            <a:spcBef>
              <a:spcPct val="0"/>
            </a:spcBef>
            <a:spcAft>
              <a:spcPct val="35000"/>
            </a:spcAft>
            <a:buNone/>
          </a:pPr>
          <a:r>
            <a:rPr lang="en-US" sz="2300" kern="1200"/>
            <a:t>Awareness: Women in rural areas become aware of the limited employment opportunities available to them, as well as the cultural and social norms that limit their participation in the workforce</a:t>
          </a:r>
        </a:p>
      </dsp:txBody>
      <dsp:txXfrm>
        <a:off x="1383944" y="512"/>
        <a:ext cx="9131655" cy="1198220"/>
      </dsp:txXfrm>
    </dsp:sp>
    <dsp:sp modelId="{DA0DF6EA-3EC8-4CCA-9181-AD6D822CF24D}">
      <dsp:nvSpPr>
        <dsp:cNvPr id="0" name=""/>
        <dsp:cNvSpPr/>
      </dsp:nvSpPr>
      <dsp:spPr>
        <a:xfrm>
          <a:off x="0" y="1498287"/>
          <a:ext cx="10515600" cy="11982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B3BFA8-F52E-44CB-B70C-C54FF64F75FE}">
      <dsp:nvSpPr>
        <dsp:cNvPr id="0" name=""/>
        <dsp:cNvSpPr/>
      </dsp:nvSpPr>
      <dsp:spPr>
        <a:xfrm>
          <a:off x="362461" y="1767886"/>
          <a:ext cx="659021" cy="6590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EDDCE7-A7AE-4D1F-89E9-C916223BA6B3}">
      <dsp:nvSpPr>
        <dsp:cNvPr id="0" name=""/>
        <dsp:cNvSpPr/>
      </dsp:nvSpPr>
      <dsp:spPr>
        <a:xfrm>
          <a:off x="1383944" y="1498287"/>
          <a:ext cx="9131655" cy="1198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812" tIns="126812" rIns="126812" bIns="126812" numCol="1" spcCol="1270" anchor="ctr" anchorCtr="0">
          <a:noAutofit/>
        </a:bodyPr>
        <a:lstStyle/>
        <a:p>
          <a:pPr marL="0" lvl="0" indent="0" algn="l" defTabSz="1022350">
            <a:lnSpc>
              <a:spcPct val="90000"/>
            </a:lnSpc>
            <a:spcBef>
              <a:spcPct val="0"/>
            </a:spcBef>
            <a:spcAft>
              <a:spcPct val="35000"/>
            </a:spcAft>
            <a:buNone/>
          </a:pPr>
          <a:r>
            <a:rPr lang="en-US" sz="2300" kern="1200"/>
            <a:t>Education and Skills Development: Women in rural areas may seek education and training opportunities to improve their chances of securing formal employment</a:t>
          </a:r>
        </a:p>
      </dsp:txBody>
      <dsp:txXfrm>
        <a:off x="1383944" y="1498287"/>
        <a:ext cx="9131655" cy="1198220"/>
      </dsp:txXfrm>
    </dsp:sp>
    <dsp:sp modelId="{148E6F8E-5155-4960-B961-C2E8BECC2CFE}">
      <dsp:nvSpPr>
        <dsp:cNvPr id="0" name=""/>
        <dsp:cNvSpPr/>
      </dsp:nvSpPr>
      <dsp:spPr>
        <a:xfrm>
          <a:off x="0" y="2996062"/>
          <a:ext cx="10515600" cy="11982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C4DD7C-09BC-4E27-9290-3E54374100D8}">
      <dsp:nvSpPr>
        <dsp:cNvPr id="0" name=""/>
        <dsp:cNvSpPr/>
      </dsp:nvSpPr>
      <dsp:spPr>
        <a:xfrm>
          <a:off x="362461" y="3265662"/>
          <a:ext cx="659021" cy="6590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7758F0-C8CF-421E-9507-BC9D7E965457}">
      <dsp:nvSpPr>
        <dsp:cNvPr id="0" name=""/>
        <dsp:cNvSpPr/>
      </dsp:nvSpPr>
      <dsp:spPr>
        <a:xfrm>
          <a:off x="1383944" y="2996062"/>
          <a:ext cx="9131655" cy="1198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812" tIns="126812" rIns="126812" bIns="126812" numCol="1" spcCol="1270" anchor="ctr" anchorCtr="0">
          <a:noAutofit/>
        </a:bodyPr>
        <a:lstStyle/>
        <a:p>
          <a:pPr marL="0" lvl="0" indent="0" algn="l" defTabSz="1022350">
            <a:lnSpc>
              <a:spcPct val="90000"/>
            </a:lnSpc>
            <a:spcBef>
              <a:spcPct val="0"/>
            </a:spcBef>
            <a:spcAft>
              <a:spcPct val="35000"/>
            </a:spcAft>
            <a:buNone/>
          </a:pPr>
          <a:r>
            <a:rPr lang="en-US" sz="2300" kern="1200"/>
            <a:t>Job Search: Women in rural areas search for employment opportunities, either through formal channels such as job fairs or online portals, or through informal networks and word-of-mouth</a:t>
          </a:r>
        </a:p>
      </dsp:txBody>
      <dsp:txXfrm>
        <a:off x="1383944" y="2996062"/>
        <a:ext cx="9131655" cy="11982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C21152-8C70-4660-90EF-891082E6B3F3}">
      <dsp:nvSpPr>
        <dsp:cNvPr id="0" name=""/>
        <dsp:cNvSpPr/>
      </dsp:nvSpPr>
      <dsp:spPr>
        <a:xfrm>
          <a:off x="0" y="521"/>
          <a:ext cx="10982090" cy="12214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49A263-2EA6-4296-BBEE-9483C0F46EB6}">
      <dsp:nvSpPr>
        <dsp:cNvPr id="0" name=""/>
        <dsp:cNvSpPr/>
      </dsp:nvSpPr>
      <dsp:spPr>
        <a:xfrm>
          <a:off x="369483" y="275344"/>
          <a:ext cx="671787" cy="6717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36328F-0547-4AF5-9720-A4ED1C3D6A56}">
      <dsp:nvSpPr>
        <dsp:cNvPr id="0" name=""/>
        <dsp:cNvSpPr/>
      </dsp:nvSpPr>
      <dsp:spPr>
        <a:xfrm>
          <a:off x="1410753" y="521"/>
          <a:ext cx="9571336" cy="1221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268" tIns="129268" rIns="129268" bIns="129268" numCol="1" spcCol="1270" anchor="ctr" anchorCtr="0">
          <a:noAutofit/>
        </a:bodyPr>
        <a:lstStyle/>
        <a:p>
          <a:pPr marL="0" lvl="0" indent="0" algn="l" defTabSz="889000">
            <a:lnSpc>
              <a:spcPct val="90000"/>
            </a:lnSpc>
            <a:spcBef>
              <a:spcPct val="0"/>
            </a:spcBef>
            <a:spcAft>
              <a:spcPct val="35000"/>
            </a:spcAft>
            <a:buNone/>
          </a:pPr>
          <a:r>
            <a:rPr lang="en-US" sz="2000" kern="1200"/>
            <a:t>Hiring Process: Women in rural areas face several challenges in the hiring process, including discrimination based on gender, lack of formal qualifications or experience, and limited access to credit and financial resources</a:t>
          </a:r>
        </a:p>
      </dsp:txBody>
      <dsp:txXfrm>
        <a:off x="1410753" y="521"/>
        <a:ext cx="9571336" cy="1221431"/>
      </dsp:txXfrm>
    </dsp:sp>
    <dsp:sp modelId="{DA0DF6EA-3EC8-4CCA-9181-AD6D822CF24D}">
      <dsp:nvSpPr>
        <dsp:cNvPr id="0" name=""/>
        <dsp:cNvSpPr/>
      </dsp:nvSpPr>
      <dsp:spPr>
        <a:xfrm>
          <a:off x="0" y="1527311"/>
          <a:ext cx="10982090" cy="12214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B3BFA8-F52E-44CB-B70C-C54FF64F75FE}">
      <dsp:nvSpPr>
        <dsp:cNvPr id="0" name=""/>
        <dsp:cNvSpPr/>
      </dsp:nvSpPr>
      <dsp:spPr>
        <a:xfrm>
          <a:off x="369483" y="1802133"/>
          <a:ext cx="671787" cy="6717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EDDCE7-A7AE-4D1F-89E9-C916223BA6B3}">
      <dsp:nvSpPr>
        <dsp:cNvPr id="0" name=""/>
        <dsp:cNvSpPr/>
      </dsp:nvSpPr>
      <dsp:spPr>
        <a:xfrm>
          <a:off x="1410753" y="1527311"/>
          <a:ext cx="9571336" cy="1221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268" tIns="129268" rIns="129268" bIns="129268" numCol="1" spcCol="1270" anchor="ctr" anchorCtr="0">
          <a:noAutofit/>
        </a:bodyPr>
        <a:lstStyle/>
        <a:p>
          <a:pPr marL="0" lvl="0" indent="0" algn="l" defTabSz="889000">
            <a:lnSpc>
              <a:spcPct val="90000"/>
            </a:lnSpc>
            <a:spcBef>
              <a:spcPct val="0"/>
            </a:spcBef>
            <a:spcAft>
              <a:spcPct val="35000"/>
            </a:spcAft>
            <a:buNone/>
          </a:pPr>
          <a:r>
            <a:rPr lang="en-US" sz="2000" kern="1200"/>
            <a:t>On-the-Job Challenges: Once employed, women in rural areas may face additional challenges such as inadequate healthcare facilities and services, and limited access to technology and digital infrastructure</a:t>
          </a:r>
        </a:p>
      </dsp:txBody>
      <dsp:txXfrm>
        <a:off x="1410753" y="1527311"/>
        <a:ext cx="9571336" cy="1221431"/>
      </dsp:txXfrm>
    </dsp:sp>
    <dsp:sp modelId="{148E6F8E-5155-4960-B961-C2E8BECC2CFE}">
      <dsp:nvSpPr>
        <dsp:cNvPr id="0" name=""/>
        <dsp:cNvSpPr/>
      </dsp:nvSpPr>
      <dsp:spPr>
        <a:xfrm>
          <a:off x="0" y="3054101"/>
          <a:ext cx="10982090" cy="12214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C4DD7C-09BC-4E27-9290-3E54374100D8}">
      <dsp:nvSpPr>
        <dsp:cNvPr id="0" name=""/>
        <dsp:cNvSpPr/>
      </dsp:nvSpPr>
      <dsp:spPr>
        <a:xfrm>
          <a:off x="369483" y="3328923"/>
          <a:ext cx="671787" cy="6717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7758F0-C8CF-421E-9507-BC9D7E965457}">
      <dsp:nvSpPr>
        <dsp:cNvPr id="0" name=""/>
        <dsp:cNvSpPr/>
      </dsp:nvSpPr>
      <dsp:spPr>
        <a:xfrm>
          <a:off x="1410753" y="3054101"/>
          <a:ext cx="9571336" cy="1221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268" tIns="129268" rIns="129268" bIns="129268" numCol="1" spcCol="1270" anchor="ctr" anchorCtr="0">
          <a:noAutofit/>
        </a:bodyPr>
        <a:lstStyle/>
        <a:p>
          <a:pPr marL="0" lvl="0" indent="0" algn="l" defTabSz="889000">
            <a:lnSpc>
              <a:spcPct val="90000"/>
            </a:lnSpc>
            <a:spcBef>
              <a:spcPct val="0"/>
            </a:spcBef>
            <a:spcAft>
              <a:spcPct val="35000"/>
            </a:spcAft>
            <a:buNone/>
          </a:pPr>
          <a:r>
            <a:rPr lang="en-US" sz="2000" kern="1200"/>
            <a:t>Career Progression: Women in rural areas may face barriers in progressing in their careers, such as lack of opportunities for training and development, and limited access to decision-making power and ownership of property and assets</a:t>
          </a:r>
        </a:p>
      </dsp:txBody>
      <dsp:txXfrm>
        <a:off x="1410753" y="3054101"/>
        <a:ext cx="9571336" cy="122143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B5E31B-9328-4C8F-BBF5-30D59AA2740A}">
      <dsp:nvSpPr>
        <dsp:cNvPr id="0" name=""/>
        <dsp:cNvSpPr/>
      </dsp:nvSpPr>
      <dsp:spPr>
        <a:xfrm>
          <a:off x="0" y="46517"/>
          <a:ext cx="10982090" cy="6563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a:t>To identify the main barriers to women's employment in rural areas, including cultural and social norms, lack of education and training opportunities, and discrimination in the hiring process.</a:t>
          </a:r>
        </a:p>
      </dsp:txBody>
      <dsp:txXfrm>
        <a:off x="32041" y="78558"/>
        <a:ext cx="10918008" cy="592288"/>
      </dsp:txXfrm>
    </dsp:sp>
    <dsp:sp modelId="{E5B73A66-6816-4518-9AEE-B8143C71AEB5}">
      <dsp:nvSpPr>
        <dsp:cNvPr id="0" name=""/>
        <dsp:cNvSpPr/>
      </dsp:nvSpPr>
      <dsp:spPr>
        <a:xfrm>
          <a:off x="0" y="751847"/>
          <a:ext cx="10982090" cy="6563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To understand the  perspectives of women in rural areas who are seeking employment opportunities and the challenges they face in the hiring process.</a:t>
          </a:r>
        </a:p>
      </dsp:txBody>
      <dsp:txXfrm>
        <a:off x="32041" y="783888"/>
        <a:ext cx="10918008" cy="592288"/>
      </dsp:txXfrm>
    </dsp:sp>
    <dsp:sp modelId="{F29A3F39-D0EF-4593-89DD-0D95D5E66119}">
      <dsp:nvSpPr>
        <dsp:cNvPr id="0" name=""/>
        <dsp:cNvSpPr/>
      </dsp:nvSpPr>
      <dsp:spPr>
        <a:xfrm>
          <a:off x="0" y="1457177"/>
          <a:ext cx="10982090" cy="6563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To assess the impact of household responsibilities on women's ability to participate in the workforce.</a:t>
          </a:r>
        </a:p>
      </dsp:txBody>
      <dsp:txXfrm>
        <a:off x="32041" y="1489218"/>
        <a:ext cx="10918008" cy="592288"/>
      </dsp:txXfrm>
    </dsp:sp>
    <dsp:sp modelId="{EB188816-68A8-46EB-A80F-49EBF065228B}">
      <dsp:nvSpPr>
        <dsp:cNvPr id="0" name=""/>
        <dsp:cNvSpPr/>
      </dsp:nvSpPr>
      <dsp:spPr>
        <a:xfrm>
          <a:off x="0" y="2162507"/>
          <a:ext cx="10982090" cy="6563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To examine the role of technology and digital infrastructure in promoting women's employment in rural areas.</a:t>
          </a:r>
        </a:p>
      </dsp:txBody>
      <dsp:txXfrm>
        <a:off x="32041" y="2194548"/>
        <a:ext cx="10918008" cy="592288"/>
      </dsp:txXfrm>
    </dsp:sp>
    <dsp:sp modelId="{247BD8A4-A645-4A18-8C18-3EA0A94CAADD}">
      <dsp:nvSpPr>
        <dsp:cNvPr id="0" name=""/>
        <dsp:cNvSpPr/>
      </dsp:nvSpPr>
      <dsp:spPr>
        <a:xfrm>
          <a:off x="0" y="2867837"/>
          <a:ext cx="10982090" cy="6563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To assess the impact of government policies and programs for women empowerment and to identify areas for improvement.</a:t>
          </a:r>
        </a:p>
      </dsp:txBody>
      <dsp:txXfrm>
        <a:off x="32041" y="2899878"/>
        <a:ext cx="10918008" cy="592288"/>
      </dsp:txXfrm>
    </dsp:sp>
    <dsp:sp modelId="{C4335CE9-16D0-45A0-8AFB-F0CC3BACB7C6}">
      <dsp:nvSpPr>
        <dsp:cNvPr id="0" name=""/>
        <dsp:cNvSpPr/>
      </dsp:nvSpPr>
      <dsp:spPr>
        <a:xfrm>
          <a:off x="0" y="3573167"/>
          <a:ext cx="10982090" cy="65637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To recommend strategies for addressing the barriers to women's employment in rural India and promoting women's economic empowerment.</a:t>
          </a:r>
        </a:p>
      </dsp:txBody>
      <dsp:txXfrm>
        <a:off x="32041" y="3605208"/>
        <a:ext cx="10918008" cy="59228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0F61EE-9126-4CDA-B28E-3DC524E97AE4}">
      <dsp:nvSpPr>
        <dsp:cNvPr id="0" name=""/>
        <dsp:cNvSpPr/>
      </dsp:nvSpPr>
      <dsp:spPr>
        <a:xfrm>
          <a:off x="0" y="384348"/>
          <a:ext cx="10769600" cy="7160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a:latin typeface="Calibri"/>
              <a:cs typeface="Calibri"/>
            </a:rPr>
            <a:t>Surveys: used to gather data and get large number of insights into the experiences and perspectives of women in rural areas. It can be administered in person, by mail, or online.</a:t>
          </a:r>
          <a:endParaRPr lang="en-US" sz="1800" kern="1200"/>
        </a:p>
      </dsp:txBody>
      <dsp:txXfrm>
        <a:off x="34954" y="419302"/>
        <a:ext cx="10699692" cy="646132"/>
      </dsp:txXfrm>
    </dsp:sp>
    <dsp:sp modelId="{5BA431DA-ECE8-47E9-A136-E1FA685464C6}">
      <dsp:nvSpPr>
        <dsp:cNvPr id="0" name=""/>
        <dsp:cNvSpPr/>
      </dsp:nvSpPr>
      <dsp:spPr>
        <a:xfrm>
          <a:off x="0" y="1152228"/>
          <a:ext cx="10769600" cy="7160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Calibri"/>
              <a:cs typeface="Calibri"/>
            </a:rPr>
            <a:t>Interviews: Interviews can be used to gather detailed information from individual participants related to women's employment in rural India. It can be conducted in person, by phone, or through online platforms as well.</a:t>
          </a:r>
          <a:endParaRPr lang="en-US" sz="1800" kern="1200"/>
        </a:p>
      </dsp:txBody>
      <dsp:txXfrm>
        <a:off x="34954" y="1187182"/>
        <a:ext cx="10699692" cy="646132"/>
      </dsp:txXfrm>
    </dsp:sp>
    <dsp:sp modelId="{6C75AAAA-63FC-449B-878D-45DA5CBDBAC8}">
      <dsp:nvSpPr>
        <dsp:cNvPr id="0" name=""/>
        <dsp:cNvSpPr/>
      </dsp:nvSpPr>
      <dsp:spPr>
        <a:xfrm>
          <a:off x="0" y="1920108"/>
          <a:ext cx="10769600" cy="7160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Calibri"/>
              <a:cs typeface="Calibri"/>
            </a:rPr>
            <a:t>Focus groups: Bringing a small group of participants together to discuss a specific topic and can provide rich insights into the topic.</a:t>
          </a:r>
          <a:endParaRPr lang="en-US" sz="1800" kern="1200"/>
        </a:p>
      </dsp:txBody>
      <dsp:txXfrm>
        <a:off x="34954" y="1955062"/>
        <a:ext cx="10699692" cy="646132"/>
      </dsp:txXfrm>
    </dsp:sp>
    <dsp:sp modelId="{51E04138-C323-41DC-A312-241017E33F49}">
      <dsp:nvSpPr>
        <dsp:cNvPr id="0" name=""/>
        <dsp:cNvSpPr/>
      </dsp:nvSpPr>
      <dsp:spPr>
        <a:xfrm>
          <a:off x="0" y="2687988"/>
          <a:ext cx="10769600" cy="7160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Calibri"/>
              <a:cs typeface="Calibri"/>
            </a:rPr>
            <a:t>Case studies: Conducting a detailed investigation which can provide in-depth insights into the challenges faced by women.</a:t>
          </a:r>
          <a:endParaRPr lang="en-US" sz="1800" kern="1200"/>
        </a:p>
      </dsp:txBody>
      <dsp:txXfrm>
        <a:off x="34954" y="2722942"/>
        <a:ext cx="10699692" cy="646132"/>
      </dsp:txXfrm>
    </dsp:sp>
    <dsp:sp modelId="{88C3F8B4-7ED7-480D-9A49-6426EAD07964}">
      <dsp:nvSpPr>
        <dsp:cNvPr id="0" name=""/>
        <dsp:cNvSpPr/>
      </dsp:nvSpPr>
      <dsp:spPr>
        <a:xfrm>
          <a:off x="0" y="3455868"/>
          <a:ext cx="10769600" cy="71604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Calibri"/>
              <a:cs typeface="Calibri"/>
            </a:rPr>
            <a:t>Observational studies: Observing participants in their natural environment.</a:t>
          </a:r>
          <a:endParaRPr lang="en-US" sz="1800" kern="1200"/>
        </a:p>
      </dsp:txBody>
      <dsp:txXfrm>
        <a:off x="34954" y="3490822"/>
        <a:ext cx="10699692" cy="64613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5986E-4ADC-4483-A9D1-7C3125D89312}">
      <dsp:nvSpPr>
        <dsp:cNvPr id="0" name=""/>
        <dsp:cNvSpPr/>
      </dsp:nvSpPr>
      <dsp:spPr>
        <a:xfrm>
          <a:off x="2126021" y="444283"/>
          <a:ext cx="5990339" cy="5990339"/>
        </a:xfrm>
        <a:prstGeom prst="pie">
          <a:avLst>
            <a:gd name="adj1" fmla="val 162000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a:t>Simple Random Sampling: Simple random sampling is a straightforward method of selecting participants from the target population</a:t>
          </a:r>
        </a:p>
      </dsp:txBody>
      <dsp:txXfrm>
        <a:off x="5189652" y="1552496"/>
        <a:ext cx="2210720" cy="1782839"/>
      </dsp:txXfrm>
    </dsp:sp>
    <dsp:sp modelId="{38BCCBBD-26BB-4B21-B5F4-A172D4C88C91}">
      <dsp:nvSpPr>
        <dsp:cNvPr id="0" name=""/>
        <dsp:cNvSpPr/>
      </dsp:nvSpPr>
      <dsp:spPr>
        <a:xfrm>
          <a:off x="1873571" y="696733"/>
          <a:ext cx="5990339" cy="5990339"/>
        </a:xfrm>
        <a:prstGeom prst="pie">
          <a:avLst>
            <a:gd name="adj1" fmla="val 0"/>
            <a:gd name="adj2" fmla="val 54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a:t>Stratified Random Sampling: Stratified random sampling is a method of selecting participants that involves dividing the target population into subgroups based on specific characteristics, such as age, education level, or geographic location, and then randomly selecting participants from each subgroup</a:t>
          </a:r>
        </a:p>
      </dsp:txBody>
      <dsp:txXfrm>
        <a:off x="4975711" y="3798873"/>
        <a:ext cx="2210720" cy="1782839"/>
      </dsp:txXfrm>
    </dsp:sp>
    <dsp:sp modelId="{9F38D114-80FE-408A-82D2-3301B93AB32F}">
      <dsp:nvSpPr>
        <dsp:cNvPr id="0" name=""/>
        <dsp:cNvSpPr/>
      </dsp:nvSpPr>
      <dsp:spPr>
        <a:xfrm>
          <a:off x="1873571" y="696733"/>
          <a:ext cx="5990339" cy="5990339"/>
        </a:xfrm>
        <a:prstGeom prst="pie">
          <a:avLst>
            <a:gd name="adj1" fmla="val 5400000"/>
            <a:gd name="adj2" fmla="val 10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a:t>Convenience Sampling: Convenience sampling is a method of selecting participants that involves recruiting individuals who are easily accessible or willing to participate in the study</a:t>
          </a:r>
        </a:p>
      </dsp:txBody>
      <dsp:txXfrm>
        <a:off x="2551050" y="3798873"/>
        <a:ext cx="2210720" cy="1782839"/>
      </dsp:txXfrm>
    </dsp:sp>
    <dsp:sp modelId="{14D315DE-A106-403C-8028-0EF169787574}">
      <dsp:nvSpPr>
        <dsp:cNvPr id="0" name=""/>
        <dsp:cNvSpPr/>
      </dsp:nvSpPr>
      <dsp:spPr>
        <a:xfrm>
          <a:off x="1873571" y="696733"/>
          <a:ext cx="5990339" cy="5990339"/>
        </a:xfrm>
        <a:prstGeom prst="pie">
          <a:avLst>
            <a:gd name="adj1" fmla="val 108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rtl="0">
            <a:lnSpc>
              <a:spcPct val="110000"/>
            </a:lnSpc>
            <a:spcBef>
              <a:spcPct val="0"/>
            </a:spcBef>
            <a:spcAft>
              <a:spcPct val="35000"/>
            </a:spcAft>
            <a:buNone/>
          </a:pPr>
          <a:r>
            <a:rPr lang="en-US" sz="1200" kern="1200"/>
            <a:t>Snowball Sampling: Snowball sampling is a method of selecting participants that involves recruiting individuals through their networks or connections</a:t>
          </a:r>
        </a:p>
      </dsp:txBody>
      <dsp:txXfrm>
        <a:off x="2551050" y="1802093"/>
        <a:ext cx="2210720" cy="178283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8BA041-1FB9-4B8F-A48B-252BAD7109EA}">
      <dsp:nvSpPr>
        <dsp:cNvPr id="0" name=""/>
        <dsp:cNvSpPr/>
      </dsp:nvSpPr>
      <dsp:spPr>
        <a:xfrm>
          <a:off x="0" y="1898"/>
          <a:ext cx="5604997"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F8283B7-0D61-4A7C-BF03-41B0A4129FAE}">
      <dsp:nvSpPr>
        <dsp:cNvPr id="0" name=""/>
        <dsp:cNvSpPr/>
      </dsp:nvSpPr>
      <dsp:spPr>
        <a:xfrm>
          <a:off x="0" y="1898"/>
          <a:ext cx="5604997" cy="1294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rtl="0">
            <a:lnSpc>
              <a:spcPct val="90000"/>
            </a:lnSpc>
            <a:spcBef>
              <a:spcPct val="0"/>
            </a:spcBef>
            <a:spcAft>
              <a:spcPct val="35000"/>
            </a:spcAft>
            <a:buNone/>
          </a:pPr>
          <a:r>
            <a:rPr lang="en-US" sz="1700" kern="1200">
              <a:latin typeface="Sagona Book"/>
            </a:rPr>
            <a:t>Raigarh – Handicrafts and weaving (textile, basketry and other handicrafts), small scale industries (food processing, agro based, soap making etc.), health and education (teachers, nurses, healthcare workers), self-help groups and micro enterprises etc.</a:t>
          </a:r>
        </a:p>
      </dsp:txBody>
      <dsp:txXfrm>
        <a:off x="0" y="1898"/>
        <a:ext cx="5604997" cy="1294863"/>
      </dsp:txXfrm>
    </dsp:sp>
    <dsp:sp modelId="{DAACF4C2-7DF1-497E-AA7E-001E7D44217C}">
      <dsp:nvSpPr>
        <dsp:cNvPr id="0" name=""/>
        <dsp:cNvSpPr/>
      </dsp:nvSpPr>
      <dsp:spPr>
        <a:xfrm>
          <a:off x="0" y="1296761"/>
          <a:ext cx="5604997"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CA7E9FE-F349-4F23-B5E0-35143381D5E3}">
      <dsp:nvSpPr>
        <dsp:cNvPr id="0" name=""/>
        <dsp:cNvSpPr/>
      </dsp:nvSpPr>
      <dsp:spPr>
        <a:xfrm>
          <a:off x="0" y="1296761"/>
          <a:ext cx="5604997" cy="1294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rtl="0">
            <a:lnSpc>
              <a:spcPct val="90000"/>
            </a:lnSpc>
            <a:spcBef>
              <a:spcPct val="0"/>
            </a:spcBef>
            <a:spcAft>
              <a:spcPct val="35000"/>
            </a:spcAft>
            <a:buNone/>
          </a:pPr>
          <a:r>
            <a:rPr lang="en-US" sz="1700" kern="1200">
              <a:latin typeface="Sagona Book"/>
            </a:rPr>
            <a:t>Nashik – Grape and wine industry (Vineyard management, winemaking and exports), food processing and packaging industry, handloom weaving industry (weaving, dyeing and finishing of textiles) etc.</a:t>
          </a:r>
          <a:endParaRPr lang="en-US" sz="1700" kern="1200"/>
        </a:p>
      </dsp:txBody>
      <dsp:txXfrm>
        <a:off x="0" y="1296761"/>
        <a:ext cx="5604997" cy="1294863"/>
      </dsp:txXfrm>
    </dsp:sp>
    <dsp:sp modelId="{36B4FF3E-9FA4-4109-8D9F-BE77DB5BEF55}">
      <dsp:nvSpPr>
        <dsp:cNvPr id="0" name=""/>
        <dsp:cNvSpPr/>
      </dsp:nvSpPr>
      <dsp:spPr>
        <a:xfrm>
          <a:off x="0" y="2591625"/>
          <a:ext cx="5604997"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F567175-D4EF-416B-B543-03CF31460ACF}">
      <dsp:nvSpPr>
        <dsp:cNvPr id="0" name=""/>
        <dsp:cNvSpPr/>
      </dsp:nvSpPr>
      <dsp:spPr>
        <a:xfrm>
          <a:off x="0" y="2591625"/>
          <a:ext cx="5604997" cy="1294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rtl="0">
            <a:lnSpc>
              <a:spcPct val="90000"/>
            </a:lnSpc>
            <a:spcBef>
              <a:spcPct val="0"/>
            </a:spcBef>
            <a:spcAft>
              <a:spcPct val="35000"/>
            </a:spcAft>
            <a:buNone/>
          </a:pPr>
          <a:r>
            <a:rPr lang="en-US" sz="1700" kern="1200"/>
            <a:t>Palghar – Fishing industry (sea food packaging, processing and exports), horticulture, handlooms, manufacturing industries (production, assembly line) etc.</a:t>
          </a:r>
          <a:endParaRPr lang="en-US" sz="1700" kern="1200">
            <a:latin typeface="Sagona Book"/>
          </a:endParaRPr>
        </a:p>
      </dsp:txBody>
      <dsp:txXfrm>
        <a:off x="0" y="2591625"/>
        <a:ext cx="5604997" cy="129486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6827F3-71CF-469C-89E4-2B45E79B50BD}">
      <dsp:nvSpPr>
        <dsp:cNvPr id="0" name=""/>
        <dsp:cNvSpPr/>
      </dsp:nvSpPr>
      <dsp:spPr>
        <a:xfrm>
          <a:off x="0" y="512"/>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723752-2987-433E-8F9A-14715ECD1EF5}">
      <dsp:nvSpPr>
        <dsp:cNvPr id="0" name=""/>
        <dsp:cNvSpPr/>
      </dsp:nvSpPr>
      <dsp:spPr>
        <a:xfrm>
          <a:off x="0" y="512"/>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What is your current employment status?</a:t>
          </a:r>
        </a:p>
      </dsp:txBody>
      <dsp:txXfrm>
        <a:off x="0" y="512"/>
        <a:ext cx="10515600" cy="419377"/>
      </dsp:txXfrm>
    </dsp:sp>
    <dsp:sp modelId="{880DBE24-896F-4B02-8370-6761BEE6BA25}">
      <dsp:nvSpPr>
        <dsp:cNvPr id="0" name=""/>
        <dsp:cNvSpPr/>
      </dsp:nvSpPr>
      <dsp:spPr>
        <a:xfrm>
          <a:off x="0" y="419889"/>
          <a:ext cx="10515600" cy="0"/>
        </a:xfrm>
        <a:prstGeom prst="line">
          <a:avLst/>
        </a:prstGeom>
        <a:solidFill>
          <a:schemeClr val="accent2">
            <a:hueOff val="330770"/>
            <a:satOff val="-1375"/>
            <a:lumOff val="-1133"/>
            <a:alphaOff val="0"/>
          </a:schemeClr>
        </a:solidFill>
        <a:ln w="12700" cap="flat" cmpd="sng" algn="ctr">
          <a:solidFill>
            <a:schemeClr val="accent2">
              <a:hueOff val="330770"/>
              <a:satOff val="-1375"/>
              <a:lumOff val="-113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8B6C47-C90C-4EAE-97A7-39558BF801F3}">
      <dsp:nvSpPr>
        <dsp:cNvPr id="0" name=""/>
        <dsp:cNvSpPr/>
      </dsp:nvSpPr>
      <dsp:spPr>
        <a:xfrm>
          <a:off x="0" y="419889"/>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Have you ever been employed in the past?</a:t>
          </a:r>
        </a:p>
      </dsp:txBody>
      <dsp:txXfrm>
        <a:off x="0" y="419889"/>
        <a:ext cx="10515600" cy="419377"/>
      </dsp:txXfrm>
    </dsp:sp>
    <dsp:sp modelId="{96E1B29F-5E35-49F2-9320-686BBBF49ACD}">
      <dsp:nvSpPr>
        <dsp:cNvPr id="0" name=""/>
        <dsp:cNvSpPr/>
      </dsp:nvSpPr>
      <dsp:spPr>
        <a:xfrm>
          <a:off x="0" y="839266"/>
          <a:ext cx="10515600" cy="0"/>
        </a:xfrm>
        <a:prstGeom prst="line">
          <a:avLst/>
        </a:prstGeom>
        <a:solidFill>
          <a:schemeClr val="accent2">
            <a:hueOff val="661540"/>
            <a:satOff val="-2750"/>
            <a:lumOff val="-2266"/>
            <a:alphaOff val="0"/>
          </a:schemeClr>
        </a:solidFill>
        <a:ln w="12700" cap="flat" cmpd="sng" algn="ctr">
          <a:solidFill>
            <a:schemeClr val="accent2">
              <a:hueOff val="661540"/>
              <a:satOff val="-2750"/>
              <a:lumOff val="-226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3F79BA-6C43-4D1D-8E28-E75F6AF10829}">
      <dsp:nvSpPr>
        <dsp:cNvPr id="0" name=""/>
        <dsp:cNvSpPr/>
      </dsp:nvSpPr>
      <dsp:spPr>
        <a:xfrm>
          <a:off x="0" y="839266"/>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If yes, what type of work have you done in the past?</a:t>
          </a:r>
        </a:p>
      </dsp:txBody>
      <dsp:txXfrm>
        <a:off x="0" y="839266"/>
        <a:ext cx="10515600" cy="419377"/>
      </dsp:txXfrm>
    </dsp:sp>
    <dsp:sp modelId="{2249509B-6CAE-4074-8792-9B8AEF7D9934}">
      <dsp:nvSpPr>
        <dsp:cNvPr id="0" name=""/>
        <dsp:cNvSpPr/>
      </dsp:nvSpPr>
      <dsp:spPr>
        <a:xfrm>
          <a:off x="0" y="1258643"/>
          <a:ext cx="10515600" cy="0"/>
        </a:xfrm>
        <a:prstGeom prst="line">
          <a:avLst/>
        </a:prstGeom>
        <a:solidFill>
          <a:schemeClr val="accent2">
            <a:hueOff val="992310"/>
            <a:satOff val="-4125"/>
            <a:lumOff val="-3399"/>
            <a:alphaOff val="0"/>
          </a:schemeClr>
        </a:solidFill>
        <a:ln w="12700" cap="flat" cmpd="sng" algn="ctr">
          <a:solidFill>
            <a:schemeClr val="accent2">
              <a:hueOff val="992310"/>
              <a:satOff val="-4125"/>
              <a:lumOff val="-339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29A88A-E836-4833-A970-4A19A8072F1A}">
      <dsp:nvSpPr>
        <dsp:cNvPr id="0" name=""/>
        <dsp:cNvSpPr/>
      </dsp:nvSpPr>
      <dsp:spPr>
        <a:xfrm>
          <a:off x="0" y="1258643"/>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rtl="0">
            <a:lnSpc>
              <a:spcPct val="90000"/>
            </a:lnSpc>
            <a:spcBef>
              <a:spcPct val="0"/>
            </a:spcBef>
            <a:spcAft>
              <a:spcPct val="35000"/>
            </a:spcAft>
            <a:buNone/>
          </a:pPr>
          <a:r>
            <a:rPr lang="en-US" sz="1300" kern="1200"/>
            <a:t>Are there any obstacles you face in finding employment in </a:t>
          </a:r>
          <a:r>
            <a:rPr lang="en-US" sz="1300" kern="1200">
              <a:latin typeface="Sagona Book"/>
            </a:rPr>
            <a:t>your area</a:t>
          </a:r>
          <a:r>
            <a:rPr lang="en-US" sz="1300" kern="1200"/>
            <a:t>?</a:t>
          </a:r>
        </a:p>
      </dsp:txBody>
      <dsp:txXfrm>
        <a:off x="0" y="1258643"/>
        <a:ext cx="10515600" cy="419377"/>
      </dsp:txXfrm>
    </dsp:sp>
    <dsp:sp modelId="{BF68E9A4-84FE-44DE-AD11-DB6E3DDCC335}">
      <dsp:nvSpPr>
        <dsp:cNvPr id="0" name=""/>
        <dsp:cNvSpPr/>
      </dsp:nvSpPr>
      <dsp:spPr>
        <a:xfrm>
          <a:off x="0" y="1678020"/>
          <a:ext cx="10515600" cy="0"/>
        </a:xfrm>
        <a:prstGeom prst="line">
          <a:avLst/>
        </a:prstGeom>
        <a:solidFill>
          <a:schemeClr val="accent2">
            <a:hueOff val="1323080"/>
            <a:satOff val="-5500"/>
            <a:lumOff val="-4532"/>
            <a:alphaOff val="0"/>
          </a:schemeClr>
        </a:solidFill>
        <a:ln w="12700" cap="flat" cmpd="sng" algn="ctr">
          <a:solidFill>
            <a:schemeClr val="accent2">
              <a:hueOff val="1323080"/>
              <a:satOff val="-5500"/>
              <a:lumOff val="-453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7211ED-3E06-42DD-9D72-990FD7A947C2}">
      <dsp:nvSpPr>
        <dsp:cNvPr id="0" name=""/>
        <dsp:cNvSpPr/>
      </dsp:nvSpPr>
      <dsp:spPr>
        <a:xfrm>
          <a:off x="0" y="1678020"/>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latin typeface="Sagona Book"/>
            </a:rPr>
            <a:t>What</a:t>
          </a:r>
          <a:r>
            <a:rPr lang="en-US" sz="1300" kern="1200"/>
            <a:t> type of employment opportunities are available to women in your community?</a:t>
          </a:r>
        </a:p>
      </dsp:txBody>
      <dsp:txXfrm>
        <a:off x="0" y="1678020"/>
        <a:ext cx="10515600" cy="419377"/>
      </dsp:txXfrm>
    </dsp:sp>
    <dsp:sp modelId="{4898CE5E-93D8-4E88-975C-95447A286928}">
      <dsp:nvSpPr>
        <dsp:cNvPr id="0" name=""/>
        <dsp:cNvSpPr/>
      </dsp:nvSpPr>
      <dsp:spPr>
        <a:xfrm>
          <a:off x="0" y="2097397"/>
          <a:ext cx="10515600" cy="0"/>
        </a:xfrm>
        <a:prstGeom prst="line">
          <a:avLst/>
        </a:prstGeom>
        <a:solidFill>
          <a:schemeClr val="accent2">
            <a:hueOff val="1653851"/>
            <a:satOff val="-6875"/>
            <a:lumOff val="-5664"/>
            <a:alphaOff val="0"/>
          </a:schemeClr>
        </a:solidFill>
        <a:ln w="12700" cap="flat" cmpd="sng" algn="ctr">
          <a:solidFill>
            <a:schemeClr val="accent2">
              <a:hueOff val="1653851"/>
              <a:satOff val="-6875"/>
              <a:lumOff val="-566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526D7E-E40D-45A0-B0A3-9754FDC8044F}">
      <dsp:nvSpPr>
        <dsp:cNvPr id="0" name=""/>
        <dsp:cNvSpPr/>
      </dsp:nvSpPr>
      <dsp:spPr>
        <a:xfrm>
          <a:off x="0" y="2097397"/>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rtl="0">
            <a:lnSpc>
              <a:spcPct val="90000"/>
            </a:lnSpc>
            <a:spcBef>
              <a:spcPct val="0"/>
            </a:spcBef>
            <a:spcAft>
              <a:spcPct val="35000"/>
            </a:spcAft>
            <a:buNone/>
          </a:pPr>
          <a:r>
            <a:rPr lang="en-US" sz="1300" kern="1200"/>
            <a:t>Are there any specific industries or businesses that you would like to see in your rural community to create job opportunities?</a:t>
          </a:r>
          <a:endParaRPr lang="en-US" sz="1300" kern="1200">
            <a:latin typeface="Sagona Book"/>
          </a:endParaRPr>
        </a:p>
      </dsp:txBody>
      <dsp:txXfrm>
        <a:off x="0" y="2097397"/>
        <a:ext cx="10515600" cy="419377"/>
      </dsp:txXfrm>
    </dsp:sp>
    <dsp:sp modelId="{62479441-3920-437B-A254-AF2F22665498}">
      <dsp:nvSpPr>
        <dsp:cNvPr id="0" name=""/>
        <dsp:cNvSpPr/>
      </dsp:nvSpPr>
      <dsp:spPr>
        <a:xfrm>
          <a:off x="0" y="2516774"/>
          <a:ext cx="10515600" cy="0"/>
        </a:xfrm>
        <a:prstGeom prst="line">
          <a:avLst/>
        </a:prstGeom>
        <a:solidFill>
          <a:schemeClr val="accent2">
            <a:hueOff val="1984621"/>
            <a:satOff val="-8250"/>
            <a:lumOff val="-6797"/>
            <a:alphaOff val="0"/>
          </a:schemeClr>
        </a:solidFill>
        <a:ln w="12700" cap="flat" cmpd="sng" algn="ctr">
          <a:solidFill>
            <a:schemeClr val="accent2">
              <a:hueOff val="1984621"/>
              <a:satOff val="-8250"/>
              <a:lumOff val="-679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C866A2-AEB1-4425-969A-9459A4A6382C}">
      <dsp:nvSpPr>
        <dsp:cNvPr id="0" name=""/>
        <dsp:cNvSpPr/>
      </dsp:nvSpPr>
      <dsp:spPr>
        <a:xfrm>
          <a:off x="0" y="2516774"/>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rtl="0">
            <a:lnSpc>
              <a:spcPct val="90000"/>
            </a:lnSpc>
            <a:spcBef>
              <a:spcPct val="0"/>
            </a:spcBef>
            <a:spcAft>
              <a:spcPct val="35000"/>
            </a:spcAft>
            <a:buNone/>
          </a:pPr>
          <a:r>
            <a:rPr lang="en-US" sz="1300" kern="1200"/>
            <a:t>Are there any flexible work arrangements, such as part-time or remote work, that would make it easier for you to maintain employment?</a:t>
          </a:r>
          <a:endParaRPr lang="en-US" sz="1300" kern="1200">
            <a:latin typeface="Sagona Book"/>
          </a:endParaRPr>
        </a:p>
      </dsp:txBody>
      <dsp:txXfrm>
        <a:off x="0" y="2516774"/>
        <a:ext cx="10515600" cy="419377"/>
      </dsp:txXfrm>
    </dsp:sp>
    <dsp:sp modelId="{DB0EB800-AA8B-4F84-AFC0-A58CCD87AFFA}">
      <dsp:nvSpPr>
        <dsp:cNvPr id="0" name=""/>
        <dsp:cNvSpPr/>
      </dsp:nvSpPr>
      <dsp:spPr>
        <a:xfrm>
          <a:off x="0" y="2936151"/>
          <a:ext cx="10515600" cy="0"/>
        </a:xfrm>
        <a:prstGeom prst="line">
          <a:avLst/>
        </a:prstGeom>
        <a:solidFill>
          <a:schemeClr val="accent2">
            <a:hueOff val="2315391"/>
            <a:satOff val="-9625"/>
            <a:lumOff val="-7930"/>
            <a:alphaOff val="0"/>
          </a:schemeClr>
        </a:solidFill>
        <a:ln w="12700" cap="flat" cmpd="sng" algn="ctr">
          <a:solidFill>
            <a:schemeClr val="accent2">
              <a:hueOff val="2315391"/>
              <a:satOff val="-9625"/>
              <a:lumOff val="-79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22670F-909C-47D8-917D-FA0D0A680E0A}">
      <dsp:nvSpPr>
        <dsp:cNvPr id="0" name=""/>
        <dsp:cNvSpPr/>
      </dsp:nvSpPr>
      <dsp:spPr>
        <a:xfrm>
          <a:off x="0" y="2936151"/>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How would having a job impact your daily life and financial situation?</a:t>
          </a:r>
        </a:p>
      </dsp:txBody>
      <dsp:txXfrm>
        <a:off x="0" y="2936151"/>
        <a:ext cx="10515600" cy="419377"/>
      </dsp:txXfrm>
    </dsp:sp>
    <dsp:sp modelId="{2691589A-7DF1-4542-A386-00F7FA269134}">
      <dsp:nvSpPr>
        <dsp:cNvPr id="0" name=""/>
        <dsp:cNvSpPr/>
      </dsp:nvSpPr>
      <dsp:spPr>
        <a:xfrm>
          <a:off x="0" y="3355528"/>
          <a:ext cx="10515600" cy="0"/>
        </a:xfrm>
        <a:prstGeom prst="line">
          <a:avLst/>
        </a:prstGeom>
        <a:solidFill>
          <a:schemeClr val="accent2">
            <a:hueOff val="2646161"/>
            <a:satOff val="-11000"/>
            <a:lumOff val="-9063"/>
            <a:alphaOff val="0"/>
          </a:schemeClr>
        </a:solidFill>
        <a:ln w="12700" cap="flat" cmpd="sng" algn="ctr">
          <a:solidFill>
            <a:schemeClr val="accent2">
              <a:hueOff val="2646161"/>
              <a:satOff val="-11000"/>
              <a:lumOff val="-906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E8068D-81B2-40DE-9B43-23C189AA1255}">
      <dsp:nvSpPr>
        <dsp:cNvPr id="0" name=""/>
        <dsp:cNvSpPr/>
      </dsp:nvSpPr>
      <dsp:spPr>
        <a:xfrm>
          <a:off x="0" y="3355528"/>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rtl="0">
            <a:lnSpc>
              <a:spcPct val="90000"/>
            </a:lnSpc>
            <a:spcBef>
              <a:spcPct val="0"/>
            </a:spcBef>
            <a:spcAft>
              <a:spcPct val="35000"/>
            </a:spcAft>
            <a:buNone/>
          </a:pPr>
          <a:r>
            <a:rPr lang="en-US" sz="1300" kern="1200"/>
            <a:t>Do you have access to technology and the internet to </a:t>
          </a:r>
          <a:r>
            <a:rPr lang="en-US" sz="1300" kern="1200">
              <a:latin typeface="Sagona Book"/>
            </a:rPr>
            <a:t>search</a:t>
          </a:r>
          <a:r>
            <a:rPr lang="en-US" sz="1300" kern="1200"/>
            <a:t> and apply for jobs?</a:t>
          </a:r>
          <a:endParaRPr lang="en-US" sz="1300" kern="1200">
            <a:latin typeface="Sagona Book"/>
          </a:endParaRPr>
        </a:p>
      </dsp:txBody>
      <dsp:txXfrm>
        <a:off x="0" y="3355528"/>
        <a:ext cx="10515600" cy="419377"/>
      </dsp:txXfrm>
    </dsp:sp>
    <dsp:sp modelId="{8682C5E4-D5F6-4885-931F-55CCCA5E249C}">
      <dsp:nvSpPr>
        <dsp:cNvPr id="0" name=""/>
        <dsp:cNvSpPr/>
      </dsp:nvSpPr>
      <dsp:spPr>
        <a:xfrm>
          <a:off x="0" y="3774905"/>
          <a:ext cx="10515600" cy="0"/>
        </a:xfrm>
        <a:prstGeom prst="line">
          <a:avLst/>
        </a:prstGeom>
        <a:solidFill>
          <a:schemeClr val="accent2">
            <a:hueOff val="2976931"/>
            <a:satOff val="-12375"/>
            <a:lumOff val="-10196"/>
            <a:alphaOff val="0"/>
          </a:schemeClr>
        </a:solidFill>
        <a:ln w="12700" cap="flat" cmpd="sng" algn="ctr">
          <a:solidFill>
            <a:schemeClr val="accent2">
              <a:hueOff val="2976931"/>
              <a:satOff val="-12375"/>
              <a:lumOff val="-10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0E8C6F-902C-4813-B561-2B37EF41CF28}">
      <dsp:nvSpPr>
        <dsp:cNvPr id="0" name=""/>
        <dsp:cNvSpPr/>
      </dsp:nvSpPr>
      <dsp:spPr>
        <a:xfrm>
          <a:off x="0" y="3774905"/>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Have you faced discrimination or barriers in the job market due to gender, race, or other factors?</a:t>
          </a:r>
        </a:p>
      </dsp:txBody>
      <dsp:txXfrm>
        <a:off x="0" y="3774905"/>
        <a:ext cx="10515600" cy="41937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00F685-BDE4-486B-9449-74641EB377F0}">
      <dsp:nvSpPr>
        <dsp:cNvPr id="0" name=""/>
        <dsp:cNvSpPr/>
      </dsp:nvSpPr>
      <dsp:spPr>
        <a:xfrm>
          <a:off x="0" y="512"/>
          <a:ext cx="105156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3DC56E-0FE2-4D02-94E9-324D670F301C}">
      <dsp:nvSpPr>
        <dsp:cNvPr id="0" name=""/>
        <dsp:cNvSpPr/>
      </dsp:nvSpPr>
      <dsp:spPr>
        <a:xfrm>
          <a:off x="0" y="512"/>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rtl="0">
            <a:lnSpc>
              <a:spcPct val="90000"/>
            </a:lnSpc>
            <a:spcBef>
              <a:spcPct val="0"/>
            </a:spcBef>
            <a:spcAft>
              <a:spcPct val="35000"/>
            </a:spcAft>
            <a:buNone/>
          </a:pPr>
          <a:r>
            <a:rPr lang="en-US" sz="1200" kern="1200"/>
            <a:t>Are there any resources or services in your community that would help you overcome these barriers?</a:t>
          </a:r>
        </a:p>
      </dsp:txBody>
      <dsp:txXfrm>
        <a:off x="0" y="512"/>
        <a:ext cx="10515600" cy="419377"/>
      </dsp:txXfrm>
    </dsp:sp>
    <dsp:sp modelId="{FEDD9E3E-8E6C-47C9-9DD2-95FD146420DD}">
      <dsp:nvSpPr>
        <dsp:cNvPr id="0" name=""/>
        <dsp:cNvSpPr/>
      </dsp:nvSpPr>
      <dsp:spPr>
        <a:xfrm>
          <a:off x="0" y="419889"/>
          <a:ext cx="10515600" cy="0"/>
        </a:xfrm>
        <a:prstGeom prst="line">
          <a:avLst/>
        </a:prstGeom>
        <a:solidFill>
          <a:schemeClr val="accent5">
            <a:hueOff val="166167"/>
            <a:satOff val="-25"/>
            <a:lumOff val="-610"/>
            <a:alphaOff val="0"/>
          </a:schemeClr>
        </a:solidFill>
        <a:ln w="12700" cap="flat" cmpd="sng" algn="ctr">
          <a:solidFill>
            <a:schemeClr val="accent5">
              <a:hueOff val="166167"/>
              <a:satOff val="-25"/>
              <a:lumOff val="-61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2AB5DE-DD01-48A6-BABB-48291C5625C2}">
      <dsp:nvSpPr>
        <dsp:cNvPr id="0" name=""/>
        <dsp:cNvSpPr/>
      </dsp:nvSpPr>
      <dsp:spPr>
        <a:xfrm>
          <a:off x="0" y="419889"/>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rtl="0">
            <a:lnSpc>
              <a:spcPct val="90000"/>
            </a:lnSpc>
            <a:spcBef>
              <a:spcPct val="0"/>
            </a:spcBef>
            <a:spcAft>
              <a:spcPct val="35000"/>
            </a:spcAft>
            <a:buNone/>
          </a:pPr>
          <a:r>
            <a:rPr lang="en-US" sz="1200" kern="1200"/>
            <a:t>Are there any specific skills or qualifications that are necessary for women to obtain employment in your community?</a:t>
          </a:r>
          <a:endParaRPr lang="en-US" sz="1200" kern="1200">
            <a:latin typeface="Sagona Book"/>
          </a:endParaRPr>
        </a:p>
      </dsp:txBody>
      <dsp:txXfrm>
        <a:off x="0" y="419889"/>
        <a:ext cx="10515600" cy="419377"/>
      </dsp:txXfrm>
    </dsp:sp>
    <dsp:sp modelId="{C31CEF42-DCCC-4F0E-81F0-0E350A498C69}">
      <dsp:nvSpPr>
        <dsp:cNvPr id="0" name=""/>
        <dsp:cNvSpPr/>
      </dsp:nvSpPr>
      <dsp:spPr>
        <a:xfrm>
          <a:off x="0" y="839266"/>
          <a:ext cx="10515600" cy="0"/>
        </a:xfrm>
        <a:prstGeom prst="line">
          <a:avLst/>
        </a:prstGeom>
        <a:solidFill>
          <a:schemeClr val="accent5">
            <a:hueOff val="332335"/>
            <a:satOff val="-51"/>
            <a:lumOff val="-1220"/>
            <a:alphaOff val="0"/>
          </a:schemeClr>
        </a:solidFill>
        <a:ln w="12700" cap="flat" cmpd="sng" algn="ctr">
          <a:solidFill>
            <a:schemeClr val="accent5">
              <a:hueOff val="332335"/>
              <a:satOff val="-51"/>
              <a:lumOff val="-122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0929E7-B964-4347-A9F5-4094F8C678B7}">
      <dsp:nvSpPr>
        <dsp:cNvPr id="0" name=""/>
        <dsp:cNvSpPr/>
      </dsp:nvSpPr>
      <dsp:spPr>
        <a:xfrm>
          <a:off x="0" y="839266"/>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Do you think government policies and programs aimed at promoting women's employment in rural areas are effective?</a:t>
          </a:r>
        </a:p>
      </dsp:txBody>
      <dsp:txXfrm>
        <a:off x="0" y="839266"/>
        <a:ext cx="10515600" cy="419377"/>
      </dsp:txXfrm>
    </dsp:sp>
    <dsp:sp modelId="{A55C106B-D013-4C5B-A414-B7430EB3D065}">
      <dsp:nvSpPr>
        <dsp:cNvPr id="0" name=""/>
        <dsp:cNvSpPr/>
      </dsp:nvSpPr>
      <dsp:spPr>
        <a:xfrm>
          <a:off x="0" y="1258643"/>
          <a:ext cx="10515600" cy="0"/>
        </a:xfrm>
        <a:prstGeom prst="line">
          <a:avLst/>
        </a:prstGeom>
        <a:solidFill>
          <a:schemeClr val="accent5">
            <a:hueOff val="498503"/>
            <a:satOff val="-76"/>
            <a:lumOff val="-1830"/>
            <a:alphaOff val="0"/>
          </a:schemeClr>
        </a:solidFill>
        <a:ln w="12700" cap="flat" cmpd="sng" algn="ctr">
          <a:solidFill>
            <a:schemeClr val="accent5">
              <a:hueOff val="498503"/>
              <a:satOff val="-76"/>
              <a:lumOff val="-18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71E420-1C83-4ABB-B5A9-7CF23B19DF66}">
      <dsp:nvSpPr>
        <dsp:cNvPr id="0" name=""/>
        <dsp:cNvSpPr/>
      </dsp:nvSpPr>
      <dsp:spPr>
        <a:xfrm>
          <a:off x="0" y="1258643"/>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rtl="0">
            <a:lnSpc>
              <a:spcPct val="90000"/>
            </a:lnSpc>
            <a:spcBef>
              <a:spcPct val="0"/>
            </a:spcBef>
            <a:spcAft>
              <a:spcPct val="35000"/>
            </a:spcAft>
            <a:buNone/>
          </a:pPr>
          <a:r>
            <a:rPr lang="en-US" sz="1200" kern="1200"/>
            <a:t>What changes do you think are needed to improve employment opportunities for women in rural areas?</a:t>
          </a:r>
        </a:p>
      </dsp:txBody>
      <dsp:txXfrm>
        <a:off x="0" y="1258643"/>
        <a:ext cx="10515600" cy="419377"/>
      </dsp:txXfrm>
    </dsp:sp>
    <dsp:sp modelId="{28437814-74FF-4C28-8468-C7A165927879}">
      <dsp:nvSpPr>
        <dsp:cNvPr id="0" name=""/>
        <dsp:cNvSpPr/>
      </dsp:nvSpPr>
      <dsp:spPr>
        <a:xfrm>
          <a:off x="0" y="1678020"/>
          <a:ext cx="10515600" cy="0"/>
        </a:xfrm>
        <a:prstGeom prst="line">
          <a:avLst/>
        </a:prstGeom>
        <a:solidFill>
          <a:schemeClr val="accent5">
            <a:hueOff val="664670"/>
            <a:satOff val="-101"/>
            <a:lumOff val="-2440"/>
            <a:alphaOff val="0"/>
          </a:schemeClr>
        </a:solidFill>
        <a:ln w="12700" cap="flat" cmpd="sng" algn="ctr">
          <a:solidFill>
            <a:schemeClr val="accent5">
              <a:hueOff val="664670"/>
              <a:satOff val="-101"/>
              <a:lumOff val="-244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52A3AE-612A-43FE-811D-1B9A5B269115}">
      <dsp:nvSpPr>
        <dsp:cNvPr id="0" name=""/>
        <dsp:cNvSpPr/>
      </dsp:nvSpPr>
      <dsp:spPr>
        <a:xfrm>
          <a:off x="0" y="1678020"/>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rtl="0">
            <a:lnSpc>
              <a:spcPct val="90000"/>
            </a:lnSpc>
            <a:spcBef>
              <a:spcPct val="0"/>
            </a:spcBef>
            <a:spcAft>
              <a:spcPct val="35000"/>
            </a:spcAft>
            <a:buNone/>
          </a:pPr>
          <a:r>
            <a:rPr lang="en-US" sz="1200" kern="1200"/>
            <a:t>In your opinion, what are the benefits of increased women's employment in rural areas?</a:t>
          </a:r>
        </a:p>
      </dsp:txBody>
      <dsp:txXfrm>
        <a:off x="0" y="1678020"/>
        <a:ext cx="10515600" cy="419377"/>
      </dsp:txXfrm>
    </dsp:sp>
    <dsp:sp modelId="{49AFA53E-BC15-4145-8194-F9245F939C92}">
      <dsp:nvSpPr>
        <dsp:cNvPr id="0" name=""/>
        <dsp:cNvSpPr/>
      </dsp:nvSpPr>
      <dsp:spPr>
        <a:xfrm>
          <a:off x="0" y="2097397"/>
          <a:ext cx="10515600" cy="0"/>
        </a:xfrm>
        <a:prstGeom prst="line">
          <a:avLst/>
        </a:prstGeom>
        <a:solidFill>
          <a:schemeClr val="accent5">
            <a:hueOff val="830838"/>
            <a:satOff val="-127"/>
            <a:lumOff val="-3051"/>
            <a:alphaOff val="0"/>
          </a:schemeClr>
        </a:solidFill>
        <a:ln w="12700" cap="flat" cmpd="sng" algn="ctr">
          <a:solidFill>
            <a:schemeClr val="accent5">
              <a:hueOff val="830838"/>
              <a:satOff val="-127"/>
              <a:lumOff val="-30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8B9A6E-CD0D-4006-89B4-CA62616EF3F0}">
      <dsp:nvSpPr>
        <dsp:cNvPr id="0" name=""/>
        <dsp:cNvSpPr/>
      </dsp:nvSpPr>
      <dsp:spPr>
        <a:xfrm>
          <a:off x="0" y="2097397"/>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rtl="0">
            <a:lnSpc>
              <a:spcPct val="90000"/>
            </a:lnSpc>
            <a:spcBef>
              <a:spcPct val="0"/>
            </a:spcBef>
            <a:spcAft>
              <a:spcPct val="35000"/>
            </a:spcAft>
            <a:buNone/>
          </a:pPr>
          <a:r>
            <a:rPr lang="en-US" sz="1200" kern="1200"/>
            <a:t>Have you received any training or education to improve your job skills or employment prospects</a:t>
          </a:r>
          <a:r>
            <a:rPr lang="en-US" sz="1200" kern="1200">
              <a:latin typeface="Sagona Book"/>
            </a:rPr>
            <a:t>? If yes, </a:t>
          </a:r>
          <a:r>
            <a:rPr lang="en-US" sz="1200" kern="1200"/>
            <a:t>was the training or education provided by the government or the private sector?</a:t>
          </a:r>
        </a:p>
      </dsp:txBody>
      <dsp:txXfrm>
        <a:off x="0" y="2097397"/>
        <a:ext cx="10515600" cy="419377"/>
      </dsp:txXfrm>
    </dsp:sp>
    <dsp:sp modelId="{02EAEF10-B471-4E49-B34D-2F75A0517025}">
      <dsp:nvSpPr>
        <dsp:cNvPr id="0" name=""/>
        <dsp:cNvSpPr/>
      </dsp:nvSpPr>
      <dsp:spPr>
        <a:xfrm>
          <a:off x="0" y="2516774"/>
          <a:ext cx="10515600" cy="0"/>
        </a:xfrm>
        <a:prstGeom prst="line">
          <a:avLst/>
        </a:prstGeom>
        <a:solidFill>
          <a:schemeClr val="accent5">
            <a:hueOff val="997005"/>
            <a:satOff val="-152"/>
            <a:lumOff val="-3661"/>
            <a:alphaOff val="0"/>
          </a:schemeClr>
        </a:solidFill>
        <a:ln w="12700" cap="flat" cmpd="sng" algn="ctr">
          <a:solidFill>
            <a:schemeClr val="accent5">
              <a:hueOff val="997005"/>
              <a:satOff val="-152"/>
              <a:lumOff val="-36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CC35FA-3ED2-4EB3-B4C9-B038F4380994}">
      <dsp:nvSpPr>
        <dsp:cNvPr id="0" name=""/>
        <dsp:cNvSpPr/>
      </dsp:nvSpPr>
      <dsp:spPr>
        <a:xfrm>
          <a:off x="0" y="2516774"/>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rtl="0">
            <a:lnSpc>
              <a:spcPct val="90000"/>
            </a:lnSpc>
            <a:spcBef>
              <a:spcPct val="0"/>
            </a:spcBef>
            <a:spcAft>
              <a:spcPct val="35000"/>
            </a:spcAft>
            <a:buNone/>
          </a:pPr>
          <a:r>
            <a:rPr lang="en-US" sz="1200" kern="1200"/>
            <a:t>Do you think that access to childcare services is a barrier to women's employment in rural</a:t>
          </a:r>
        </a:p>
      </dsp:txBody>
      <dsp:txXfrm>
        <a:off x="0" y="2516774"/>
        <a:ext cx="10515600" cy="419377"/>
      </dsp:txXfrm>
    </dsp:sp>
    <dsp:sp modelId="{72802289-DF0B-4EE7-9034-554B1DC5C999}">
      <dsp:nvSpPr>
        <dsp:cNvPr id="0" name=""/>
        <dsp:cNvSpPr/>
      </dsp:nvSpPr>
      <dsp:spPr>
        <a:xfrm>
          <a:off x="0" y="2936151"/>
          <a:ext cx="10515600" cy="0"/>
        </a:xfrm>
        <a:prstGeom prst="line">
          <a:avLst/>
        </a:prstGeom>
        <a:solidFill>
          <a:schemeClr val="accent5">
            <a:hueOff val="1163173"/>
            <a:satOff val="-177"/>
            <a:lumOff val="-4271"/>
            <a:alphaOff val="0"/>
          </a:schemeClr>
        </a:solidFill>
        <a:ln w="12700" cap="flat" cmpd="sng" algn="ctr">
          <a:solidFill>
            <a:schemeClr val="accent5">
              <a:hueOff val="1163173"/>
              <a:satOff val="-177"/>
              <a:lumOff val="-42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ACDA6A-E267-4A76-BC83-BF6A3955D021}">
      <dsp:nvSpPr>
        <dsp:cNvPr id="0" name=""/>
        <dsp:cNvSpPr/>
      </dsp:nvSpPr>
      <dsp:spPr>
        <a:xfrm>
          <a:off x="0" y="2936151"/>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rtl="0">
            <a:lnSpc>
              <a:spcPct val="90000"/>
            </a:lnSpc>
            <a:spcBef>
              <a:spcPct val="0"/>
            </a:spcBef>
            <a:spcAft>
              <a:spcPct val="35000"/>
            </a:spcAft>
            <a:buNone/>
          </a:pPr>
          <a:r>
            <a:rPr lang="en-US" sz="1200" kern="1200"/>
            <a:t>Have you ever faced discrimination or harassment in the workplace?</a:t>
          </a:r>
        </a:p>
      </dsp:txBody>
      <dsp:txXfrm>
        <a:off x="0" y="2936151"/>
        <a:ext cx="10515600" cy="419377"/>
      </dsp:txXfrm>
    </dsp:sp>
    <dsp:sp modelId="{891A501D-1171-4F4E-B87E-F411F7BDC9F0}">
      <dsp:nvSpPr>
        <dsp:cNvPr id="0" name=""/>
        <dsp:cNvSpPr/>
      </dsp:nvSpPr>
      <dsp:spPr>
        <a:xfrm>
          <a:off x="0" y="3355528"/>
          <a:ext cx="10515600" cy="0"/>
        </a:xfrm>
        <a:prstGeom prst="line">
          <a:avLst/>
        </a:prstGeom>
        <a:solidFill>
          <a:schemeClr val="accent5">
            <a:hueOff val="1329340"/>
            <a:satOff val="-203"/>
            <a:lumOff val="-4881"/>
            <a:alphaOff val="0"/>
          </a:schemeClr>
        </a:solidFill>
        <a:ln w="12700" cap="flat" cmpd="sng" algn="ctr">
          <a:solidFill>
            <a:schemeClr val="accent5">
              <a:hueOff val="1329340"/>
              <a:satOff val="-203"/>
              <a:lumOff val="-48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3EC666-E80A-44CA-B58B-732E7F5EDDDD}">
      <dsp:nvSpPr>
        <dsp:cNvPr id="0" name=""/>
        <dsp:cNvSpPr/>
      </dsp:nvSpPr>
      <dsp:spPr>
        <a:xfrm>
          <a:off x="0" y="3355528"/>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Have you ever attempted to start your own business or become an entrepreneur? If Yes, what challenges did you face in starting your own business ?</a:t>
          </a:r>
        </a:p>
      </dsp:txBody>
      <dsp:txXfrm>
        <a:off x="0" y="3355528"/>
        <a:ext cx="10515600" cy="419377"/>
      </dsp:txXfrm>
    </dsp:sp>
    <dsp:sp modelId="{232D6E1C-8EF8-4ABC-ABE3-01DF738C7132}">
      <dsp:nvSpPr>
        <dsp:cNvPr id="0" name=""/>
        <dsp:cNvSpPr/>
      </dsp:nvSpPr>
      <dsp:spPr>
        <a:xfrm>
          <a:off x="0" y="3774905"/>
          <a:ext cx="10515600" cy="0"/>
        </a:xfrm>
        <a:prstGeom prst="line">
          <a:avLst/>
        </a:prstGeom>
        <a:solidFill>
          <a:schemeClr val="accent5">
            <a:hueOff val="1495508"/>
            <a:satOff val="-228"/>
            <a:lumOff val="-5491"/>
            <a:alphaOff val="0"/>
          </a:schemeClr>
        </a:solidFill>
        <a:ln w="12700" cap="flat" cmpd="sng" algn="ctr">
          <a:solidFill>
            <a:schemeClr val="accent5">
              <a:hueOff val="1495508"/>
              <a:satOff val="-228"/>
              <a:lumOff val="-549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04DE9-1F56-4C97-B494-3E7E0B35A12E}">
      <dsp:nvSpPr>
        <dsp:cNvPr id="0" name=""/>
        <dsp:cNvSpPr/>
      </dsp:nvSpPr>
      <dsp:spPr>
        <a:xfrm>
          <a:off x="0" y="3774905"/>
          <a:ext cx="10515600" cy="419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Have you noticed any changes in the employment or entrepreneurship opportunities for women in your community in the last 5 years? If yes, what type of support did you receive and was it helpful in starting your business</a:t>
          </a:r>
        </a:p>
      </dsp:txBody>
      <dsp:txXfrm>
        <a:off x="0" y="3774905"/>
        <a:ext cx="10515600" cy="41937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D45827-D5F8-4486-983C-CBB4BDC65180}">
      <dsp:nvSpPr>
        <dsp:cNvPr id="0" name=""/>
        <dsp:cNvSpPr/>
      </dsp:nvSpPr>
      <dsp:spPr>
        <a:xfrm>
          <a:off x="0" y="313870"/>
          <a:ext cx="10623061" cy="7909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IN" sz="1300" kern="1200">
              <a:latin typeface="Calibri"/>
              <a:cs typeface="Calibri"/>
            </a:rPr>
            <a:t>Descriptive Statistics: Descriptive statistics will be used to summarize the demographic characteristics of the sample and to describe the experiences and perspectives of the women on the barriers to employment. This will include measures of central tendency (mean, median, mode) and dispersion (standard deviation) for demographic variables and frequencies for categorical variables related to barriers to employment.</a:t>
          </a:r>
          <a:endParaRPr lang="en-US" sz="1300" kern="1200"/>
        </a:p>
      </dsp:txBody>
      <dsp:txXfrm>
        <a:off x="38610" y="352480"/>
        <a:ext cx="10545841" cy="713700"/>
      </dsp:txXfrm>
    </dsp:sp>
    <dsp:sp modelId="{B057879B-AF3D-4B33-BB0F-79B88D140164}">
      <dsp:nvSpPr>
        <dsp:cNvPr id="0" name=""/>
        <dsp:cNvSpPr/>
      </dsp:nvSpPr>
      <dsp:spPr>
        <a:xfrm>
          <a:off x="0" y="1142230"/>
          <a:ext cx="10623061" cy="790920"/>
        </a:xfrm>
        <a:prstGeom prst="roundRect">
          <a:avLst/>
        </a:prstGeom>
        <a:solidFill>
          <a:schemeClr val="accent5">
            <a:hueOff val="373877"/>
            <a:satOff val="-57"/>
            <a:lumOff val="-1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IN" sz="1300" kern="1200">
              <a:latin typeface="Calibri"/>
              <a:cs typeface="Calibri"/>
            </a:rPr>
            <a:t>Inferential Statistics: Inferential statistics will be used to test hypotheses about the relationships between variables. For example, a t-test may be used to compare the mean education level of employed women to the mean education level of unemployed women. A chi-squared test may be used to examine the association between access to transportation and employment status</a:t>
          </a:r>
          <a:endParaRPr lang="en-US" sz="1300" kern="1200"/>
        </a:p>
      </dsp:txBody>
      <dsp:txXfrm>
        <a:off x="38610" y="1180840"/>
        <a:ext cx="10545841" cy="713700"/>
      </dsp:txXfrm>
    </dsp:sp>
    <dsp:sp modelId="{F256CE3B-1DF8-450B-91DE-8DE901B34A80}">
      <dsp:nvSpPr>
        <dsp:cNvPr id="0" name=""/>
        <dsp:cNvSpPr/>
      </dsp:nvSpPr>
      <dsp:spPr>
        <a:xfrm>
          <a:off x="0" y="1970590"/>
          <a:ext cx="10623061" cy="790920"/>
        </a:xfrm>
        <a:prstGeom prst="roundRect">
          <a:avLst/>
        </a:prstGeom>
        <a:solidFill>
          <a:schemeClr val="accent5">
            <a:hueOff val="747754"/>
            <a:satOff val="-114"/>
            <a:lumOff val="-27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IN" sz="1300" kern="1200">
              <a:latin typeface="Calibri"/>
              <a:cs typeface="Calibri"/>
            </a:rPr>
            <a:t>Thematic Analysis: Thematic analysis will be conducted on the qualitative data collected from the in-person interviews, online surveys, focus groups, and observations. This will involve coding the data into themes and patterns related to the barriers to employment</a:t>
          </a:r>
          <a:endParaRPr lang="en-US" sz="1300" kern="1200"/>
        </a:p>
      </dsp:txBody>
      <dsp:txXfrm>
        <a:off x="38610" y="2009200"/>
        <a:ext cx="10545841" cy="713700"/>
      </dsp:txXfrm>
    </dsp:sp>
    <dsp:sp modelId="{69A3BD40-E5E1-4FEF-83BC-6C0C46B64DD6}">
      <dsp:nvSpPr>
        <dsp:cNvPr id="0" name=""/>
        <dsp:cNvSpPr/>
      </dsp:nvSpPr>
      <dsp:spPr>
        <a:xfrm>
          <a:off x="0" y="2798950"/>
          <a:ext cx="10623061" cy="790920"/>
        </a:xfrm>
        <a:prstGeom prst="roundRect">
          <a:avLst/>
        </a:prstGeom>
        <a:solidFill>
          <a:schemeClr val="accent5">
            <a:hueOff val="1121631"/>
            <a:satOff val="-171"/>
            <a:lumOff val="-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IN" sz="1300" kern="1200"/>
            <a:t>Content Analysis: Content analysis will be conducted on secondary data sources to identify trends and patterns related to the barriers to employment in rural India.</a:t>
          </a:r>
          <a:endParaRPr lang="en-US" sz="1300" kern="1200"/>
        </a:p>
      </dsp:txBody>
      <dsp:txXfrm>
        <a:off x="38610" y="2837560"/>
        <a:ext cx="10545841" cy="713700"/>
      </dsp:txXfrm>
    </dsp:sp>
    <dsp:sp modelId="{4D187FA6-E62B-440E-89AB-761B9A0F52A6}">
      <dsp:nvSpPr>
        <dsp:cNvPr id="0" name=""/>
        <dsp:cNvSpPr/>
      </dsp:nvSpPr>
      <dsp:spPr>
        <a:xfrm>
          <a:off x="0" y="3627311"/>
          <a:ext cx="10623061" cy="790920"/>
        </a:xfrm>
        <a:prstGeom prst="roundRect">
          <a:avLst/>
        </a:prstGeom>
        <a:solidFill>
          <a:schemeClr val="accent5">
            <a:hueOff val="1495508"/>
            <a:satOff val="-228"/>
            <a:lumOff val="-54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IN" sz="1300" kern="1200"/>
            <a:t>Triangulation: The data collected from multiple sources and methods will be triangulated to increase the validity and reliability of the findings. For example, findings from the in-person interviews will be compared to the findings from the online surveys to ensure that the results are consistent</a:t>
          </a:r>
          <a:endParaRPr lang="en-US" sz="1300" kern="1200"/>
        </a:p>
      </dsp:txBody>
      <dsp:txXfrm>
        <a:off x="38610" y="3665921"/>
        <a:ext cx="10545841" cy="7137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765FF-2F64-497A-8719-7DEB417488B1}">
      <dsp:nvSpPr>
        <dsp:cNvPr id="0" name=""/>
        <dsp:cNvSpPr/>
      </dsp:nvSpPr>
      <dsp:spPr>
        <a:xfrm>
          <a:off x="0" y="132737"/>
          <a:ext cx="10982090" cy="76985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IN" sz="1400" kern="1200">
              <a:latin typeface="Calibri"/>
              <a:cs typeface="Calibri"/>
            </a:rPr>
            <a:t>Data Presentation: The data collected from the study will be presented in a clear and concise manner using tables, graphs, and charts. Descriptive statistics will be used to summarize the demographic characteristics of the sample and to describe the experiences and perspectives of the women on the barriers to employment. Inferential statistics will be used to test hypotheses about the relationships between variables.</a:t>
          </a:r>
          <a:endParaRPr lang="en-US" sz="1400" kern="1200"/>
        </a:p>
      </dsp:txBody>
      <dsp:txXfrm>
        <a:off x="37581" y="170318"/>
        <a:ext cx="10906928" cy="694697"/>
      </dsp:txXfrm>
    </dsp:sp>
    <dsp:sp modelId="{45F630CA-280A-414D-845F-B82C04BC13EB}">
      <dsp:nvSpPr>
        <dsp:cNvPr id="0" name=""/>
        <dsp:cNvSpPr/>
      </dsp:nvSpPr>
      <dsp:spPr>
        <a:xfrm>
          <a:off x="0" y="942917"/>
          <a:ext cx="10982090" cy="769859"/>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a:latin typeface="Calibri"/>
              <a:cs typeface="Calibri"/>
            </a:rPr>
            <a:t>Findings: The findings from the study will be reported in a clear and concise manner and will focus on the key barriers to women's employment in rural India. The findings will be supported by the data collected from the study and will be compared to the relevant literature.</a:t>
          </a:r>
          <a:endParaRPr lang="en-US" sz="1400" kern="1200"/>
        </a:p>
      </dsp:txBody>
      <dsp:txXfrm>
        <a:off x="37581" y="980498"/>
        <a:ext cx="10906928" cy="694697"/>
      </dsp:txXfrm>
    </dsp:sp>
    <dsp:sp modelId="{FEF22EC6-615B-4959-A641-4B7A315D7BFF}">
      <dsp:nvSpPr>
        <dsp:cNvPr id="0" name=""/>
        <dsp:cNvSpPr/>
      </dsp:nvSpPr>
      <dsp:spPr>
        <a:xfrm>
          <a:off x="0" y="1753097"/>
          <a:ext cx="10982090" cy="769859"/>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a:latin typeface="Calibri"/>
              <a:cs typeface="Calibri"/>
            </a:rPr>
            <a:t>Discussion: The discussion will interpret the findings of the study and will provide insights into the experiences and perspectives of the women on the barriers to employment. The discussion will highlight the implications of the findings for policies and programs aimed at addressing the barriers to employment in rural India.</a:t>
          </a:r>
          <a:endParaRPr lang="en-US" sz="1400" kern="1200"/>
        </a:p>
      </dsp:txBody>
      <dsp:txXfrm>
        <a:off x="37581" y="1790678"/>
        <a:ext cx="10906928" cy="694697"/>
      </dsp:txXfrm>
    </dsp:sp>
    <dsp:sp modelId="{71C7723B-8BE1-4359-89B5-63E83FC34A8D}">
      <dsp:nvSpPr>
        <dsp:cNvPr id="0" name=""/>
        <dsp:cNvSpPr/>
      </dsp:nvSpPr>
      <dsp:spPr>
        <a:xfrm>
          <a:off x="0" y="2563277"/>
          <a:ext cx="10982090" cy="76985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IN" sz="1400" kern="1200"/>
            <a:t>Recommendations: The study will conclude with recommendations for addressing the barriers to women's employment in rural India. These recommendations will be based on the findings of the study and will be informed by the relevant literature. The recommendations will be targeted at policy-makers, employers, and other stakeholders in the rural areas of India.</a:t>
          </a:r>
        </a:p>
      </dsp:txBody>
      <dsp:txXfrm>
        <a:off x="37581" y="2600858"/>
        <a:ext cx="10906928" cy="694697"/>
      </dsp:txXfrm>
    </dsp:sp>
    <dsp:sp modelId="{FBAE6B5E-839D-49C1-B280-355F431AADCC}">
      <dsp:nvSpPr>
        <dsp:cNvPr id="0" name=""/>
        <dsp:cNvSpPr/>
      </dsp:nvSpPr>
      <dsp:spPr>
        <a:xfrm>
          <a:off x="0" y="3373457"/>
          <a:ext cx="10982090" cy="769859"/>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a:t>Limitations: The study will acknowledge the limitations of the data collected and the methods used. The limitations will be discussed in detail and will provide insights into areas for future research.</a:t>
          </a:r>
        </a:p>
      </dsp:txBody>
      <dsp:txXfrm>
        <a:off x="37581" y="3411038"/>
        <a:ext cx="10906928" cy="69469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57165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11258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01236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466130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81682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907482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39463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114531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11137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062822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2/8/2023</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800697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137205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2217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69340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1476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678648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53000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51050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771901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460425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736649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26245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solidFill>
                  <a:schemeClr val="tx1">
                    <a:lumMod val="65000"/>
                    <a:lumOff val="35000"/>
                  </a:schemeClr>
                </a:solidFill>
                <a:latin typeface="AvenirNext LT Pro Medium" panose="020B0504020202020204" pitchFamily="34" charset="0"/>
              </a:rPr>
              <a:t> </a:t>
            </a: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solidFill>
                  <a:schemeClr val="tx1">
                    <a:lumMod val="65000"/>
                    <a:lumOff val="35000"/>
                  </a:schemeClr>
                </a:solidFill>
                <a:latin typeface="AvenirNext LT Pro Medium" panose="020B0504020202020204" pitchFamily="34" charset="0"/>
              </a:rPr>
              <a:t> </a:t>
            </a: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2/8/2023</a:t>
            </a:fld>
            <a:endParaRPr lang="en-US"/>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7701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2/8/2023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95751463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 name="Rectangle 40">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92" name="Rectangle 42">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93" name="Top Left">
            <a:extLst>
              <a:ext uri="{FF2B5EF4-FFF2-40B4-BE49-F238E27FC236}">
                <a16:creationId xmlns:a16="http://schemas.microsoft.com/office/drawing/2014/main" id="{F99A87B6-0764-47AD-BF24-B54A16F944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6" name="Freeform: Shape 45">
              <a:extLst>
                <a:ext uri="{FF2B5EF4-FFF2-40B4-BE49-F238E27FC236}">
                  <a16:creationId xmlns:a16="http://schemas.microsoft.com/office/drawing/2014/main" id="{C50E14B7-3770-407C-A359-030533E14B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94" name="Freeform: Shape 46">
              <a:extLst>
                <a:ext uri="{FF2B5EF4-FFF2-40B4-BE49-F238E27FC236}">
                  <a16:creationId xmlns:a16="http://schemas.microsoft.com/office/drawing/2014/main" id="{4F5BFEC0-D7AC-4F30-9697-1A7804BE7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1D47A7E9-69C2-466A-8E0A-1E82502C7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37B64B2C-0074-40A5-AD7B-10234F367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B4EAC4AF-90F7-4D5B-9D52-8B5CC855B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FC772208-699E-460A-B31E-D49D3EFE3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899AB563-7EE7-4EB1-A6C7-E885E4774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2A4ABF96-0400-4F13-B053-5AB9AB2902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2" name="Title"/>
          <p:cNvSpPr>
            <a:spLocks noGrp="1"/>
          </p:cNvSpPr>
          <p:nvPr>
            <p:ph type="ctrTitle"/>
          </p:nvPr>
        </p:nvSpPr>
        <p:spPr>
          <a:xfrm>
            <a:off x="1005653" y="744909"/>
            <a:ext cx="4798447" cy="3155419"/>
          </a:xfrm>
        </p:spPr>
        <p:txBody>
          <a:bodyPr anchor="b">
            <a:normAutofit/>
          </a:bodyPr>
          <a:lstStyle/>
          <a:p>
            <a:pPr algn="l"/>
            <a:r>
              <a:rPr lang="en-US" sz="5400"/>
              <a:t>GLOBAL CITIZEN LEADERSHIP</a:t>
            </a:r>
          </a:p>
        </p:txBody>
      </p:sp>
      <p:pic>
        <p:nvPicPr>
          <p:cNvPr id="3" name="Picture 2">
            <a:extLst>
              <a:ext uri="{FF2B5EF4-FFF2-40B4-BE49-F238E27FC236}">
                <a16:creationId xmlns:a16="http://schemas.microsoft.com/office/drawing/2014/main" id="{B2C92CCC-A4D0-4C08-0BE9-6E669B447FB9}"/>
              </a:ext>
            </a:extLst>
          </p:cNvPr>
          <p:cNvPicPr>
            <a:picLocks noChangeAspect="1"/>
          </p:cNvPicPr>
          <p:nvPr/>
        </p:nvPicPr>
        <p:blipFill rotWithShape="1">
          <a:blip r:embed="rId2"/>
          <a:srcRect l="27954" r="11971"/>
          <a:stretch/>
        </p:blipFill>
        <p:spPr>
          <a:xfrm>
            <a:off x="5996628" y="10"/>
            <a:ext cx="6195372" cy="6857990"/>
          </a:xfrm>
          <a:prstGeom prst="rect">
            <a:avLst/>
          </a:prstGeom>
        </p:spPr>
      </p:pic>
      <p:grpSp>
        <p:nvGrpSpPr>
          <p:cNvPr id="55" name="Cross">
            <a:extLst>
              <a:ext uri="{FF2B5EF4-FFF2-40B4-BE49-F238E27FC236}">
                <a16:creationId xmlns:a16="http://schemas.microsoft.com/office/drawing/2014/main" id="{5C0E6139-8A19-4905-87E2-E547D7B7F1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37192" y="3369564"/>
            <a:ext cx="118872" cy="118872"/>
            <a:chOff x="1175347" y="3733800"/>
            <a:chExt cx="118872" cy="118872"/>
          </a:xfrm>
        </p:grpSpPr>
        <p:cxnSp>
          <p:nvCxnSpPr>
            <p:cNvPr id="95" name="Straight Connector 55">
              <a:extLst>
                <a:ext uri="{FF2B5EF4-FFF2-40B4-BE49-F238E27FC236}">
                  <a16:creationId xmlns:a16="http://schemas.microsoft.com/office/drawing/2014/main" id="{BC05FFBD-B86A-4BD3-A147-FA95CE03CF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7" name="Straight Connector 56">
              <a:extLst>
                <a:ext uri="{FF2B5EF4-FFF2-40B4-BE49-F238E27FC236}">
                  <a16:creationId xmlns:a16="http://schemas.microsoft.com/office/drawing/2014/main" id="{EB69F8B1-78FB-4562-8A0D-8D29636755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grpSp>
        <p:nvGrpSpPr>
          <p:cNvPr id="59" name="Bottom Right">
            <a:extLst>
              <a:ext uri="{FF2B5EF4-FFF2-40B4-BE49-F238E27FC236}">
                <a16:creationId xmlns:a16="http://schemas.microsoft.com/office/drawing/2014/main" id="{EE8A2E90-75F0-4F59-AE03-FE737F410E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96" name="Graphic 157">
              <a:extLst>
                <a:ext uri="{FF2B5EF4-FFF2-40B4-BE49-F238E27FC236}">
                  <a16:creationId xmlns:a16="http://schemas.microsoft.com/office/drawing/2014/main" id="{291613E8-1172-4437-97E9-F15A295649C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2" name="Freeform: Shape 61">
                <a:extLst>
                  <a:ext uri="{FF2B5EF4-FFF2-40B4-BE49-F238E27FC236}">
                    <a16:creationId xmlns:a16="http://schemas.microsoft.com/office/drawing/2014/main" id="{CE1404A3-DA0A-451F-80F9-341A400102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6D9F30DE-11BA-476B-B25D-CED39DBB6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253755C4-9D54-4D38-856A-7D1D31BC46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F2D176F7-5471-4C65-B496-F05544AF3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E3541E62-142A-4078-8B35-723AF8B13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B2037584-8C21-4B8F-9EC5-5F978F32ED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318287BF-F368-4F91-A36C-A729B478EF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1" name="Freeform: Shape 60">
              <a:extLst>
                <a:ext uri="{FF2B5EF4-FFF2-40B4-BE49-F238E27FC236}">
                  <a16:creationId xmlns:a16="http://schemas.microsoft.com/office/drawing/2014/main" id="{A54A80ED-1507-4424-AE0D-E8B52DAC01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TextBox 3">
            <a:extLst>
              <a:ext uri="{FF2B5EF4-FFF2-40B4-BE49-F238E27FC236}">
                <a16:creationId xmlns:a16="http://schemas.microsoft.com/office/drawing/2014/main" id="{05789E9D-618C-6D3D-75AA-E8994EA02F71}"/>
              </a:ext>
            </a:extLst>
          </p:cNvPr>
          <p:cNvSpPr txBox="1"/>
          <p:nvPr/>
        </p:nvSpPr>
        <p:spPr>
          <a:xfrm>
            <a:off x="209314" y="5406888"/>
            <a:ext cx="4886202" cy="1015663"/>
          </a:xfrm>
          <a:prstGeom prst="rect">
            <a:avLst/>
          </a:prstGeom>
          <a:noFill/>
        </p:spPr>
        <p:txBody>
          <a:bodyPr wrap="square" rtlCol="0">
            <a:spAutoFit/>
          </a:bodyPr>
          <a:lstStyle/>
          <a:p>
            <a:r>
              <a:rPr lang="en-IN" sz="2000" dirty="0"/>
              <a:t>Submitted to :</a:t>
            </a:r>
          </a:p>
          <a:p>
            <a:r>
              <a:rPr lang="en-IN" sz="2000" b="0" i="0" dirty="0" err="1">
                <a:solidFill>
                  <a:srgbClr val="444444"/>
                </a:solidFill>
                <a:effectLst/>
                <a:latin typeface="Calibri" panose="020F0502020204030204" pitchFamily="34" charset="0"/>
              </a:rPr>
              <a:t>Dr.</a:t>
            </a:r>
            <a:r>
              <a:rPr lang="en-IN" sz="2000" b="0" i="0" dirty="0">
                <a:solidFill>
                  <a:srgbClr val="444444"/>
                </a:solidFill>
                <a:effectLst/>
                <a:latin typeface="Calibri" panose="020F0502020204030204" pitchFamily="34" charset="0"/>
              </a:rPr>
              <a:t> Vandana Pawar</a:t>
            </a:r>
          </a:p>
          <a:p>
            <a:r>
              <a:rPr lang="en-IN" sz="2000" b="0" i="0" dirty="0">
                <a:solidFill>
                  <a:srgbClr val="444444"/>
                </a:solidFill>
                <a:effectLst/>
                <a:latin typeface="Calibri" panose="020F0502020204030204" pitchFamily="34" charset="0"/>
              </a:rPr>
              <a:t>Prof. </a:t>
            </a:r>
            <a:r>
              <a:rPr lang="en-IN" sz="2000" b="0" i="0" dirty="0" err="1">
                <a:solidFill>
                  <a:srgbClr val="444444"/>
                </a:solidFill>
                <a:effectLst/>
                <a:latin typeface="Calibri" panose="020F0502020204030204" pitchFamily="34" charset="0"/>
              </a:rPr>
              <a:t>Tanushree</a:t>
            </a:r>
            <a:r>
              <a:rPr lang="en-IN" sz="2000" b="0" i="0" dirty="0">
                <a:solidFill>
                  <a:srgbClr val="444444"/>
                </a:solidFill>
                <a:effectLst/>
                <a:latin typeface="Calibri" panose="020F0502020204030204" pitchFamily="34" charset="0"/>
              </a:rPr>
              <a:t> B.</a:t>
            </a:r>
            <a:endParaRPr lang="en-IN" sz="2000" dirty="0"/>
          </a:p>
        </p:txBody>
      </p:sp>
    </p:spTree>
    <p:extLst>
      <p:ext uri="{BB962C8B-B14F-4D97-AF65-F5344CB8AC3E}">
        <p14:creationId xmlns:p14="http://schemas.microsoft.com/office/powerpoint/2010/main" val="66793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19">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a:extLst>
              <a:ext uri="{FF2B5EF4-FFF2-40B4-BE49-F238E27FC236}">
                <a16:creationId xmlns:a16="http://schemas.microsoft.com/office/drawing/2014/main" id="{047758D9-3C26-EABE-2E08-C38ECEC8209F}"/>
              </a:ext>
            </a:extLst>
          </p:cNvPr>
          <p:cNvPicPr>
            <a:picLocks noGrp="1" noChangeAspect="1"/>
          </p:cNvPicPr>
          <p:nvPr>
            <p:ph idx="1"/>
          </p:nvPr>
        </p:nvPicPr>
        <p:blipFill>
          <a:blip r:embed="rId2"/>
          <a:stretch>
            <a:fillRect/>
          </a:stretch>
        </p:blipFill>
        <p:spPr>
          <a:xfrm>
            <a:off x="990600" y="1333885"/>
            <a:ext cx="10134600" cy="4129849"/>
          </a:xfrm>
          <a:prstGeom prst="rect">
            <a:avLst/>
          </a:prstGeom>
        </p:spPr>
      </p:pic>
    </p:spTree>
    <p:extLst>
      <p:ext uri="{BB962C8B-B14F-4D97-AF65-F5344CB8AC3E}">
        <p14:creationId xmlns:p14="http://schemas.microsoft.com/office/powerpoint/2010/main" val="1069018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B5C56B-B889-E158-408A-8CC217642584}"/>
              </a:ext>
            </a:extLst>
          </p:cNvPr>
          <p:cNvSpPr>
            <a:spLocks noGrp="1"/>
          </p:cNvSpPr>
          <p:nvPr>
            <p:ph type="body" idx="1"/>
          </p:nvPr>
        </p:nvSpPr>
        <p:spPr>
          <a:xfrm>
            <a:off x="468557" y="704240"/>
            <a:ext cx="5157787" cy="823912"/>
          </a:xfrm>
        </p:spPr>
        <p:txBody>
          <a:bodyPr>
            <a:normAutofit/>
          </a:bodyPr>
          <a:lstStyle/>
          <a:p>
            <a:r>
              <a:rPr lang="en-US" sz="2800" b="0">
                <a:latin typeface="Sagona Book"/>
                <a:cs typeface="Arial"/>
              </a:rPr>
              <a:t>Mission</a:t>
            </a:r>
            <a:endParaRPr lang="en-US" sz="2800" b="0">
              <a:latin typeface="Sagona Book"/>
            </a:endParaRPr>
          </a:p>
        </p:txBody>
      </p:sp>
      <p:sp>
        <p:nvSpPr>
          <p:cNvPr id="4" name="Content Placeholder 3">
            <a:extLst>
              <a:ext uri="{FF2B5EF4-FFF2-40B4-BE49-F238E27FC236}">
                <a16:creationId xmlns:a16="http://schemas.microsoft.com/office/drawing/2014/main" id="{FEB678D6-627B-8135-7D4B-8C6B954F5B81}"/>
              </a:ext>
            </a:extLst>
          </p:cNvPr>
          <p:cNvSpPr>
            <a:spLocks noGrp="1"/>
          </p:cNvSpPr>
          <p:nvPr>
            <p:ph sz="half" idx="2"/>
          </p:nvPr>
        </p:nvSpPr>
        <p:spPr>
          <a:xfrm>
            <a:off x="302480" y="1694229"/>
            <a:ext cx="5157787" cy="3684588"/>
          </a:xfrm>
        </p:spPr>
        <p:txBody>
          <a:bodyPr vert="horz" lIns="91440" tIns="45720" rIns="91440" bIns="45720" rtlCol="0" anchor="t">
            <a:normAutofit/>
          </a:bodyPr>
          <a:lstStyle/>
          <a:p>
            <a:pPr marL="0" indent="0">
              <a:buNone/>
            </a:pPr>
            <a:r>
              <a:rPr lang="en-US">
                <a:ea typeface="+mn-lt"/>
                <a:cs typeface="+mn-lt"/>
              </a:rPr>
              <a:t> </a:t>
            </a:r>
            <a:r>
              <a:rPr lang="en-US" sz="1800">
                <a:ea typeface="+mn-lt"/>
                <a:cs typeface="+mn-lt"/>
              </a:rPr>
              <a:t>To identify and analyze the barriers preventing women from participating in the workforce and to develop and implement solutions to eliminate these barriers and promote gender equality in the workplace.</a:t>
            </a:r>
            <a:endParaRPr lang="en-US" sz="1800"/>
          </a:p>
        </p:txBody>
      </p:sp>
      <p:sp>
        <p:nvSpPr>
          <p:cNvPr id="5" name="Text Placeholder 4">
            <a:extLst>
              <a:ext uri="{FF2B5EF4-FFF2-40B4-BE49-F238E27FC236}">
                <a16:creationId xmlns:a16="http://schemas.microsoft.com/office/drawing/2014/main" id="{5272D96B-8B15-4425-6386-7C860BF1A44F}"/>
              </a:ext>
            </a:extLst>
          </p:cNvPr>
          <p:cNvSpPr>
            <a:spLocks noGrp="1"/>
          </p:cNvSpPr>
          <p:nvPr>
            <p:ph type="body" sz="quarter" idx="3"/>
          </p:nvPr>
        </p:nvSpPr>
        <p:spPr>
          <a:xfrm>
            <a:off x="291123" y="3732701"/>
            <a:ext cx="5183188" cy="823912"/>
          </a:xfrm>
        </p:spPr>
        <p:txBody>
          <a:bodyPr/>
          <a:lstStyle/>
          <a:p>
            <a:r>
              <a:rPr lang="en-US" b="0">
                <a:latin typeface="Sagona Book"/>
                <a:cs typeface="Arial"/>
              </a:rPr>
              <a:t>Vision</a:t>
            </a:r>
            <a:r>
              <a:rPr lang="en-US">
                <a:cs typeface="Arial"/>
              </a:rPr>
              <a:t> </a:t>
            </a:r>
            <a:endParaRPr lang="en-US"/>
          </a:p>
        </p:txBody>
      </p:sp>
      <p:sp>
        <p:nvSpPr>
          <p:cNvPr id="6" name="Content Placeholder 5">
            <a:extLst>
              <a:ext uri="{FF2B5EF4-FFF2-40B4-BE49-F238E27FC236}">
                <a16:creationId xmlns:a16="http://schemas.microsoft.com/office/drawing/2014/main" id="{70032C38-470F-ADBE-BB7D-1320388DF43B}"/>
              </a:ext>
            </a:extLst>
          </p:cNvPr>
          <p:cNvSpPr>
            <a:spLocks noGrp="1"/>
          </p:cNvSpPr>
          <p:nvPr>
            <p:ph sz="quarter" idx="4"/>
          </p:nvPr>
        </p:nvSpPr>
        <p:spPr>
          <a:xfrm>
            <a:off x="330200" y="4595690"/>
            <a:ext cx="5183188" cy="2150819"/>
          </a:xfrm>
        </p:spPr>
        <p:txBody>
          <a:bodyPr vert="horz" lIns="91440" tIns="45720" rIns="91440" bIns="45720" rtlCol="0" anchor="t">
            <a:normAutofit/>
          </a:bodyPr>
          <a:lstStyle/>
          <a:p>
            <a:pPr marL="0" indent="0">
              <a:buNone/>
            </a:pPr>
            <a:r>
              <a:rPr lang="en-US" sz="1800">
                <a:ea typeface="+mn-lt"/>
                <a:cs typeface="+mn-lt"/>
              </a:rPr>
              <a:t>A world where women have equal opportunities to participate in the workforce, are respected and valued for their contributions, and are able to reach their full potential in their careers.</a:t>
            </a:r>
            <a:endParaRPr lang="en-US" sz="1800"/>
          </a:p>
        </p:txBody>
      </p:sp>
    </p:spTree>
    <p:extLst>
      <p:ext uri="{BB962C8B-B14F-4D97-AF65-F5344CB8AC3E}">
        <p14:creationId xmlns:p14="http://schemas.microsoft.com/office/powerpoint/2010/main" val="817666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AE4DF-B5D1-3B11-1A60-5FEB494602E2}"/>
              </a:ext>
            </a:extLst>
          </p:cNvPr>
          <p:cNvSpPr>
            <a:spLocks noGrp="1"/>
          </p:cNvSpPr>
          <p:nvPr>
            <p:ph type="title"/>
          </p:nvPr>
        </p:nvSpPr>
        <p:spPr>
          <a:xfrm>
            <a:off x="838200" y="1469048"/>
            <a:ext cx="10515600" cy="3269639"/>
          </a:xfrm>
        </p:spPr>
        <p:txBody>
          <a:bodyPr>
            <a:normAutofit/>
          </a:bodyPr>
          <a:lstStyle/>
          <a:p>
            <a:pPr algn="ctr"/>
            <a:r>
              <a:rPr lang="en-US" dirty="0">
                <a:ea typeface="+mj-lt"/>
                <a:cs typeface="+mj-lt"/>
              </a:rPr>
              <a:t>Problem Statement :</a:t>
            </a:r>
            <a:br>
              <a:rPr lang="en-US" dirty="0">
                <a:ea typeface="+mj-lt"/>
                <a:cs typeface="+mj-lt"/>
              </a:rPr>
            </a:br>
            <a:r>
              <a:rPr lang="en-US" dirty="0">
                <a:ea typeface="+mj-lt"/>
                <a:cs typeface="+mj-lt"/>
              </a:rPr>
              <a:t>Analyse What are the barriers of  Women Employment in Rural India</a:t>
            </a:r>
            <a:br>
              <a:rPr lang="en-US" dirty="0">
                <a:ea typeface="+mj-lt"/>
                <a:cs typeface="+mj-lt"/>
              </a:rPr>
            </a:br>
            <a:r>
              <a:rPr lang="en-US" sz="3200" dirty="0"/>
              <a:t>( Team </a:t>
            </a:r>
            <a:r>
              <a:rPr lang="en-US" sz="3200" dirty="0" err="1"/>
              <a:t>Mejora</a:t>
            </a:r>
            <a:r>
              <a:rPr lang="en-US" sz="3200" dirty="0"/>
              <a:t> )</a:t>
            </a:r>
            <a:endParaRPr lang="en-US" dirty="0" err="1"/>
          </a:p>
        </p:txBody>
      </p:sp>
    </p:spTree>
    <p:extLst>
      <p:ext uri="{BB962C8B-B14F-4D97-AF65-F5344CB8AC3E}">
        <p14:creationId xmlns:p14="http://schemas.microsoft.com/office/powerpoint/2010/main" val="4270291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5"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6" name="Freeform: Shape 11">
            <a:extLst>
              <a:ext uri="{FF2B5EF4-FFF2-40B4-BE49-F238E27FC236}">
                <a16:creationId xmlns:a16="http://schemas.microsoft.com/office/drawing/2014/main" id="{E1053F4E-9FA5-4F7B-9769-047E79535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55F4BBBF-C9DC-479F-A1BE-FF850DEBBE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5" name="Freeform: Shape 14">
              <a:extLst>
                <a:ext uri="{FF2B5EF4-FFF2-40B4-BE49-F238E27FC236}">
                  <a16:creationId xmlns:a16="http://schemas.microsoft.com/office/drawing/2014/main" id="{492A23A5-A076-4C15-95E6-C18381238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78C4B48C-21BD-4F29-BC00-08E0F6916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96DFE4EE-5E3B-4031-ADF0-45EFF61D2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FC71B4D1-F553-4359-836B-EC80786F0D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16C83396-4984-4487-9688-52E2316C06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CC0422EB-AFD9-49D7-8C46-C4104EF41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43E51B9A-644C-400F-AB14-E15356DBAB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27A50115-BC4C-FA50-D9D6-13CE95E18251}"/>
              </a:ext>
            </a:extLst>
          </p:cNvPr>
          <p:cNvSpPr>
            <a:spLocks noGrp="1"/>
          </p:cNvSpPr>
          <p:nvPr>
            <p:ph type="title"/>
          </p:nvPr>
        </p:nvSpPr>
        <p:spPr>
          <a:xfrm>
            <a:off x="1198181" y="559813"/>
            <a:ext cx="8403019" cy="1664573"/>
          </a:xfrm>
        </p:spPr>
        <p:txBody>
          <a:bodyPr>
            <a:normAutofit/>
          </a:bodyPr>
          <a:lstStyle/>
          <a:p>
            <a:r>
              <a:rPr lang="en-US">
                <a:ea typeface="+mj-lt"/>
                <a:cs typeface="+mj-lt"/>
              </a:rPr>
              <a:t>Barriers of women employment in rural India</a:t>
            </a:r>
            <a:endParaRPr lang="en-US"/>
          </a:p>
        </p:txBody>
      </p:sp>
      <p:grpSp>
        <p:nvGrpSpPr>
          <p:cNvPr id="23" name="Bottom Right">
            <a:extLst>
              <a:ext uri="{FF2B5EF4-FFF2-40B4-BE49-F238E27FC236}">
                <a16:creationId xmlns:a16="http://schemas.microsoft.com/office/drawing/2014/main" id="{141BAB31-8928-4D75-ACE2-02B9A560A6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4" name="Freeform: Shape 23">
              <a:extLst>
                <a:ext uri="{FF2B5EF4-FFF2-40B4-BE49-F238E27FC236}">
                  <a16:creationId xmlns:a16="http://schemas.microsoft.com/office/drawing/2014/main" id="{05B0271D-253C-444D-8377-D129153BC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25" name="Graphic 157">
              <a:extLst>
                <a:ext uri="{FF2B5EF4-FFF2-40B4-BE49-F238E27FC236}">
                  <a16:creationId xmlns:a16="http://schemas.microsoft.com/office/drawing/2014/main" id="{A16D60D9-8D7C-415E-9374-57111D22B3B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7"/>
              <a:chOff x="4114800" y="1423987"/>
              <a:chExt cx="3961542" cy="4007547"/>
            </a:xfrm>
            <a:noFill/>
          </p:grpSpPr>
          <p:sp>
            <p:nvSpPr>
              <p:cNvPr id="27" name="Freeform: Shape 26">
                <a:extLst>
                  <a:ext uri="{FF2B5EF4-FFF2-40B4-BE49-F238E27FC236}">
                    <a16:creationId xmlns:a16="http://schemas.microsoft.com/office/drawing/2014/main" id="{534C44BE-02AE-45F2-84CA-698BD9F19C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2D2CDD51-FEE1-4EF4-B149-93F86AF3B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A1F05C76-E0B3-4B36-85E8-080691636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D496DD1A-88F4-434C-A393-7EE56A3E28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BBFCD714-5E1B-4E5D-8D36-143BA93D5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47" name="Freeform: Shape 31">
                <a:extLst>
                  <a:ext uri="{FF2B5EF4-FFF2-40B4-BE49-F238E27FC236}">
                    <a16:creationId xmlns:a16="http://schemas.microsoft.com/office/drawing/2014/main" id="{9BFAD42E-CB70-418B-AD4E-4C9A7986C6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C8A7EA0D-8026-45BF-A0FA-80E335215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6" name="Freeform: Shape 25">
              <a:extLst>
                <a:ext uri="{FF2B5EF4-FFF2-40B4-BE49-F238E27FC236}">
                  <a16:creationId xmlns:a16="http://schemas.microsoft.com/office/drawing/2014/main" id="{9DAC027B-93A4-43BF-A062-345585370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FA8494C3-7388-E181-EDEE-A3B422E622B6}"/>
              </a:ext>
            </a:extLst>
          </p:cNvPr>
          <p:cNvSpPr>
            <a:spLocks noGrp="1"/>
          </p:cNvSpPr>
          <p:nvPr>
            <p:ph idx="1"/>
          </p:nvPr>
        </p:nvSpPr>
        <p:spPr>
          <a:xfrm>
            <a:off x="1185755" y="2384474"/>
            <a:ext cx="8402478" cy="3728613"/>
          </a:xfrm>
        </p:spPr>
        <p:txBody>
          <a:bodyPr vert="horz" lIns="91440" tIns="45720" rIns="91440" bIns="45720" rtlCol="0">
            <a:normAutofit/>
          </a:bodyPr>
          <a:lstStyle/>
          <a:p>
            <a:pPr marL="0" indent="0">
              <a:buNone/>
            </a:pPr>
            <a:r>
              <a:rPr lang="en-US" sz="1800">
                <a:ea typeface="+mn-lt"/>
                <a:cs typeface="+mn-lt"/>
              </a:rPr>
              <a:t>The Government of India collects data on various aspects of women's employment in rural areas through various sources such as the Census of India and the National Sample Survey Organization (NSSO).</a:t>
            </a:r>
          </a:p>
          <a:p>
            <a:pPr marL="0" indent="0">
              <a:buNone/>
            </a:pPr>
            <a:r>
              <a:rPr lang="en-US" sz="1800">
                <a:ea typeface="+mn-lt"/>
                <a:cs typeface="+mn-lt"/>
              </a:rPr>
              <a:t>According to the census data, the female workforce participation rate in rural India was 31.2% in 2011, which is significantly lower than the male workforce participation rate of 82.2%.</a:t>
            </a:r>
            <a:endParaRPr lang="en-US" sz="1800"/>
          </a:p>
        </p:txBody>
      </p:sp>
    </p:spTree>
    <p:extLst>
      <p:ext uri="{BB962C8B-B14F-4D97-AF65-F5344CB8AC3E}">
        <p14:creationId xmlns:p14="http://schemas.microsoft.com/office/powerpoint/2010/main" val="1195033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0" name="Rectangle 3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2" name="Top left">
            <a:extLst>
              <a:ext uri="{FF2B5EF4-FFF2-40B4-BE49-F238E27FC236}">
                <a16:creationId xmlns:a16="http://schemas.microsoft.com/office/drawing/2014/main" id="{F73EC8D8-C118-4A24-B3A2-F22636F209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43" name="Freeform: Shape 42">
              <a:extLst>
                <a:ext uri="{FF2B5EF4-FFF2-40B4-BE49-F238E27FC236}">
                  <a16:creationId xmlns:a16="http://schemas.microsoft.com/office/drawing/2014/main" id="{33A839E4-FE02-4C32-B9F7-07884043E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44" name="Freeform: Shape 43">
              <a:extLst>
                <a:ext uri="{FF2B5EF4-FFF2-40B4-BE49-F238E27FC236}">
                  <a16:creationId xmlns:a16="http://schemas.microsoft.com/office/drawing/2014/main" id="{9C10340A-FCF2-4B86-A53A-4AC07E6CF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Freeform: Shape 44">
              <a:extLst>
                <a:ext uri="{FF2B5EF4-FFF2-40B4-BE49-F238E27FC236}">
                  <a16:creationId xmlns:a16="http://schemas.microsoft.com/office/drawing/2014/main" id="{2E85F37B-D9B1-4701-B54A-A91E836FA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Freeform: Shape 45">
              <a:extLst>
                <a:ext uri="{FF2B5EF4-FFF2-40B4-BE49-F238E27FC236}">
                  <a16:creationId xmlns:a16="http://schemas.microsoft.com/office/drawing/2014/main" id="{227C5295-7462-4E42-B19A-682465F9F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712C31CF-3625-4E9F-99FC-C7AA5BBA88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36EDCF2F-2C4B-4D4B-964F-F640BCDCE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48">
              <a:extLst>
                <a:ext uri="{FF2B5EF4-FFF2-40B4-BE49-F238E27FC236}">
                  <a16:creationId xmlns:a16="http://schemas.microsoft.com/office/drawing/2014/main" id="{21B0354D-2FFC-40F9-91E5-A83DDD770D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Freeform: Shape 49">
              <a:extLst>
                <a:ext uri="{FF2B5EF4-FFF2-40B4-BE49-F238E27FC236}">
                  <a16:creationId xmlns:a16="http://schemas.microsoft.com/office/drawing/2014/main" id="{E4F4CED2-0CA8-4824-93F0-00BE4C7D1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2" y="559813"/>
            <a:ext cx="3980254" cy="5577934"/>
          </a:xfrm>
        </p:spPr>
        <p:txBody>
          <a:bodyPr>
            <a:normAutofit/>
          </a:bodyPr>
          <a:lstStyle/>
          <a:p>
            <a:r>
              <a:rPr lang="en-US" sz="3700"/>
              <a:t>THE BARRIERS TO WOMEN’S EMPLOYMENT IN RURAL INDIA</a:t>
            </a:r>
          </a:p>
        </p:txBody>
      </p:sp>
      <p:grpSp>
        <p:nvGrpSpPr>
          <p:cNvPr id="52" name="Bottom Right">
            <a:extLst>
              <a:ext uri="{FF2B5EF4-FFF2-40B4-BE49-F238E27FC236}">
                <a16:creationId xmlns:a16="http://schemas.microsoft.com/office/drawing/2014/main" id="{3BA0B410-FA41-4CD6-A923-146E029BBB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53" name="Graphic 157">
              <a:extLst>
                <a:ext uri="{FF2B5EF4-FFF2-40B4-BE49-F238E27FC236}">
                  <a16:creationId xmlns:a16="http://schemas.microsoft.com/office/drawing/2014/main" id="{2448B270-CA89-4A7C-8CFC-8237ED03AE1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5"/>
              <a:chOff x="4114800" y="1423987"/>
              <a:chExt cx="3961542" cy="4007547"/>
            </a:xfrm>
            <a:noFill/>
          </p:grpSpPr>
          <p:sp>
            <p:nvSpPr>
              <p:cNvPr id="55" name="Freeform: Shape 54">
                <a:extLst>
                  <a:ext uri="{FF2B5EF4-FFF2-40B4-BE49-F238E27FC236}">
                    <a16:creationId xmlns:a16="http://schemas.microsoft.com/office/drawing/2014/main" id="{BD2ED6FF-1F6E-4BF0-BFFF-5CB8D36F1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Freeform: Shape 55">
                <a:extLst>
                  <a:ext uri="{FF2B5EF4-FFF2-40B4-BE49-F238E27FC236}">
                    <a16:creationId xmlns:a16="http://schemas.microsoft.com/office/drawing/2014/main" id="{2F2CCA35-C35D-416B-A083-A167138A5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Freeform: Shape 56">
                <a:extLst>
                  <a:ext uri="{FF2B5EF4-FFF2-40B4-BE49-F238E27FC236}">
                    <a16:creationId xmlns:a16="http://schemas.microsoft.com/office/drawing/2014/main" id="{70FAEE04-D524-4356-8CFE-091D44ED18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5F641E2E-FB37-449C-96DA-945907C75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283CE73A-E65A-44EA-9C23-C6F2137AFB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41745A30-6979-4D1D-A629-E7C0C6A53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Freeform: Shape 60">
                <a:extLst>
                  <a:ext uri="{FF2B5EF4-FFF2-40B4-BE49-F238E27FC236}">
                    <a16:creationId xmlns:a16="http://schemas.microsoft.com/office/drawing/2014/main" id="{E70C366B-087F-442D-AC20-1319F97A9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4" name="Freeform: Shape 53">
              <a:extLst>
                <a:ext uri="{FF2B5EF4-FFF2-40B4-BE49-F238E27FC236}">
                  <a16:creationId xmlns:a16="http://schemas.microsoft.com/office/drawing/2014/main" id="{1D2F7A6B-9CB6-4AC5-B906-664FC95A17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D451B032-A113-7688-BE40-3C8E813E4179}"/>
              </a:ext>
            </a:extLst>
          </p:cNvPr>
          <p:cNvGraphicFramePr>
            <a:graphicFrameLocks noGrp="1"/>
          </p:cNvGraphicFramePr>
          <p:nvPr>
            <p:ph idx="1"/>
            <p:extLst>
              <p:ext uri="{D42A27DB-BD31-4B8C-83A1-F6EECF244321}">
                <p14:modId xmlns:p14="http://schemas.microsoft.com/office/powerpoint/2010/main" val="2007835270"/>
              </p:ext>
            </p:extLst>
          </p:nvPr>
        </p:nvGraphicFramePr>
        <p:xfrm>
          <a:off x="5408988" y="341165"/>
          <a:ext cx="6173409" cy="58434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5608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0" name="Rectangle 3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2" name="Top left">
            <a:extLst>
              <a:ext uri="{FF2B5EF4-FFF2-40B4-BE49-F238E27FC236}">
                <a16:creationId xmlns:a16="http://schemas.microsoft.com/office/drawing/2014/main" id="{F73EC8D8-C118-4A24-B3A2-F22636F209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43" name="Freeform: Shape 42">
              <a:extLst>
                <a:ext uri="{FF2B5EF4-FFF2-40B4-BE49-F238E27FC236}">
                  <a16:creationId xmlns:a16="http://schemas.microsoft.com/office/drawing/2014/main" id="{33A839E4-FE02-4C32-B9F7-07884043E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44" name="Freeform: Shape 43">
              <a:extLst>
                <a:ext uri="{FF2B5EF4-FFF2-40B4-BE49-F238E27FC236}">
                  <a16:creationId xmlns:a16="http://schemas.microsoft.com/office/drawing/2014/main" id="{9C10340A-FCF2-4B86-A53A-4AC07E6CF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Freeform: Shape 44">
              <a:extLst>
                <a:ext uri="{FF2B5EF4-FFF2-40B4-BE49-F238E27FC236}">
                  <a16:creationId xmlns:a16="http://schemas.microsoft.com/office/drawing/2014/main" id="{2E85F37B-D9B1-4701-B54A-A91E836FA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Freeform: Shape 45">
              <a:extLst>
                <a:ext uri="{FF2B5EF4-FFF2-40B4-BE49-F238E27FC236}">
                  <a16:creationId xmlns:a16="http://schemas.microsoft.com/office/drawing/2014/main" id="{227C5295-7462-4E42-B19A-682465F9F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712C31CF-3625-4E9F-99FC-C7AA5BBA88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36EDCF2F-2C4B-4D4B-964F-F640BCDCE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48">
              <a:extLst>
                <a:ext uri="{FF2B5EF4-FFF2-40B4-BE49-F238E27FC236}">
                  <a16:creationId xmlns:a16="http://schemas.microsoft.com/office/drawing/2014/main" id="{21B0354D-2FFC-40F9-91E5-A83DDD770D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Freeform: Shape 49">
              <a:extLst>
                <a:ext uri="{FF2B5EF4-FFF2-40B4-BE49-F238E27FC236}">
                  <a16:creationId xmlns:a16="http://schemas.microsoft.com/office/drawing/2014/main" id="{E4F4CED2-0CA8-4824-93F0-00BE4C7D1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2" y="559813"/>
            <a:ext cx="3980254" cy="5577934"/>
          </a:xfrm>
        </p:spPr>
        <p:txBody>
          <a:bodyPr>
            <a:normAutofit/>
          </a:bodyPr>
          <a:lstStyle/>
          <a:p>
            <a:r>
              <a:rPr lang="en-US" sz="3700"/>
              <a:t>THE BARRIERS TO WOMEN’S EMPLOYMENT IN RURAL INDIA</a:t>
            </a:r>
          </a:p>
        </p:txBody>
      </p:sp>
      <p:grpSp>
        <p:nvGrpSpPr>
          <p:cNvPr id="52" name="Bottom Right">
            <a:extLst>
              <a:ext uri="{FF2B5EF4-FFF2-40B4-BE49-F238E27FC236}">
                <a16:creationId xmlns:a16="http://schemas.microsoft.com/office/drawing/2014/main" id="{3BA0B410-FA41-4CD6-A923-146E029BBB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53" name="Graphic 157">
              <a:extLst>
                <a:ext uri="{FF2B5EF4-FFF2-40B4-BE49-F238E27FC236}">
                  <a16:creationId xmlns:a16="http://schemas.microsoft.com/office/drawing/2014/main" id="{2448B270-CA89-4A7C-8CFC-8237ED03AE1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5"/>
              <a:chOff x="4114800" y="1423987"/>
              <a:chExt cx="3961542" cy="4007547"/>
            </a:xfrm>
            <a:noFill/>
          </p:grpSpPr>
          <p:sp>
            <p:nvSpPr>
              <p:cNvPr id="55" name="Freeform: Shape 54">
                <a:extLst>
                  <a:ext uri="{FF2B5EF4-FFF2-40B4-BE49-F238E27FC236}">
                    <a16:creationId xmlns:a16="http://schemas.microsoft.com/office/drawing/2014/main" id="{BD2ED6FF-1F6E-4BF0-BFFF-5CB8D36F1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Freeform: Shape 55">
                <a:extLst>
                  <a:ext uri="{FF2B5EF4-FFF2-40B4-BE49-F238E27FC236}">
                    <a16:creationId xmlns:a16="http://schemas.microsoft.com/office/drawing/2014/main" id="{2F2CCA35-C35D-416B-A083-A167138A5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Freeform: Shape 56">
                <a:extLst>
                  <a:ext uri="{FF2B5EF4-FFF2-40B4-BE49-F238E27FC236}">
                    <a16:creationId xmlns:a16="http://schemas.microsoft.com/office/drawing/2014/main" id="{70FAEE04-D524-4356-8CFE-091D44ED18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5F641E2E-FB37-449C-96DA-945907C75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283CE73A-E65A-44EA-9C23-C6F2137AFB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41745A30-6979-4D1D-A629-E7C0C6A53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Freeform: Shape 60">
                <a:extLst>
                  <a:ext uri="{FF2B5EF4-FFF2-40B4-BE49-F238E27FC236}">
                    <a16:creationId xmlns:a16="http://schemas.microsoft.com/office/drawing/2014/main" id="{E70C366B-087F-442D-AC20-1319F97A9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4" name="Freeform: Shape 53">
              <a:extLst>
                <a:ext uri="{FF2B5EF4-FFF2-40B4-BE49-F238E27FC236}">
                  <a16:creationId xmlns:a16="http://schemas.microsoft.com/office/drawing/2014/main" id="{1D2F7A6B-9CB6-4AC5-B906-664FC95A17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2E5011D9-7839-6BF0-ABF3-2466E1BA60A0}"/>
              </a:ext>
            </a:extLst>
          </p:cNvPr>
          <p:cNvGraphicFramePr>
            <a:graphicFrameLocks noGrp="1"/>
          </p:cNvGraphicFramePr>
          <p:nvPr>
            <p:ph idx="1"/>
            <p:extLst>
              <p:ext uri="{D42A27DB-BD31-4B8C-83A1-F6EECF244321}">
                <p14:modId xmlns:p14="http://schemas.microsoft.com/office/powerpoint/2010/main" val="3617850969"/>
              </p:ext>
            </p:extLst>
          </p:nvPr>
        </p:nvGraphicFramePr>
        <p:xfrm>
          <a:off x="5408988" y="341165"/>
          <a:ext cx="6173409" cy="58434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0545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6" name="Rectangle 39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77" name="Rectangle 40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78" name="Top Left">
            <a:extLst>
              <a:ext uri="{FF2B5EF4-FFF2-40B4-BE49-F238E27FC236}">
                <a16:creationId xmlns:a16="http://schemas.microsoft.com/office/drawing/2014/main" id="{9C6A6A21-4C17-4D70-902F-4297639349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04" name="Freeform: Shape 403">
              <a:extLst>
                <a:ext uri="{FF2B5EF4-FFF2-40B4-BE49-F238E27FC236}">
                  <a16:creationId xmlns:a16="http://schemas.microsoft.com/office/drawing/2014/main" id="{9680322C-01BD-4DDE-8667-A1C82E341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05" name="Freeform: Shape 404">
              <a:extLst>
                <a:ext uri="{FF2B5EF4-FFF2-40B4-BE49-F238E27FC236}">
                  <a16:creationId xmlns:a16="http://schemas.microsoft.com/office/drawing/2014/main" id="{00CD4D67-14DF-4C2D-B42C-0532C55AC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06" name="Freeform: Shape 405">
              <a:extLst>
                <a:ext uri="{FF2B5EF4-FFF2-40B4-BE49-F238E27FC236}">
                  <a16:creationId xmlns:a16="http://schemas.microsoft.com/office/drawing/2014/main" id="{4A40E032-134E-4905-9B38-5C5D53B86A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07" name="Freeform: Shape 406">
              <a:extLst>
                <a:ext uri="{FF2B5EF4-FFF2-40B4-BE49-F238E27FC236}">
                  <a16:creationId xmlns:a16="http://schemas.microsoft.com/office/drawing/2014/main" id="{25DAE0B8-3872-45CE-8EF9-412CDEC3C4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08" name="Freeform: Shape 407">
              <a:extLst>
                <a:ext uri="{FF2B5EF4-FFF2-40B4-BE49-F238E27FC236}">
                  <a16:creationId xmlns:a16="http://schemas.microsoft.com/office/drawing/2014/main" id="{33FDCF74-E06B-4837-A10F-033EE637D6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09" name="Freeform: Shape 408">
              <a:extLst>
                <a:ext uri="{FF2B5EF4-FFF2-40B4-BE49-F238E27FC236}">
                  <a16:creationId xmlns:a16="http://schemas.microsoft.com/office/drawing/2014/main" id="{74BADACF-06C7-4B5D-A714-089786B51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10" name="Freeform: Shape 409">
              <a:extLst>
                <a:ext uri="{FF2B5EF4-FFF2-40B4-BE49-F238E27FC236}">
                  <a16:creationId xmlns:a16="http://schemas.microsoft.com/office/drawing/2014/main" id="{52BFF042-59B9-4F74-8514-96C43FB8B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411" name="Freeform: Shape 410">
              <a:extLst>
                <a:ext uri="{FF2B5EF4-FFF2-40B4-BE49-F238E27FC236}">
                  <a16:creationId xmlns:a16="http://schemas.microsoft.com/office/drawing/2014/main" id="{370FECA2-981E-4045-81E5-F5F6C72DE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2" name="Title"/>
          <p:cNvSpPr>
            <a:spLocks noGrp="1"/>
          </p:cNvSpPr>
          <p:nvPr>
            <p:ph type="ctrTitle"/>
          </p:nvPr>
        </p:nvSpPr>
        <p:spPr>
          <a:xfrm>
            <a:off x="1198182" y="559813"/>
            <a:ext cx="5605358" cy="1664573"/>
          </a:xfrm>
        </p:spPr>
        <p:txBody>
          <a:bodyPr>
            <a:normAutofit/>
          </a:bodyPr>
          <a:lstStyle/>
          <a:p>
            <a:pPr>
              <a:lnSpc>
                <a:spcPct val="90000"/>
              </a:lnSpc>
            </a:pPr>
            <a:r>
              <a:rPr lang="en-US" sz="3400"/>
              <a:t>LINKAGE TO SUSTAINABLE DEVELOPMENT GOALS</a:t>
            </a:r>
          </a:p>
        </p:txBody>
      </p:sp>
      <p:grpSp>
        <p:nvGrpSpPr>
          <p:cNvPr id="479" name="Bottom Right">
            <a:extLst>
              <a:ext uri="{FF2B5EF4-FFF2-40B4-BE49-F238E27FC236}">
                <a16:creationId xmlns:a16="http://schemas.microsoft.com/office/drawing/2014/main" id="{741948F9-C525-410D-9F0C-63EA1E0F39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414" name="Graphic 157">
              <a:extLst>
                <a:ext uri="{FF2B5EF4-FFF2-40B4-BE49-F238E27FC236}">
                  <a16:creationId xmlns:a16="http://schemas.microsoft.com/office/drawing/2014/main" id="{59C11362-4204-47B3-85DC-7A22A1E3038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416" name="Freeform: Shape 415">
                <a:extLst>
                  <a:ext uri="{FF2B5EF4-FFF2-40B4-BE49-F238E27FC236}">
                    <a16:creationId xmlns:a16="http://schemas.microsoft.com/office/drawing/2014/main" id="{DFD42FE5-B58A-4613-8A3B-D0120D21B6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17" name="Freeform: Shape 416">
                <a:extLst>
                  <a:ext uri="{FF2B5EF4-FFF2-40B4-BE49-F238E27FC236}">
                    <a16:creationId xmlns:a16="http://schemas.microsoft.com/office/drawing/2014/main" id="{5A861743-3DF1-47A2-8CFF-99A470A9DC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418" name="Freeform: Shape 417">
                <a:extLst>
                  <a:ext uri="{FF2B5EF4-FFF2-40B4-BE49-F238E27FC236}">
                    <a16:creationId xmlns:a16="http://schemas.microsoft.com/office/drawing/2014/main" id="{9F3A9B8B-EB41-4F45-8831-A7B5D41E05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419" name="Freeform: Shape 418">
                <a:extLst>
                  <a:ext uri="{FF2B5EF4-FFF2-40B4-BE49-F238E27FC236}">
                    <a16:creationId xmlns:a16="http://schemas.microsoft.com/office/drawing/2014/main" id="{D659F99D-ACED-471C-8BAC-73C596DDAB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420" name="Freeform: Shape 419">
                <a:extLst>
                  <a:ext uri="{FF2B5EF4-FFF2-40B4-BE49-F238E27FC236}">
                    <a16:creationId xmlns:a16="http://schemas.microsoft.com/office/drawing/2014/main" id="{AC603F71-A3F3-49F0-A292-573F37EB6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421" name="Freeform: Shape 420">
                <a:extLst>
                  <a:ext uri="{FF2B5EF4-FFF2-40B4-BE49-F238E27FC236}">
                    <a16:creationId xmlns:a16="http://schemas.microsoft.com/office/drawing/2014/main" id="{FB6F9021-2B6B-4252-AC9D-30C1A2C98D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422" name="Freeform: Shape 421">
                <a:extLst>
                  <a:ext uri="{FF2B5EF4-FFF2-40B4-BE49-F238E27FC236}">
                    <a16:creationId xmlns:a16="http://schemas.microsoft.com/office/drawing/2014/main" id="{7875012E-B86B-411F-B93B-A69ED6D20B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446" name="Freeform: Shape 414">
              <a:extLst>
                <a:ext uri="{FF2B5EF4-FFF2-40B4-BE49-F238E27FC236}">
                  <a16:creationId xmlns:a16="http://schemas.microsoft.com/office/drawing/2014/main" id="{FFB9C5D7-2BF3-4748-9582-FF22361FA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aphicFrame>
        <p:nvGraphicFramePr>
          <p:cNvPr id="6" name="Content Placeholder">
            <a:extLst>
              <a:ext uri="{FF2B5EF4-FFF2-40B4-BE49-F238E27FC236}">
                <a16:creationId xmlns:a16="http://schemas.microsoft.com/office/drawing/2014/main" id="{A2BE0A0C-D76B-C42A-04A6-8F528F6FE6EC}"/>
              </a:ext>
            </a:extLst>
          </p:cNvPr>
          <p:cNvGraphicFramePr>
            <a:graphicFrameLocks noGrp="1"/>
          </p:cNvGraphicFramePr>
          <p:nvPr>
            <p:ph idx="1"/>
            <p:extLst>
              <p:ext uri="{D42A27DB-BD31-4B8C-83A1-F6EECF244321}">
                <p14:modId xmlns:p14="http://schemas.microsoft.com/office/powerpoint/2010/main" val="1793702736"/>
              </p:ext>
            </p:extLst>
          </p:nvPr>
        </p:nvGraphicFramePr>
        <p:xfrm>
          <a:off x="1196487" y="2223488"/>
          <a:ext cx="9844293" cy="3889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6113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5" name="Freeform: Shape 14">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1" y="167973"/>
            <a:ext cx="9988165" cy="1501639"/>
          </a:xfrm>
        </p:spPr>
        <p:txBody>
          <a:bodyPr anchor="b">
            <a:normAutofit/>
          </a:bodyPr>
          <a:lstStyle/>
          <a:p>
            <a:r>
              <a:rPr lang="en-US"/>
              <a:t>STAKE HOLDER MAPPING</a:t>
            </a:r>
          </a:p>
        </p:txBody>
      </p:sp>
      <p:grpSp>
        <p:nvGrpSpPr>
          <p:cNvPr id="24"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5"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7"/>
              <a:chOff x="4114800" y="1423987"/>
              <a:chExt cx="3961542" cy="4007547"/>
            </a:xfrm>
            <a:noFill/>
          </p:grpSpPr>
          <p:sp>
            <p:nvSpPr>
              <p:cNvPr id="27" name="Freeform: Shape 26">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 name="Freeform: Shape 25">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D5439C97-3FF8-AB59-FBC1-FB63455C44B7}"/>
              </a:ext>
            </a:extLst>
          </p:cNvPr>
          <p:cNvGraphicFramePr>
            <a:graphicFrameLocks noGrp="1"/>
          </p:cNvGraphicFramePr>
          <p:nvPr>
            <p:ph idx="1"/>
            <p:extLst>
              <p:ext uri="{D42A27DB-BD31-4B8C-83A1-F6EECF244321}">
                <p14:modId xmlns:p14="http://schemas.microsoft.com/office/powerpoint/2010/main" val="452763323"/>
              </p:ext>
            </p:extLst>
          </p:nvPr>
        </p:nvGraphicFramePr>
        <p:xfrm>
          <a:off x="838200" y="1982167"/>
          <a:ext cx="10515600" cy="4194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8858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5" name="Freeform: Shape 14">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1" y="167973"/>
            <a:ext cx="9988165" cy="1501639"/>
          </a:xfrm>
        </p:spPr>
        <p:txBody>
          <a:bodyPr anchor="b">
            <a:normAutofit/>
          </a:bodyPr>
          <a:lstStyle/>
          <a:p>
            <a:r>
              <a:rPr lang="en-US"/>
              <a:t>STAKE HOLDER MAPPING</a:t>
            </a:r>
          </a:p>
        </p:txBody>
      </p:sp>
      <p:grpSp>
        <p:nvGrpSpPr>
          <p:cNvPr id="24"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5"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7"/>
              <a:chOff x="4114800" y="1423987"/>
              <a:chExt cx="3961542" cy="4007547"/>
            </a:xfrm>
            <a:noFill/>
          </p:grpSpPr>
          <p:sp>
            <p:nvSpPr>
              <p:cNvPr id="27" name="Freeform: Shape 26">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 name="Freeform: Shape 25">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DC55858A-FD07-6920-4F6C-1F1BB88348FE}"/>
              </a:ext>
            </a:extLst>
          </p:cNvPr>
          <p:cNvGraphicFramePr>
            <a:graphicFrameLocks noGrp="1"/>
          </p:cNvGraphicFramePr>
          <p:nvPr>
            <p:ph idx="1"/>
            <p:extLst>
              <p:ext uri="{D42A27DB-BD31-4B8C-83A1-F6EECF244321}">
                <p14:modId xmlns:p14="http://schemas.microsoft.com/office/powerpoint/2010/main" val="1282370854"/>
              </p:ext>
            </p:extLst>
          </p:nvPr>
        </p:nvGraphicFramePr>
        <p:xfrm>
          <a:off x="838200" y="1982167"/>
          <a:ext cx="10515600" cy="4194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3464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5DEA2-8482-0333-E65B-F9A95AB25780}"/>
              </a:ext>
            </a:extLst>
          </p:cNvPr>
          <p:cNvSpPr>
            <a:spLocks noGrp="1"/>
          </p:cNvSpPr>
          <p:nvPr>
            <p:ph type="title"/>
          </p:nvPr>
        </p:nvSpPr>
        <p:spPr>
          <a:xfrm>
            <a:off x="641555" y="426576"/>
            <a:ext cx="3165673" cy="851598"/>
          </a:xfrm>
        </p:spPr>
        <p:txBody>
          <a:bodyPr>
            <a:normAutofit fontScale="90000"/>
          </a:bodyPr>
          <a:lstStyle/>
          <a:p>
            <a:r>
              <a:rPr lang="en-US"/>
              <a:t>Stakeholder  Mapping </a:t>
            </a:r>
          </a:p>
        </p:txBody>
      </p:sp>
      <p:pic>
        <p:nvPicPr>
          <p:cNvPr id="4" name="Picture 4" descr="Diagram&#10;&#10;Description automatically generated">
            <a:extLst>
              <a:ext uri="{FF2B5EF4-FFF2-40B4-BE49-F238E27FC236}">
                <a16:creationId xmlns:a16="http://schemas.microsoft.com/office/drawing/2014/main" id="{7F263100-E6F3-9C1F-949E-D993202A7044}"/>
              </a:ext>
            </a:extLst>
          </p:cNvPr>
          <p:cNvPicPr>
            <a:picLocks noGrp="1" noChangeAspect="1"/>
          </p:cNvPicPr>
          <p:nvPr>
            <p:ph idx="1"/>
          </p:nvPr>
        </p:nvPicPr>
        <p:blipFill>
          <a:blip r:embed="rId2"/>
          <a:stretch>
            <a:fillRect/>
          </a:stretch>
        </p:blipFill>
        <p:spPr>
          <a:xfrm>
            <a:off x="3307369" y="965932"/>
            <a:ext cx="8583033" cy="5699491"/>
          </a:xfrm>
        </p:spPr>
      </p:pic>
    </p:spTree>
    <p:extLst>
      <p:ext uri="{BB962C8B-B14F-4D97-AF65-F5344CB8AC3E}">
        <p14:creationId xmlns:p14="http://schemas.microsoft.com/office/powerpoint/2010/main" val="2055061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5" name="Freeform: Shape 14">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1" y="167973"/>
            <a:ext cx="9988165" cy="1501639"/>
          </a:xfrm>
        </p:spPr>
        <p:txBody>
          <a:bodyPr anchor="b">
            <a:normAutofit/>
          </a:bodyPr>
          <a:lstStyle/>
          <a:p>
            <a:r>
              <a:rPr lang="en-US"/>
              <a:t>USER JOURNEY MAP</a:t>
            </a:r>
          </a:p>
        </p:txBody>
      </p:sp>
      <p:grpSp>
        <p:nvGrpSpPr>
          <p:cNvPr id="24"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5"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7"/>
              <a:chOff x="4114800" y="1423987"/>
              <a:chExt cx="3961542" cy="4007547"/>
            </a:xfrm>
            <a:noFill/>
          </p:grpSpPr>
          <p:sp>
            <p:nvSpPr>
              <p:cNvPr id="27" name="Freeform: Shape 26">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 name="Freeform: Shape 25">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59C66039-D1ED-5A42-72D6-FF7732C23AB5}"/>
              </a:ext>
            </a:extLst>
          </p:cNvPr>
          <p:cNvGraphicFramePr>
            <a:graphicFrameLocks noGrp="1"/>
          </p:cNvGraphicFramePr>
          <p:nvPr>
            <p:ph idx="1"/>
            <p:extLst>
              <p:ext uri="{D42A27DB-BD31-4B8C-83A1-F6EECF244321}">
                <p14:modId xmlns:p14="http://schemas.microsoft.com/office/powerpoint/2010/main" val="134507201"/>
              </p:ext>
            </p:extLst>
          </p:nvPr>
        </p:nvGraphicFramePr>
        <p:xfrm>
          <a:off x="838200" y="1982167"/>
          <a:ext cx="10515600" cy="4194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2504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0" name="Rectangle 3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2" name="Top left">
            <a:extLst>
              <a:ext uri="{FF2B5EF4-FFF2-40B4-BE49-F238E27FC236}">
                <a16:creationId xmlns:a16="http://schemas.microsoft.com/office/drawing/2014/main" id="{32D15CB3-AC64-41F7-86F8-22A111F3D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43" name="Freeform: Shape 42">
              <a:extLst>
                <a:ext uri="{FF2B5EF4-FFF2-40B4-BE49-F238E27FC236}">
                  <a16:creationId xmlns:a16="http://schemas.microsoft.com/office/drawing/2014/main" id="{9B8FAC53-55F6-4B51-8FAD-977E5E7D7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44" name="Freeform: Shape 43">
              <a:extLst>
                <a:ext uri="{FF2B5EF4-FFF2-40B4-BE49-F238E27FC236}">
                  <a16:creationId xmlns:a16="http://schemas.microsoft.com/office/drawing/2014/main" id="{BC29D267-CD4D-4FD7-8F45-1C8FB4235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Freeform: Shape 44">
              <a:extLst>
                <a:ext uri="{FF2B5EF4-FFF2-40B4-BE49-F238E27FC236}">
                  <a16:creationId xmlns:a16="http://schemas.microsoft.com/office/drawing/2014/main" id="{0EFC9A2B-D1CA-4247-836D-EAB80EB5E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Freeform: Shape 45">
              <a:extLst>
                <a:ext uri="{FF2B5EF4-FFF2-40B4-BE49-F238E27FC236}">
                  <a16:creationId xmlns:a16="http://schemas.microsoft.com/office/drawing/2014/main" id="{F4F9AB28-B3F0-425B-8E51-E16DDB853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891B00CE-2CF5-4DF1-A345-4516E2E83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8B332657-F1E9-428F-BA70-8DD848E55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48">
              <a:extLst>
                <a:ext uri="{FF2B5EF4-FFF2-40B4-BE49-F238E27FC236}">
                  <a16:creationId xmlns:a16="http://schemas.microsoft.com/office/drawing/2014/main" id="{766A6EF8-94C7-4127-9EF9-584AD6885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Freeform: Shape 49">
              <a:extLst>
                <a:ext uri="{FF2B5EF4-FFF2-40B4-BE49-F238E27FC236}">
                  <a16:creationId xmlns:a16="http://schemas.microsoft.com/office/drawing/2014/main" id="{3B1C2001-8549-4C7B-86AB-049B0C99EF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1" y="167973"/>
            <a:ext cx="9988165" cy="1501639"/>
          </a:xfrm>
        </p:spPr>
        <p:txBody>
          <a:bodyPr>
            <a:normAutofit/>
          </a:bodyPr>
          <a:lstStyle/>
          <a:p>
            <a:pPr algn="ctr"/>
            <a:r>
              <a:rPr lang="en-US"/>
              <a:t>USER JOURNEY MAP</a:t>
            </a:r>
          </a:p>
        </p:txBody>
      </p:sp>
      <p:grpSp>
        <p:nvGrpSpPr>
          <p:cNvPr id="52" name="Bottom Right">
            <a:extLst>
              <a:ext uri="{FF2B5EF4-FFF2-40B4-BE49-F238E27FC236}">
                <a16:creationId xmlns:a16="http://schemas.microsoft.com/office/drawing/2014/main" id="{921D9B61-CDA2-49D1-82AA-534691496F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53" name="Graphic 157">
              <a:extLst>
                <a:ext uri="{FF2B5EF4-FFF2-40B4-BE49-F238E27FC236}">
                  <a16:creationId xmlns:a16="http://schemas.microsoft.com/office/drawing/2014/main" id="{A202591B-301C-460E-801A-4C116AC08CD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5"/>
              <a:chOff x="4114800" y="1423987"/>
              <a:chExt cx="3961542" cy="4007547"/>
            </a:xfrm>
            <a:noFill/>
          </p:grpSpPr>
          <p:sp>
            <p:nvSpPr>
              <p:cNvPr id="55" name="Freeform: Shape 54">
                <a:extLst>
                  <a:ext uri="{FF2B5EF4-FFF2-40B4-BE49-F238E27FC236}">
                    <a16:creationId xmlns:a16="http://schemas.microsoft.com/office/drawing/2014/main" id="{257EC7EC-4934-4A65-B3AA-6AE3BD073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Freeform: Shape 55">
                <a:extLst>
                  <a:ext uri="{FF2B5EF4-FFF2-40B4-BE49-F238E27FC236}">
                    <a16:creationId xmlns:a16="http://schemas.microsoft.com/office/drawing/2014/main" id="{201FEC27-F3E2-41E5-8C3B-FF66A13D8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Freeform: Shape 56">
                <a:extLst>
                  <a:ext uri="{FF2B5EF4-FFF2-40B4-BE49-F238E27FC236}">
                    <a16:creationId xmlns:a16="http://schemas.microsoft.com/office/drawing/2014/main" id="{CBFE67A7-A995-43D6-8414-EBB2A758A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6DB28E40-FF5E-459D-B516-A16554BBB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9724247A-6615-4D27-80F0-339276282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495168B2-CEF6-486B-AD0C-D063CDD98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Freeform: Shape 60">
                <a:extLst>
                  <a:ext uri="{FF2B5EF4-FFF2-40B4-BE49-F238E27FC236}">
                    <a16:creationId xmlns:a16="http://schemas.microsoft.com/office/drawing/2014/main" id="{E27C133D-9749-4B34-9018-29F3FF86C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4" name="Freeform: Shape 53">
              <a:extLst>
                <a:ext uri="{FF2B5EF4-FFF2-40B4-BE49-F238E27FC236}">
                  <a16:creationId xmlns:a16="http://schemas.microsoft.com/office/drawing/2014/main" id="{10388060-18B7-4BD6-A3C5-F6B8E1467E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59C66039-D1ED-5A42-72D6-FF7732C23AB5}"/>
              </a:ext>
            </a:extLst>
          </p:cNvPr>
          <p:cNvGraphicFramePr>
            <a:graphicFrameLocks noGrp="1"/>
          </p:cNvGraphicFramePr>
          <p:nvPr>
            <p:ph idx="1"/>
            <p:extLst>
              <p:ext uri="{D42A27DB-BD31-4B8C-83A1-F6EECF244321}">
                <p14:modId xmlns:p14="http://schemas.microsoft.com/office/powerpoint/2010/main" val="4215950207"/>
              </p:ext>
            </p:extLst>
          </p:nvPr>
        </p:nvGraphicFramePr>
        <p:xfrm>
          <a:off x="600306" y="1847031"/>
          <a:ext cx="10982090" cy="4276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0299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7" name="Rectangle 56">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 name="Picture 4">
            <a:extLst>
              <a:ext uri="{FF2B5EF4-FFF2-40B4-BE49-F238E27FC236}">
                <a16:creationId xmlns:a16="http://schemas.microsoft.com/office/drawing/2014/main" id="{17D847B1-96C8-35B8-0E32-7FE83F4D0FB0}"/>
              </a:ext>
            </a:extLst>
          </p:cNvPr>
          <p:cNvPicPr>
            <a:picLocks noChangeAspect="1"/>
          </p:cNvPicPr>
          <p:nvPr/>
        </p:nvPicPr>
        <p:blipFill rotWithShape="1">
          <a:blip r:embed="rId2">
            <a:alphaModFix/>
          </a:blip>
          <a:srcRect t="20209" r="-1" b="-1"/>
          <a:stretch/>
        </p:blipFill>
        <p:spPr>
          <a:xfrm>
            <a:off x="20" y="10"/>
            <a:ext cx="12188932" cy="6856614"/>
          </a:xfrm>
          <a:prstGeom prst="rect">
            <a:avLst/>
          </a:prstGeom>
        </p:spPr>
      </p:pic>
      <p:sp>
        <p:nvSpPr>
          <p:cNvPr id="59" name="Rectangle 58">
            <a:extLst>
              <a:ext uri="{FF2B5EF4-FFF2-40B4-BE49-F238E27FC236}">
                <a16:creationId xmlns:a16="http://schemas.microsoft.com/office/drawing/2014/main" id="{8D2A0DB3-EF43-4032-9B27-954E12CCB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0"/>
            <a:ext cx="12188952" cy="3732362"/>
          </a:xfrm>
          <a:prstGeom prst="rect">
            <a:avLst/>
          </a:prstGeom>
          <a:gradFill>
            <a:gsLst>
              <a:gs pos="100000">
                <a:schemeClr val="tx1">
                  <a:alpha val="0"/>
                </a:schemeClr>
              </a:gs>
              <a:gs pos="0">
                <a:schemeClr val="tx1"/>
              </a:gs>
              <a:gs pos="0">
                <a:schemeClr val="tx1">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937660" y="2012631"/>
            <a:ext cx="10190071" cy="1515091"/>
          </a:xfrm>
        </p:spPr>
        <p:txBody>
          <a:bodyPr anchor="b">
            <a:normAutofit/>
          </a:bodyPr>
          <a:lstStyle/>
          <a:p>
            <a:r>
              <a:rPr lang="en-US" sz="5400">
                <a:solidFill>
                  <a:srgbClr val="FFFFFF"/>
                </a:solidFill>
              </a:rPr>
              <a:t>PRIMARY RESEARCH PLAN</a:t>
            </a:r>
          </a:p>
        </p:txBody>
      </p:sp>
      <p:grpSp>
        <p:nvGrpSpPr>
          <p:cNvPr id="61" name="Top Left">
            <a:extLst>
              <a:ext uri="{FF2B5EF4-FFF2-40B4-BE49-F238E27FC236}">
                <a16:creationId xmlns:a16="http://schemas.microsoft.com/office/drawing/2014/main" id="{18579DB9-24B0-487B-81E3-8D02AD5F8C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62" name="Freeform: Shape 61">
              <a:extLst>
                <a:ext uri="{FF2B5EF4-FFF2-40B4-BE49-F238E27FC236}">
                  <a16:creationId xmlns:a16="http://schemas.microsoft.com/office/drawing/2014/main" id="{7180CB2C-161F-4538-9214-24AF97B01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bg2">
                  <a:alpha val="50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EE25AFBE-8731-4348-B66F-FD7E38F76A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bg2">
                  <a:alpha val="50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5F6C27D8-4E47-470F-B6B5-407CE7D1D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bg2">
                  <a:alpha val="50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66348964-B561-445E-A6A4-730FBA428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bg2">
                  <a:alpha val="50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C5D1A3FD-B031-4670-8F09-29E8E38D45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bg2">
                  <a:alpha val="50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80BD3287-1860-4987-8CA5-8728EDBB6B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bg2">
                  <a:alpha val="50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E1FEEEA6-82B5-4005-A3D5-FC2A152FDD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bg2">
                  <a:alpha val="50000"/>
                </a:schemeClr>
              </a:solidFill>
              <a:prstDash val="lgDash"/>
              <a:round/>
            </a:ln>
          </p:spPr>
          <p:txBody>
            <a:bodyPr rtlCol="0" anchor="ctr"/>
            <a:lstStyle/>
            <a:p>
              <a:endParaRPr lang="en-US"/>
            </a:p>
          </p:txBody>
        </p:sp>
      </p:grpSp>
      <p:grpSp>
        <p:nvGrpSpPr>
          <p:cNvPr id="70" name="Bottom Right">
            <a:extLst>
              <a:ext uri="{FF2B5EF4-FFF2-40B4-BE49-F238E27FC236}">
                <a16:creationId xmlns:a16="http://schemas.microsoft.com/office/drawing/2014/main" id="{8F281804-17FE-49B9-9065-1A44CD473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71" name="Graphic 157">
              <a:extLst>
                <a:ext uri="{FF2B5EF4-FFF2-40B4-BE49-F238E27FC236}">
                  <a16:creationId xmlns:a16="http://schemas.microsoft.com/office/drawing/2014/main" id="{737BB70B-7AAF-4229-8400-5AFF12A2367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73" name="Freeform: Shape 72">
                <a:extLst>
                  <a:ext uri="{FF2B5EF4-FFF2-40B4-BE49-F238E27FC236}">
                    <a16:creationId xmlns:a16="http://schemas.microsoft.com/office/drawing/2014/main" id="{9B992201-AA48-4BE7-ADC2-908B16934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74" name="Freeform: Shape 73">
                <a:extLst>
                  <a:ext uri="{FF2B5EF4-FFF2-40B4-BE49-F238E27FC236}">
                    <a16:creationId xmlns:a16="http://schemas.microsoft.com/office/drawing/2014/main" id="{840E3649-4ED2-4501-AF92-DEC3DFF5C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68B38FD5-4195-4693-8AB7-D01C58D21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76" name="Freeform: Shape 75">
                <a:extLst>
                  <a:ext uri="{FF2B5EF4-FFF2-40B4-BE49-F238E27FC236}">
                    <a16:creationId xmlns:a16="http://schemas.microsoft.com/office/drawing/2014/main" id="{F0635352-3FD2-43A8-832C-705F1CB91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77" name="Freeform: Shape 76">
                <a:extLst>
                  <a:ext uri="{FF2B5EF4-FFF2-40B4-BE49-F238E27FC236}">
                    <a16:creationId xmlns:a16="http://schemas.microsoft.com/office/drawing/2014/main" id="{FBEAF61E-74F7-41BA-9576-39B1961501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78" name="Freeform: Shape 77">
                <a:extLst>
                  <a:ext uri="{FF2B5EF4-FFF2-40B4-BE49-F238E27FC236}">
                    <a16:creationId xmlns:a16="http://schemas.microsoft.com/office/drawing/2014/main" id="{AB31D9B5-1401-4F40-BEE6-D49291995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79" name="Freeform: Shape 78">
                <a:extLst>
                  <a:ext uri="{FF2B5EF4-FFF2-40B4-BE49-F238E27FC236}">
                    <a16:creationId xmlns:a16="http://schemas.microsoft.com/office/drawing/2014/main" id="{8EDD38F5-BC63-401D-8C72-8D41A360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72" name="Freeform: Shape 71">
              <a:extLst>
                <a:ext uri="{FF2B5EF4-FFF2-40B4-BE49-F238E27FC236}">
                  <a16:creationId xmlns:a16="http://schemas.microsoft.com/office/drawing/2014/main" id="{05CE5B18-7300-438F-80EB-4F4E431C8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435695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0" name="Rectangle 3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2" name="Top left">
            <a:extLst>
              <a:ext uri="{FF2B5EF4-FFF2-40B4-BE49-F238E27FC236}">
                <a16:creationId xmlns:a16="http://schemas.microsoft.com/office/drawing/2014/main" id="{32D15CB3-AC64-41F7-86F8-22A111F3D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43" name="Freeform: Shape 42">
              <a:extLst>
                <a:ext uri="{FF2B5EF4-FFF2-40B4-BE49-F238E27FC236}">
                  <a16:creationId xmlns:a16="http://schemas.microsoft.com/office/drawing/2014/main" id="{9B8FAC53-55F6-4B51-8FAD-977E5E7D7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44" name="Freeform: Shape 43">
              <a:extLst>
                <a:ext uri="{FF2B5EF4-FFF2-40B4-BE49-F238E27FC236}">
                  <a16:creationId xmlns:a16="http://schemas.microsoft.com/office/drawing/2014/main" id="{BC29D267-CD4D-4FD7-8F45-1C8FB4235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Freeform: Shape 44">
              <a:extLst>
                <a:ext uri="{FF2B5EF4-FFF2-40B4-BE49-F238E27FC236}">
                  <a16:creationId xmlns:a16="http://schemas.microsoft.com/office/drawing/2014/main" id="{0EFC9A2B-D1CA-4247-836D-EAB80EB5E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Freeform: Shape 45">
              <a:extLst>
                <a:ext uri="{FF2B5EF4-FFF2-40B4-BE49-F238E27FC236}">
                  <a16:creationId xmlns:a16="http://schemas.microsoft.com/office/drawing/2014/main" id="{F4F9AB28-B3F0-425B-8E51-E16DDB853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891B00CE-2CF5-4DF1-A345-4516E2E83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8B332657-F1E9-428F-BA70-8DD848E55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48">
              <a:extLst>
                <a:ext uri="{FF2B5EF4-FFF2-40B4-BE49-F238E27FC236}">
                  <a16:creationId xmlns:a16="http://schemas.microsoft.com/office/drawing/2014/main" id="{766A6EF8-94C7-4127-9EF9-584AD6885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Freeform: Shape 49">
              <a:extLst>
                <a:ext uri="{FF2B5EF4-FFF2-40B4-BE49-F238E27FC236}">
                  <a16:creationId xmlns:a16="http://schemas.microsoft.com/office/drawing/2014/main" id="{3B1C2001-8549-4C7B-86AB-049B0C99EF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1" y="168425"/>
            <a:ext cx="9988166" cy="1499401"/>
          </a:xfrm>
        </p:spPr>
        <p:txBody>
          <a:bodyPr>
            <a:normAutofit/>
          </a:bodyPr>
          <a:lstStyle/>
          <a:p>
            <a:pPr algn="ctr"/>
            <a:r>
              <a:rPr lang="en-US">
                <a:ea typeface="+mj-lt"/>
                <a:cs typeface="+mj-lt"/>
              </a:rPr>
              <a:t>RESEARCH OBJECTIVES</a:t>
            </a:r>
          </a:p>
          <a:p>
            <a:pPr algn="ctr"/>
            <a:endParaRPr lang="en-US"/>
          </a:p>
        </p:txBody>
      </p:sp>
      <p:grpSp>
        <p:nvGrpSpPr>
          <p:cNvPr id="52" name="Bottom Right">
            <a:extLst>
              <a:ext uri="{FF2B5EF4-FFF2-40B4-BE49-F238E27FC236}">
                <a16:creationId xmlns:a16="http://schemas.microsoft.com/office/drawing/2014/main" id="{921D9B61-CDA2-49D1-82AA-534691496F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53" name="Graphic 157">
              <a:extLst>
                <a:ext uri="{FF2B5EF4-FFF2-40B4-BE49-F238E27FC236}">
                  <a16:creationId xmlns:a16="http://schemas.microsoft.com/office/drawing/2014/main" id="{A202591B-301C-460E-801A-4C116AC08CD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55" name="Freeform: Shape 54">
                <a:extLst>
                  <a:ext uri="{FF2B5EF4-FFF2-40B4-BE49-F238E27FC236}">
                    <a16:creationId xmlns:a16="http://schemas.microsoft.com/office/drawing/2014/main" id="{257EC7EC-4934-4A65-B3AA-6AE3BD073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Freeform: Shape 55">
                <a:extLst>
                  <a:ext uri="{FF2B5EF4-FFF2-40B4-BE49-F238E27FC236}">
                    <a16:creationId xmlns:a16="http://schemas.microsoft.com/office/drawing/2014/main" id="{201FEC27-F3E2-41E5-8C3B-FF66A13D8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Freeform: Shape 56">
                <a:extLst>
                  <a:ext uri="{FF2B5EF4-FFF2-40B4-BE49-F238E27FC236}">
                    <a16:creationId xmlns:a16="http://schemas.microsoft.com/office/drawing/2014/main" id="{CBFE67A7-A995-43D6-8414-EBB2A758A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6DB28E40-FF5E-459D-B516-A16554BBB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9724247A-6615-4D27-80F0-339276282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495168B2-CEF6-486B-AD0C-D063CDD98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Freeform: Shape 60">
                <a:extLst>
                  <a:ext uri="{FF2B5EF4-FFF2-40B4-BE49-F238E27FC236}">
                    <a16:creationId xmlns:a16="http://schemas.microsoft.com/office/drawing/2014/main" id="{E27C133D-9749-4B34-9018-29F3FF86C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4" name="Freeform: Shape 53">
              <a:extLst>
                <a:ext uri="{FF2B5EF4-FFF2-40B4-BE49-F238E27FC236}">
                  <a16:creationId xmlns:a16="http://schemas.microsoft.com/office/drawing/2014/main" id="{10388060-18B7-4BD6-A3C5-F6B8E1467E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8ECF70BF-370D-9975-576A-3464ECA223C1}"/>
              </a:ext>
            </a:extLst>
          </p:cNvPr>
          <p:cNvGraphicFramePr>
            <a:graphicFrameLocks noGrp="1"/>
          </p:cNvGraphicFramePr>
          <p:nvPr>
            <p:ph idx="1"/>
            <p:extLst>
              <p:ext uri="{D42A27DB-BD31-4B8C-83A1-F6EECF244321}">
                <p14:modId xmlns:p14="http://schemas.microsoft.com/office/powerpoint/2010/main" val="2729280251"/>
              </p:ext>
            </p:extLst>
          </p:nvPr>
        </p:nvGraphicFramePr>
        <p:xfrm>
          <a:off x="600306" y="1847031"/>
          <a:ext cx="10982090" cy="4276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6313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5" name="Freeform: Shape 14">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1" y="167973"/>
            <a:ext cx="9988165" cy="1501639"/>
          </a:xfrm>
        </p:spPr>
        <p:txBody>
          <a:bodyPr anchor="b">
            <a:normAutofit/>
          </a:bodyPr>
          <a:lstStyle/>
          <a:p>
            <a:r>
              <a:rPr lang="en-US"/>
              <a:t>RESEARCH METHOD</a:t>
            </a:r>
          </a:p>
        </p:txBody>
      </p:sp>
      <p:grpSp>
        <p:nvGrpSpPr>
          <p:cNvPr id="24"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5"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7"/>
              <a:chOff x="4114800" y="1423987"/>
              <a:chExt cx="3961542" cy="4007547"/>
            </a:xfrm>
            <a:noFill/>
          </p:grpSpPr>
          <p:sp>
            <p:nvSpPr>
              <p:cNvPr id="27" name="Freeform: Shape 26">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 name="Freeform: Shape 25">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4483E1EE-37A2-D652-DEC6-2F862EF64CC1}"/>
              </a:ext>
            </a:extLst>
          </p:cNvPr>
          <p:cNvGraphicFramePr>
            <a:graphicFrameLocks noGrp="1"/>
          </p:cNvGraphicFramePr>
          <p:nvPr>
            <p:ph idx="1"/>
            <p:extLst>
              <p:ext uri="{D42A27DB-BD31-4B8C-83A1-F6EECF244321}">
                <p14:modId xmlns:p14="http://schemas.microsoft.com/office/powerpoint/2010/main" val="48380925"/>
              </p:ext>
            </p:extLst>
          </p:nvPr>
        </p:nvGraphicFramePr>
        <p:xfrm>
          <a:off x="584200" y="1620706"/>
          <a:ext cx="10769600" cy="4556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8643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16E12301-1C96-4D15-9838-D5B894B22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Maze">
            <a:extLst>
              <a:ext uri="{FF2B5EF4-FFF2-40B4-BE49-F238E27FC236}">
                <a16:creationId xmlns:a16="http://schemas.microsoft.com/office/drawing/2014/main" id="{538F4E1F-C12A-61D7-59E1-825B4D0BA703}"/>
              </a:ext>
            </a:extLst>
          </p:cNvPr>
          <p:cNvPicPr>
            <a:picLocks noChangeAspect="1"/>
          </p:cNvPicPr>
          <p:nvPr/>
        </p:nvPicPr>
        <p:blipFill rotWithShape="1">
          <a:blip r:embed="rId2">
            <a:alphaModFix amt="60000"/>
          </a:blip>
          <a:srcRect t="15599" r="6" b="6"/>
          <a:stretch/>
        </p:blipFill>
        <p:spPr>
          <a:xfrm>
            <a:off x="20" y="10"/>
            <a:ext cx="12188932" cy="6856614"/>
          </a:xfrm>
          <a:prstGeom prst="rect">
            <a:avLst/>
          </a:prstGeom>
        </p:spPr>
      </p:pic>
      <p:grpSp>
        <p:nvGrpSpPr>
          <p:cNvPr id="16" name="Top Left">
            <a:extLst>
              <a:ext uri="{FF2B5EF4-FFF2-40B4-BE49-F238E27FC236}">
                <a16:creationId xmlns:a16="http://schemas.microsoft.com/office/drawing/2014/main" id="{D7A5FD75-4B35-4162-9304-5694912558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7" name="Freeform: Shape 16">
              <a:extLst>
                <a:ext uri="{FF2B5EF4-FFF2-40B4-BE49-F238E27FC236}">
                  <a16:creationId xmlns:a16="http://schemas.microsoft.com/office/drawing/2014/main" id="{A5107DF9-40C8-458E-82E1-523137E7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bg2">
                  <a:alpha val="3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5BD83295-4F37-4B80-AF77-1798FB80C5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bg2">
                  <a:alpha val="3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65888C74-4F56-4347-8944-E676A3C89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bg2">
                  <a:alpha val="3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A69429CD-28C1-4DC7-84AD-4421A0AC8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bg2">
                  <a:alpha val="3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762D63CF-41E9-4561-A945-E199ABE75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bg2">
                  <a:alpha val="3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0C95C339-F16B-492F-903D-A6855F56E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bg2">
                  <a:alpha val="3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E85BC65A-0C9A-45A6-B18B-5E020CE983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bg2">
                  <a:alpha val="35000"/>
                </a:schemeClr>
              </a:solidFill>
              <a:prstDash val="lgDash"/>
              <a:round/>
            </a:ln>
          </p:spPr>
          <p:txBody>
            <a:bodyPr rtlCol="0" anchor="ctr"/>
            <a:lstStyle/>
            <a:p>
              <a:endParaRPr lang="en-US"/>
            </a:p>
          </p:txBody>
        </p:sp>
      </p:grpSp>
      <p:sp>
        <p:nvSpPr>
          <p:cNvPr id="2" name="Title"/>
          <p:cNvSpPr>
            <a:spLocks noGrp="1"/>
          </p:cNvSpPr>
          <p:nvPr>
            <p:ph type="ctrTitle"/>
          </p:nvPr>
        </p:nvSpPr>
        <p:spPr>
          <a:xfrm>
            <a:off x="1198181" y="726066"/>
            <a:ext cx="4795282" cy="5018227"/>
          </a:xfrm>
        </p:spPr>
        <p:txBody>
          <a:bodyPr anchor="ctr">
            <a:normAutofit/>
          </a:bodyPr>
          <a:lstStyle/>
          <a:p>
            <a:r>
              <a:rPr lang="en-US">
                <a:solidFill>
                  <a:srgbClr val="FFFFFF"/>
                </a:solidFill>
              </a:rPr>
              <a:t>SAMPLE SELECTION</a:t>
            </a:r>
          </a:p>
        </p:txBody>
      </p:sp>
      <p:grpSp>
        <p:nvGrpSpPr>
          <p:cNvPr id="25" name="Bottom Right">
            <a:extLst>
              <a:ext uri="{FF2B5EF4-FFF2-40B4-BE49-F238E27FC236}">
                <a16:creationId xmlns:a16="http://schemas.microsoft.com/office/drawing/2014/main" id="{34676384-D846-461C-B8F3-BDB849B4A4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26" name="Graphic 157">
              <a:extLst>
                <a:ext uri="{FF2B5EF4-FFF2-40B4-BE49-F238E27FC236}">
                  <a16:creationId xmlns:a16="http://schemas.microsoft.com/office/drawing/2014/main" id="{50480E57-05E0-42B6-8693-191B4E9CF5F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9"/>
              <a:chOff x="4114800" y="1423987"/>
              <a:chExt cx="3961542" cy="4007547"/>
            </a:xfrm>
            <a:noFill/>
          </p:grpSpPr>
          <p:sp>
            <p:nvSpPr>
              <p:cNvPr id="28" name="Freeform: Shape 27">
                <a:extLst>
                  <a:ext uri="{FF2B5EF4-FFF2-40B4-BE49-F238E27FC236}">
                    <a16:creationId xmlns:a16="http://schemas.microsoft.com/office/drawing/2014/main" id="{1C989BD5-54F6-4747-83F1-81FCAEDAD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6D7EE029-E135-4899-AC49-78D6946CDA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4C9494D7-A3EA-4A41-8910-6B6FE95E5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89E7F2B7-DEB2-4B2A-99F9-10622D09E1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9DACD4DB-BAF5-43DD-8CC8-4200A16D66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6532D7D7-91B4-4F7C-B38E-5BBD5F3B4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2B7428A0-A810-46D6-9CC7-2475B2DF6E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9C4A0E07-B9C5-49FB-B94A-B28D740C74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aphicFrame>
        <p:nvGraphicFramePr>
          <p:cNvPr id="36" name="Content Placeholder">
            <a:extLst>
              <a:ext uri="{FF2B5EF4-FFF2-40B4-BE49-F238E27FC236}">
                <a16:creationId xmlns:a16="http://schemas.microsoft.com/office/drawing/2014/main" id="{8E151DFD-FA0E-EAD9-C924-BB24AB955999}"/>
              </a:ext>
            </a:extLst>
          </p:cNvPr>
          <p:cNvGraphicFramePr>
            <a:graphicFrameLocks noGrp="1"/>
          </p:cNvGraphicFramePr>
          <p:nvPr>
            <p:ph idx="1"/>
            <p:extLst>
              <p:ext uri="{D42A27DB-BD31-4B8C-83A1-F6EECF244321}">
                <p14:modId xmlns:p14="http://schemas.microsoft.com/office/powerpoint/2010/main" val="1784115361"/>
              </p:ext>
            </p:extLst>
          </p:nvPr>
        </p:nvGraphicFramePr>
        <p:xfrm>
          <a:off x="2782471" y="-3264"/>
          <a:ext cx="9989932" cy="7131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2590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2" name="Rectangle 39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43" name="Rectangle 40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44" name="Top Left">
            <a:extLst>
              <a:ext uri="{FF2B5EF4-FFF2-40B4-BE49-F238E27FC236}">
                <a16:creationId xmlns:a16="http://schemas.microsoft.com/office/drawing/2014/main" id="{9C6A6A21-4C17-4D70-902F-4297639349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04" name="Freeform: Shape 403">
              <a:extLst>
                <a:ext uri="{FF2B5EF4-FFF2-40B4-BE49-F238E27FC236}">
                  <a16:creationId xmlns:a16="http://schemas.microsoft.com/office/drawing/2014/main" id="{9680322C-01BD-4DDE-8667-A1C82E341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05" name="Freeform: Shape 404">
              <a:extLst>
                <a:ext uri="{FF2B5EF4-FFF2-40B4-BE49-F238E27FC236}">
                  <a16:creationId xmlns:a16="http://schemas.microsoft.com/office/drawing/2014/main" id="{00CD4D67-14DF-4C2D-B42C-0532C55AC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06" name="Freeform: Shape 405">
              <a:extLst>
                <a:ext uri="{FF2B5EF4-FFF2-40B4-BE49-F238E27FC236}">
                  <a16:creationId xmlns:a16="http://schemas.microsoft.com/office/drawing/2014/main" id="{4A40E032-134E-4905-9B38-5C5D53B86A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07" name="Freeform: Shape 406">
              <a:extLst>
                <a:ext uri="{FF2B5EF4-FFF2-40B4-BE49-F238E27FC236}">
                  <a16:creationId xmlns:a16="http://schemas.microsoft.com/office/drawing/2014/main" id="{25DAE0B8-3872-45CE-8EF9-412CDEC3C4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08" name="Freeform: Shape 407">
              <a:extLst>
                <a:ext uri="{FF2B5EF4-FFF2-40B4-BE49-F238E27FC236}">
                  <a16:creationId xmlns:a16="http://schemas.microsoft.com/office/drawing/2014/main" id="{33FDCF74-E06B-4837-A10F-033EE637D6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09" name="Freeform: Shape 408">
              <a:extLst>
                <a:ext uri="{FF2B5EF4-FFF2-40B4-BE49-F238E27FC236}">
                  <a16:creationId xmlns:a16="http://schemas.microsoft.com/office/drawing/2014/main" id="{74BADACF-06C7-4B5D-A714-089786B51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10" name="Freeform: Shape 409">
              <a:extLst>
                <a:ext uri="{FF2B5EF4-FFF2-40B4-BE49-F238E27FC236}">
                  <a16:creationId xmlns:a16="http://schemas.microsoft.com/office/drawing/2014/main" id="{52BFF042-59B9-4F74-8514-96C43FB8B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411" name="Freeform: Shape 410">
              <a:extLst>
                <a:ext uri="{FF2B5EF4-FFF2-40B4-BE49-F238E27FC236}">
                  <a16:creationId xmlns:a16="http://schemas.microsoft.com/office/drawing/2014/main" id="{370FECA2-981E-4045-81E5-F5F6C72DE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2" name="Title"/>
          <p:cNvSpPr>
            <a:spLocks noGrp="1"/>
          </p:cNvSpPr>
          <p:nvPr>
            <p:ph type="ctrTitle"/>
          </p:nvPr>
        </p:nvSpPr>
        <p:spPr>
          <a:xfrm>
            <a:off x="903214" y="547523"/>
            <a:ext cx="5605358" cy="1664573"/>
          </a:xfrm>
        </p:spPr>
        <p:txBody>
          <a:bodyPr>
            <a:normAutofit/>
          </a:bodyPr>
          <a:lstStyle/>
          <a:p>
            <a:pPr>
              <a:lnSpc>
                <a:spcPct val="90000"/>
              </a:lnSpc>
            </a:pPr>
            <a:r>
              <a:rPr lang="en-US" sz="3400"/>
              <a:t>Areas with employment opportunities for rural women</a:t>
            </a:r>
          </a:p>
        </p:txBody>
      </p:sp>
      <p:grpSp>
        <p:nvGrpSpPr>
          <p:cNvPr id="445" name="Bottom Right">
            <a:extLst>
              <a:ext uri="{FF2B5EF4-FFF2-40B4-BE49-F238E27FC236}">
                <a16:creationId xmlns:a16="http://schemas.microsoft.com/office/drawing/2014/main" id="{741948F9-C525-410D-9F0C-63EA1E0F39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414" name="Graphic 157">
              <a:extLst>
                <a:ext uri="{FF2B5EF4-FFF2-40B4-BE49-F238E27FC236}">
                  <a16:creationId xmlns:a16="http://schemas.microsoft.com/office/drawing/2014/main" id="{59C11362-4204-47B3-85DC-7A22A1E3038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416" name="Freeform: Shape 415">
                <a:extLst>
                  <a:ext uri="{FF2B5EF4-FFF2-40B4-BE49-F238E27FC236}">
                    <a16:creationId xmlns:a16="http://schemas.microsoft.com/office/drawing/2014/main" id="{DFD42FE5-B58A-4613-8A3B-D0120D21B6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17" name="Freeform: Shape 416">
                <a:extLst>
                  <a:ext uri="{FF2B5EF4-FFF2-40B4-BE49-F238E27FC236}">
                    <a16:creationId xmlns:a16="http://schemas.microsoft.com/office/drawing/2014/main" id="{5A861743-3DF1-47A2-8CFF-99A470A9DC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418" name="Freeform: Shape 417">
                <a:extLst>
                  <a:ext uri="{FF2B5EF4-FFF2-40B4-BE49-F238E27FC236}">
                    <a16:creationId xmlns:a16="http://schemas.microsoft.com/office/drawing/2014/main" id="{9F3A9B8B-EB41-4F45-8831-A7B5D41E05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419" name="Freeform: Shape 418">
                <a:extLst>
                  <a:ext uri="{FF2B5EF4-FFF2-40B4-BE49-F238E27FC236}">
                    <a16:creationId xmlns:a16="http://schemas.microsoft.com/office/drawing/2014/main" id="{D659F99D-ACED-471C-8BAC-73C596DDAB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420" name="Freeform: Shape 419">
                <a:extLst>
                  <a:ext uri="{FF2B5EF4-FFF2-40B4-BE49-F238E27FC236}">
                    <a16:creationId xmlns:a16="http://schemas.microsoft.com/office/drawing/2014/main" id="{AC603F71-A3F3-49F0-A292-573F37EB6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421" name="Freeform: Shape 420">
                <a:extLst>
                  <a:ext uri="{FF2B5EF4-FFF2-40B4-BE49-F238E27FC236}">
                    <a16:creationId xmlns:a16="http://schemas.microsoft.com/office/drawing/2014/main" id="{FB6F9021-2B6B-4252-AC9D-30C1A2C98D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422" name="Freeform: Shape 421">
                <a:extLst>
                  <a:ext uri="{FF2B5EF4-FFF2-40B4-BE49-F238E27FC236}">
                    <a16:creationId xmlns:a16="http://schemas.microsoft.com/office/drawing/2014/main" id="{7875012E-B86B-411F-B93B-A69ED6D20B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446" name="Freeform: Shape 414">
              <a:extLst>
                <a:ext uri="{FF2B5EF4-FFF2-40B4-BE49-F238E27FC236}">
                  <a16:creationId xmlns:a16="http://schemas.microsoft.com/office/drawing/2014/main" id="{FFB9C5D7-2BF3-4748-9582-FF22361FA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aphicFrame>
        <p:nvGraphicFramePr>
          <p:cNvPr id="6" name="Content Placeholder">
            <a:extLst>
              <a:ext uri="{FF2B5EF4-FFF2-40B4-BE49-F238E27FC236}">
                <a16:creationId xmlns:a16="http://schemas.microsoft.com/office/drawing/2014/main" id="{A2BE0A0C-D76B-C42A-04A6-8F528F6FE6EC}"/>
              </a:ext>
            </a:extLst>
          </p:cNvPr>
          <p:cNvGraphicFramePr>
            <a:graphicFrameLocks noGrp="1"/>
          </p:cNvGraphicFramePr>
          <p:nvPr>
            <p:ph idx="1"/>
            <p:extLst>
              <p:ext uri="{D42A27DB-BD31-4B8C-83A1-F6EECF244321}">
                <p14:modId xmlns:p14="http://schemas.microsoft.com/office/powerpoint/2010/main" val="1355881635"/>
              </p:ext>
            </p:extLst>
          </p:nvPr>
        </p:nvGraphicFramePr>
        <p:xfrm>
          <a:off x="903078" y="2409055"/>
          <a:ext cx="5604997" cy="38883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211" name="Table 4210">
            <a:extLst>
              <a:ext uri="{FF2B5EF4-FFF2-40B4-BE49-F238E27FC236}">
                <a16:creationId xmlns:a16="http://schemas.microsoft.com/office/drawing/2014/main" id="{36FE39D0-6BCE-E54A-5F8B-684995F531A7}"/>
              </a:ext>
            </a:extLst>
          </p:cNvPr>
          <p:cNvGraphicFramePr>
            <a:graphicFrameLocks noGrp="1"/>
          </p:cNvGraphicFramePr>
          <p:nvPr>
            <p:extLst>
              <p:ext uri="{D42A27DB-BD31-4B8C-83A1-F6EECF244321}">
                <p14:modId xmlns:p14="http://schemas.microsoft.com/office/powerpoint/2010/main" val="4169480908"/>
              </p:ext>
            </p:extLst>
          </p:nvPr>
        </p:nvGraphicFramePr>
        <p:xfrm>
          <a:off x="6624483" y="2347451"/>
          <a:ext cx="5452897" cy="3465864"/>
        </p:xfrm>
        <a:graphic>
          <a:graphicData uri="http://schemas.openxmlformats.org/drawingml/2006/table">
            <a:tbl>
              <a:tblPr firstRow="1" bandRow="1">
                <a:tableStyleId>{5C22544A-7EE6-4342-B048-85BDC9FD1C3A}</a:tableStyleId>
              </a:tblPr>
              <a:tblGrid>
                <a:gridCol w="2138516">
                  <a:extLst>
                    <a:ext uri="{9D8B030D-6E8A-4147-A177-3AD203B41FA5}">
                      <a16:colId xmlns:a16="http://schemas.microsoft.com/office/drawing/2014/main" val="2383222725"/>
                    </a:ext>
                  </a:extLst>
                </a:gridCol>
                <a:gridCol w="1066454">
                  <a:extLst>
                    <a:ext uri="{9D8B030D-6E8A-4147-A177-3AD203B41FA5}">
                      <a16:colId xmlns:a16="http://schemas.microsoft.com/office/drawing/2014/main" val="1635778963"/>
                    </a:ext>
                  </a:extLst>
                </a:gridCol>
                <a:gridCol w="1198306">
                  <a:extLst>
                    <a:ext uri="{9D8B030D-6E8A-4147-A177-3AD203B41FA5}">
                      <a16:colId xmlns:a16="http://schemas.microsoft.com/office/drawing/2014/main" val="3055080247"/>
                    </a:ext>
                  </a:extLst>
                </a:gridCol>
                <a:gridCol w="1049621">
                  <a:extLst>
                    <a:ext uri="{9D8B030D-6E8A-4147-A177-3AD203B41FA5}">
                      <a16:colId xmlns:a16="http://schemas.microsoft.com/office/drawing/2014/main" val="1064270041"/>
                    </a:ext>
                  </a:extLst>
                </a:gridCol>
              </a:tblGrid>
              <a:tr h="577644">
                <a:tc>
                  <a:txBody>
                    <a:bodyPr/>
                    <a:lstStyle/>
                    <a:p>
                      <a:endParaRPr lang="en-US">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solidFill>
                            <a:schemeClr val="tx1"/>
                          </a:solidFill>
                          <a:effectLst/>
                        </a:rPr>
                        <a:t>Raigarh</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solidFill>
                            <a:schemeClr val="tx1"/>
                          </a:solidFill>
                          <a:effectLst/>
                        </a:rPr>
                        <a:t>Nashik</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solidFill>
                            <a:schemeClr val="tx1"/>
                          </a:solidFill>
                          <a:effectLst/>
                        </a:rPr>
                        <a:t>Palghar</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8931243"/>
                  </a:ext>
                </a:extLst>
              </a:tr>
              <a:tr h="577644">
                <a:tc>
                  <a:txBody>
                    <a:bodyPr/>
                    <a:lstStyle/>
                    <a:p>
                      <a:pPr algn="ctr"/>
                      <a:r>
                        <a:rPr lang="en-US" b="1">
                          <a:solidFill>
                            <a:schemeClr val="tx1"/>
                          </a:solidFill>
                          <a:effectLst/>
                        </a:rPr>
                        <a:t>Female Population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12,89,855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29,50,001</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2,61,652</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491016163"/>
                  </a:ext>
                </a:extLst>
              </a:tr>
              <a:tr h="577644">
                <a:tc>
                  <a:txBody>
                    <a:bodyPr/>
                    <a:lstStyle/>
                    <a:p>
                      <a:pPr algn="ctr"/>
                      <a:r>
                        <a:rPr lang="en-US" b="1">
                          <a:solidFill>
                            <a:schemeClr val="tx1"/>
                          </a:solidFill>
                          <a:effectLst/>
                        </a:rPr>
                        <a:t>Working</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3,19,126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10,17,042</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68,369</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720646227"/>
                  </a:ext>
                </a:extLst>
              </a:tr>
              <a:tr h="577644">
                <a:tc>
                  <a:txBody>
                    <a:bodyPr/>
                    <a:lstStyle/>
                    <a:p>
                      <a:pPr algn="ctr"/>
                      <a:r>
                        <a:rPr lang="en-US" b="1">
                          <a:solidFill>
                            <a:schemeClr val="tx1"/>
                          </a:solidFill>
                          <a:effectLst/>
                        </a:rPr>
                        <a: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24.74%</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34.48%</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26.13%</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41445373"/>
                  </a:ext>
                </a:extLst>
              </a:tr>
              <a:tr h="577644">
                <a:tc>
                  <a:txBody>
                    <a:bodyPr/>
                    <a:lstStyle/>
                    <a:p>
                      <a:pPr algn="ctr"/>
                      <a:r>
                        <a:rPr lang="en-US" b="1">
                          <a:solidFill>
                            <a:schemeClr val="tx1"/>
                          </a:solidFill>
                          <a:effectLst/>
                        </a:rPr>
                        <a:t>Non-Working</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9,70,729</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19,32,959</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1,93,283</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283319996"/>
                  </a:ext>
                </a:extLst>
              </a:tr>
              <a:tr h="577644">
                <a:tc>
                  <a:txBody>
                    <a:bodyPr/>
                    <a:lstStyle/>
                    <a:p>
                      <a:pPr algn="ctr"/>
                      <a:r>
                        <a:rPr lang="en-US" b="1">
                          <a:solidFill>
                            <a:schemeClr val="tx1"/>
                          </a:solidFill>
                          <a:effectLst/>
                        </a:rPr>
                        <a: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75.26%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65.52%</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a:effectLst/>
                        </a:rPr>
                        <a:t>73.87%</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615359568"/>
                  </a:ext>
                </a:extLst>
              </a:tr>
            </a:tbl>
          </a:graphicData>
        </a:graphic>
      </p:graphicFrame>
    </p:spTree>
    <p:extLst>
      <p:ext uri="{BB962C8B-B14F-4D97-AF65-F5344CB8AC3E}">
        <p14:creationId xmlns:p14="http://schemas.microsoft.com/office/powerpoint/2010/main" val="1875420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5" name="Freeform: Shape 14">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1" y="167973"/>
            <a:ext cx="9988165" cy="1501639"/>
          </a:xfrm>
        </p:spPr>
        <p:txBody>
          <a:bodyPr anchor="b">
            <a:normAutofit/>
          </a:bodyPr>
          <a:lstStyle/>
          <a:p>
            <a:r>
              <a:rPr lang="en-US"/>
              <a:t>QUESTIONAIRES</a:t>
            </a:r>
          </a:p>
        </p:txBody>
      </p:sp>
      <p:grpSp>
        <p:nvGrpSpPr>
          <p:cNvPr id="24"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5"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7"/>
              <a:chOff x="4114800" y="1423987"/>
              <a:chExt cx="3961542" cy="4007547"/>
            </a:xfrm>
            <a:noFill/>
          </p:grpSpPr>
          <p:sp>
            <p:nvSpPr>
              <p:cNvPr id="27" name="Freeform: Shape 26">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 name="Freeform: Shape 25">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8D2D0C6C-D79E-52A2-157D-3439902D2457}"/>
              </a:ext>
            </a:extLst>
          </p:cNvPr>
          <p:cNvGraphicFramePr>
            <a:graphicFrameLocks noGrp="1"/>
          </p:cNvGraphicFramePr>
          <p:nvPr>
            <p:ph idx="1"/>
            <p:extLst>
              <p:ext uri="{D42A27DB-BD31-4B8C-83A1-F6EECF244321}">
                <p14:modId xmlns:p14="http://schemas.microsoft.com/office/powerpoint/2010/main" val="3504904973"/>
              </p:ext>
            </p:extLst>
          </p:nvPr>
        </p:nvGraphicFramePr>
        <p:xfrm>
          <a:off x="838200" y="1982167"/>
          <a:ext cx="10515600" cy="4194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39051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5" name="Freeform: Shape 14">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1" y="167973"/>
            <a:ext cx="9988165" cy="1501639"/>
          </a:xfrm>
        </p:spPr>
        <p:txBody>
          <a:bodyPr anchor="b">
            <a:normAutofit/>
          </a:bodyPr>
          <a:lstStyle/>
          <a:p>
            <a:r>
              <a:rPr lang="en-US"/>
              <a:t>QUESTIONAIRE</a:t>
            </a:r>
          </a:p>
        </p:txBody>
      </p:sp>
      <p:grpSp>
        <p:nvGrpSpPr>
          <p:cNvPr id="24"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5"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7"/>
              <a:chOff x="4114800" y="1423987"/>
              <a:chExt cx="3961542" cy="4007547"/>
            </a:xfrm>
            <a:noFill/>
          </p:grpSpPr>
          <p:sp>
            <p:nvSpPr>
              <p:cNvPr id="27" name="Freeform: Shape 26">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 name="Freeform: Shape 25">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965FF884-E3B1-1528-EDC0-241334541549}"/>
              </a:ext>
            </a:extLst>
          </p:cNvPr>
          <p:cNvGraphicFramePr>
            <a:graphicFrameLocks noGrp="1"/>
          </p:cNvGraphicFramePr>
          <p:nvPr>
            <p:ph idx="1"/>
            <p:extLst>
              <p:ext uri="{D42A27DB-BD31-4B8C-83A1-F6EECF244321}">
                <p14:modId xmlns:p14="http://schemas.microsoft.com/office/powerpoint/2010/main" val="904940061"/>
              </p:ext>
            </p:extLst>
          </p:nvPr>
        </p:nvGraphicFramePr>
        <p:xfrm>
          <a:off x="838200" y="1982167"/>
          <a:ext cx="10515600" cy="4194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2211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3" name="Top Left">
            <a:extLst>
              <a:ext uri="{FF2B5EF4-FFF2-40B4-BE49-F238E27FC236}">
                <a16:creationId xmlns:a16="http://schemas.microsoft.com/office/drawing/2014/main" id="{FADD1535-ED83-48B3-8EB1-671A080F09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4" name="Freeform: Shape 43">
              <a:extLst>
                <a:ext uri="{FF2B5EF4-FFF2-40B4-BE49-F238E27FC236}">
                  <a16:creationId xmlns:a16="http://schemas.microsoft.com/office/drawing/2014/main" id="{E70C64DB-421C-4FFD-8EB1-A7D1A5DC1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5" name="Freeform: Shape 44">
              <a:extLst>
                <a:ext uri="{FF2B5EF4-FFF2-40B4-BE49-F238E27FC236}">
                  <a16:creationId xmlns:a16="http://schemas.microsoft.com/office/drawing/2014/main" id="{5C04BFFB-0C30-49E1-B4F0-243531219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368C7354-F4EF-4BC5-BF44-01614E0B93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145981B8-FB15-43E7-B1CE-AE4A5E9B1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75F05D22-2B12-4452-A804-346878D55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7B26EE6B-DF99-4B8A-8859-82A92A598A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CE8FB053-1663-44BA-8128-0C19BD762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75E5E4F4-4EE0-49E3-98E5-F1E2BB91A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ADD71CC5-755D-C741-57BF-7CE212232D72}"/>
              </a:ext>
            </a:extLst>
          </p:cNvPr>
          <p:cNvSpPr>
            <a:spLocks noGrp="1"/>
          </p:cNvSpPr>
          <p:nvPr>
            <p:ph type="title"/>
          </p:nvPr>
        </p:nvSpPr>
        <p:spPr>
          <a:xfrm>
            <a:off x="1198182" y="559813"/>
            <a:ext cx="4390807" cy="1664573"/>
          </a:xfrm>
        </p:spPr>
        <p:txBody>
          <a:bodyPr>
            <a:normAutofit/>
          </a:bodyPr>
          <a:lstStyle/>
          <a:p>
            <a:r>
              <a:rPr lang="en-US">
                <a:ea typeface="+mj-lt"/>
                <a:cs typeface="+mj-lt"/>
              </a:rPr>
              <a:t>DATA COLLECTION</a:t>
            </a:r>
          </a:p>
          <a:p>
            <a:endParaRPr lang="en-US"/>
          </a:p>
        </p:txBody>
      </p:sp>
      <p:sp>
        <p:nvSpPr>
          <p:cNvPr id="3" name="Content Placeholder 2">
            <a:extLst>
              <a:ext uri="{FF2B5EF4-FFF2-40B4-BE49-F238E27FC236}">
                <a16:creationId xmlns:a16="http://schemas.microsoft.com/office/drawing/2014/main" id="{BAC0DE9A-D4B7-A18A-E6D2-D8AF0D7D1EE5}"/>
              </a:ext>
            </a:extLst>
          </p:cNvPr>
          <p:cNvSpPr>
            <a:spLocks noGrp="1"/>
          </p:cNvSpPr>
          <p:nvPr>
            <p:ph idx="1"/>
          </p:nvPr>
        </p:nvSpPr>
        <p:spPr>
          <a:xfrm>
            <a:off x="1185756" y="2384474"/>
            <a:ext cx="4390524" cy="3728613"/>
          </a:xfrm>
        </p:spPr>
        <p:txBody>
          <a:bodyPr vert="horz" lIns="91440" tIns="45720" rIns="91440" bIns="45720" rtlCol="0">
            <a:normAutofit/>
          </a:bodyPr>
          <a:lstStyle/>
          <a:p>
            <a:r>
              <a:rPr lang="en-US" sz="1800">
                <a:ea typeface="+mn-lt"/>
                <a:cs typeface="+mn-lt"/>
              </a:rPr>
              <a:t>Questionnaires</a:t>
            </a:r>
            <a:endParaRPr lang="en-US" sz="1800">
              <a:cs typeface="Arial"/>
            </a:endParaRPr>
          </a:p>
          <a:p>
            <a:r>
              <a:rPr lang="en-US" sz="1800">
                <a:ea typeface="+mn-lt"/>
                <a:cs typeface="+mn-lt"/>
              </a:rPr>
              <a:t>Surveys</a:t>
            </a:r>
          </a:p>
          <a:p>
            <a:r>
              <a:rPr lang="en-US" sz="1800">
                <a:ea typeface="+mn-lt"/>
                <a:cs typeface="+mn-lt"/>
              </a:rPr>
              <a:t>Interviews</a:t>
            </a:r>
            <a:endParaRPr lang="en-US" sz="1800">
              <a:cs typeface="Arial"/>
            </a:endParaRPr>
          </a:p>
          <a:p>
            <a:r>
              <a:rPr lang="en-US" sz="1800">
                <a:ea typeface="+mn-lt"/>
                <a:cs typeface="+mn-lt"/>
              </a:rPr>
              <a:t>Secondary data sources (existing data)</a:t>
            </a:r>
            <a:endParaRPr lang="en-US" sz="1800">
              <a:cs typeface="Arial"/>
            </a:endParaRPr>
          </a:p>
          <a:p>
            <a:endParaRPr lang="en-US" sz="1800">
              <a:cs typeface="Arial"/>
            </a:endParaRPr>
          </a:p>
          <a:p>
            <a:endParaRPr lang="en-US" sz="1800">
              <a:cs typeface="Arial"/>
            </a:endParaRPr>
          </a:p>
        </p:txBody>
      </p:sp>
      <p:pic>
        <p:nvPicPr>
          <p:cNvPr id="5" name="Picture 4" descr="Illuminated server room panel">
            <a:extLst>
              <a:ext uri="{FF2B5EF4-FFF2-40B4-BE49-F238E27FC236}">
                <a16:creationId xmlns:a16="http://schemas.microsoft.com/office/drawing/2014/main" id="{FFA257F4-5388-3762-0F4E-D92DCC406AA9}"/>
              </a:ext>
            </a:extLst>
          </p:cNvPr>
          <p:cNvPicPr>
            <a:picLocks noChangeAspect="1"/>
          </p:cNvPicPr>
          <p:nvPr/>
        </p:nvPicPr>
        <p:blipFill rotWithShape="1">
          <a:blip r:embed="rId2"/>
          <a:srcRect l="16182" r="23516" b="-1"/>
          <a:stretch/>
        </p:blipFill>
        <p:spPr>
          <a:xfrm>
            <a:off x="5996628" y="10"/>
            <a:ext cx="6195372" cy="6857990"/>
          </a:xfrm>
          <a:prstGeom prst="rect">
            <a:avLst/>
          </a:prstGeom>
        </p:spPr>
      </p:pic>
      <p:grpSp>
        <p:nvGrpSpPr>
          <p:cNvPr id="53" name="Bottom Right">
            <a:extLst>
              <a:ext uri="{FF2B5EF4-FFF2-40B4-BE49-F238E27FC236}">
                <a16:creationId xmlns:a16="http://schemas.microsoft.com/office/drawing/2014/main" id="{01081332-6CA1-49C2-A979-7709509AD1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54" name="Graphic 157">
              <a:extLst>
                <a:ext uri="{FF2B5EF4-FFF2-40B4-BE49-F238E27FC236}">
                  <a16:creationId xmlns:a16="http://schemas.microsoft.com/office/drawing/2014/main" id="{826B0664-73BC-4FCB-A447-57F7F676474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6" name="Freeform: Shape 55">
                <a:extLst>
                  <a:ext uri="{FF2B5EF4-FFF2-40B4-BE49-F238E27FC236}">
                    <a16:creationId xmlns:a16="http://schemas.microsoft.com/office/drawing/2014/main" id="{23242A3E-DBD8-44D5-930F-DA776CA06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F331C242-2FF0-40D4-BF95-4A27680F2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B500FE3B-EB2C-4A5D-ABA7-35137B2BA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6E1EA3BF-3A9F-4CD0-9640-6FF67F4430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17F4411F-5B81-451C-A006-8754E1618A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4E4D64BD-20E2-44CF-AEB4-A87A43376B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0B309630-6603-4319-BAB8-93102ABEB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5" name="Freeform: Shape 54">
              <a:extLst>
                <a:ext uri="{FF2B5EF4-FFF2-40B4-BE49-F238E27FC236}">
                  <a16:creationId xmlns:a16="http://schemas.microsoft.com/office/drawing/2014/main" id="{F540FCD4-859A-4602-9CBC-C697E3877A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629580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4"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75"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15" name="Freeform: Shape 14">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1" y="167973"/>
            <a:ext cx="9988165" cy="1228101"/>
          </a:xfrm>
        </p:spPr>
        <p:txBody>
          <a:bodyPr anchor="b">
            <a:normAutofit/>
          </a:bodyPr>
          <a:lstStyle/>
          <a:p>
            <a:r>
              <a:rPr lang="en-US"/>
              <a:t>DATA ANALYSIS</a:t>
            </a:r>
          </a:p>
        </p:txBody>
      </p:sp>
      <p:grpSp>
        <p:nvGrpSpPr>
          <p:cNvPr id="76"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5"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27" name="Freeform: Shape 26">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 name="Freeform: Shape 25">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67FD6BAF-C115-5702-3771-35A41E912961}"/>
              </a:ext>
            </a:extLst>
          </p:cNvPr>
          <p:cNvGraphicFramePr>
            <a:graphicFrameLocks noGrp="1"/>
          </p:cNvGraphicFramePr>
          <p:nvPr>
            <p:ph idx="1"/>
            <p:extLst>
              <p:ext uri="{D42A27DB-BD31-4B8C-83A1-F6EECF244321}">
                <p14:modId xmlns:p14="http://schemas.microsoft.com/office/powerpoint/2010/main" val="1293488454"/>
              </p:ext>
            </p:extLst>
          </p:nvPr>
        </p:nvGraphicFramePr>
        <p:xfrm>
          <a:off x="818662" y="1552321"/>
          <a:ext cx="10623061" cy="47321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9908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0" name="Rectangle 3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2" name="Top left">
            <a:extLst>
              <a:ext uri="{FF2B5EF4-FFF2-40B4-BE49-F238E27FC236}">
                <a16:creationId xmlns:a16="http://schemas.microsoft.com/office/drawing/2014/main" id="{32D15CB3-AC64-41F7-86F8-22A111F3D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43" name="Freeform: Shape 42">
              <a:extLst>
                <a:ext uri="{FF2B5EF4-FFF2-40B4-BE49-F238E27FC236}">
                  <a16:creationId xmlns:a16="http://schemas.microsoft.com/office/drawing/2014/main" id="{9B8FAC53-55F6-4B51-8FAD-977E5E7D7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44" name="Freeform: Shape 43">
              <a:extLst>
                <a:ext uri="{FF2B5EF4-FFF2-40B4-BE49-F238E27FC236}">
                  <a16:creationId xmlns:a16="http://schemas.microsoft.com/office/drawing/2014/main" id="{BC29D267-CD4D-4FD7-8F45-1C8FB4235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Freeform: Shape 44">
              <a:extLst>
                <a:ext uri="{FF2B5EF4-FFF2-40B4-BE49-F238E27FC236}">
                  <a16:creationId xmlns:a16="http://schemas.microsoft.com/office/drawing/2014/main" id="{0EFC9A2B-D1CA-4247-836D-EAB80EB5E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Freeform: Shape 45">
              <a:extLst>
                <a:ext uri="{FF2B5EF4-FFF2-40B4-BE49-F238E27FC236}">
                  <a16:creationId xmlns:a16="http://schemas.microsoft.com/office/drawing/2014/main" id="{F4F9AB28-B3F0-425B-8E51-E16DDB853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891B00CE-2CF5-4DF1-A345-4516E2E83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8B332657-F1E9-428F-BA70-8DD848E55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48">
              <a:extLst>
                <a:ext uri="{FF2B5EF4-FFF2-40B4-BE49-F238E27FC236}">
                  <a16:creationId xmlns:a16="http://schemas.microsoft.com/office/drawing/2014/main" id="{766A6EF8-94C7-4127-9EF9-584AD6885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Freeform: Shape 49">
              <a:extLst>
                <a:ext uri="{FF2B5EF4-FFF2-40B4-BE49-F238E27FC236}">
                  <a16:creationId xmlns:a16="http://schemas.microsoft.com/office/drawing/2014/main" id="{3B1C2001-8549-4C7B-86AB-049B0C99EF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p:cNvSpPr>
            <a:spLocks noGrp="1"/>
          </p:cNvSpPr>
          <p:nvPr>
            <p:ph type="ctrTitle"/>
          </p:nvPr>
        </p:nvSpPr>
        <p:spPr>
          <a:xfrm>
            <a:off x="1198181" y="167973"/>
            <a:ext cx="9988165" cy="1501639"/>
          </a:xfrm>
        </p:spPr>
        <p:txBody>
          <a:bodyPr>
            <a:normAutofit/>
          </a:bodyPr>
          <a:lstStyle/>
          <a:p>
            <a:pPr algn="ctr"/>
            <a:r>
              <a:rPr lang="en-US"/>
              <a:t>INTERPRETATION AND REPORTING</a:t>
            </a:r>
          </a:p>
        </p:txBody>
      </p:sp>
      <p:grpSp>
        <p:nvGrpSpPr>
          <p:cNvPr id="52" name="Bottom Right">
            <a:extLst>
              <a:ext uri="{FF2B5EF4-FFF2-40B4-BE49-F238E27FC236}">
                <a16:creationId xmlns:a16="http://schemas.microsoft.com/office/drawing/2014/main" id="{921D9B61-CDA2-49D1-82AA-534691496F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53" name="Graphic 157">
              <a:extLst>
                <a:ext uri="{FF2B5EF4-FFF2-40B4-BE49-F238E27FC236}">
                  <a16:creationId xmlns:a16="http://schemas.microsoft.com/office/drawing/2014/main" id="{A202591B-301C-460E-801A-4C116AC08CD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5"/>
              <a:chOff x="4114800" y="1423987"/>
              <a:chExt cx="3961542" cy="4007547"/>
            </a:xfrm>
            <a:noFill/>
          </p:grpSpPr>
          <p:sp>
            <p:nvSpPr>
              <p:cNvPr id="55" name="Freeform: Shape 54">
                <a:extLst>
                  <a:ext uri="{FF2B5EF4-FFF2-40B4-BE49-F238E27FC236}">
                    <a16:creationId xmlns:a16="http://schemas.microsoft.com/office/drawing/2014/main" id="{257EC7EC-4934-4A65-B3AA-6AE3BD073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Freeform: Shape 55">
                <a:extLst>
                  <a:ext uri="{FF2B5EF4-FFF2-40B4-BE49-F238E27FC236}">
                    <a16:creationId xmlns:a16="http://schemas.microsoft.com/office/drawing/2014/main" id="{201FEC27-F3E2-41E5-8C3B-FF66A13D8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Freeform: Shape 56">
                <a:extLst>
                  <a:ext uri="{FF2B5EF4-FFF2-40B4-BE49-F238E27FC236}">
                    <a16:creationId xmlns:a16="http://schemas.microsoft.com/office/drawing/2014/main" id="{CBFE67A7-A995-43D6-8414-EBB2A758A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6DB28E40-FF5E-459D-B516-A16554BBB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9724247A-6615-4D27-80F0-339276282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495168B2-CEF6-486B-AD0C-D063CDD98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Freeform: Shape 60">
                <a:extLst>
                  <a:ext uri="{FF2B5EF4-FFF2-40B4-BE49-F238E27FC236}">
                    <a16:creationId xmlns:a16="http://schemas.microsoft.com/office/drawing/2014/main" id="{E27C133D-9749-4B34-9018-29F3FF86C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4" name="Freeform: Shape 53">
              <a:extLst>
                <a:ext uri="{FF2B5EF4-FFF2-40B4-BE49-F238E27FC236}">
                  <a16:creationId xmlns:a16="http://schemas.microsoft.com/office/drawing/2014/main" id="{10388060-18B7-4BD6-A3C5-F6B8E1467E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 name="Content Placeholder">
            <a:extLst>
              <a:ext uri="{FF2B5EF4-FFF2-40B4-BE49-F238E27FC236}">
                <a16:creationId xmlns:a16="http://schemas.microsoft.com/office/drawing/2014/main" id="{AC4DCB3B-D76D-DCA5-4BF2-88485734ED5A}"/>
              </a:ext>
            </a:extLst>
          </p:cNvPr>
          <p:cNvGraphicFramePr>
            <a:graphicFrameLocks noGrp="1"/>
          </p:cNvGraphicFramePr>
          <p:nvPr>
            <p:ph idx="1"/>
            <p:extLst>
              <p:ext uri="{D42A27DB-BD31-4B8C-83A1-F6EECF244321}">
                <p14:modId xmlns:p14="http://schemas.microsoft.com/office/powerpoint/2010/main" val="1156386072"/>
              </p:ext>
            </p:extLst>
          </p:nvPr>
        </p:nvGraphicFramePr>
        <p:xfrm>
          <a:off x="600306" y="1847031"/>
          <a:ext cx="10982090" cy="4276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9934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CA11E-5EC0-401D-03E2-EDE6143CD487}"/>
              </a:ext>
            </a:extLst>
          </p:cNvPr>
          <p:cNvSpPr>
            <a:spLocks noGrp="1"/>
          </p:cNvSpPr>
          <p:nvPr>
            <p:ph type="title"/>
          </p:nvPr>
        </p:nvSpPr>
        <p:spPr/>
        <p:txBody>
          <a:bodyPr>
            <a:normAutofit fontScale="90000"/>
          </a:bodyPr>
          <a:lstStyle/>
          <a:p>
            <a:r>
              <a:rPr lang="en-US">
                <a:ea typeface="+mj-lt"/>
                <a:cs typeface="+mj-lt"/>
              </a:rPr>
              <a:t>Various Initiatives taken to overcome the barriers</a:t>
            </a:r>
            <a:endParaRPr lang="en-US"/>
          </a:p>
        </p:txBody>
      </p:sp>
      <p:sp>
        <p:nvSpPr>
          <p:cNvPr id="3" name="Content Placeholder 2">
            <a:extLst>
              <a:ext uri="{FF2B5EF4-FFF2-40B4-BE49-F238E27FC236}">
                <a16:creationId xmlns:a16="http://schemas.microsoft.com/office/drawing/2014/main" id="{A18F4FE9-14A0-73DC-1253-FF5184FEABF9}"/>
              </a:ext>
            </a:extLst>
          </p:cNvPr>
          <p:cNvSpPr>
            <a:spLocks noGrp="1"/>
          </p:cNvSpPr>
          <p:nvPr>
            <p:ph idx="1"/>
          </p:nvPr>
        </p:nvSpPr>
        <p:spPr/>
        <p:txBody>
          <a:bodyPr vert="horz" lIns="91440" tIns="45720" rIns="91440" bIns="45720" rtlCol="0" anchor="t">
            <a:normAutofit/>
          </a:bodyPr>
          <a:lstStyle/>
          <a:p>
            <a:pPr marL="285750" indent="-285750">
              <a:lnSpc>
                <a:spcPct val="90000"/>
              </a:lnSpc>
              <a:buFont typeface="Arial,Sans-Serif" panose="020B0504020202020204" pitchFamily="34" charset="0"/>
              <a:buChar char="•"/>
            </a:pPr>
            <a:r>
              <a:rPr lang="en-US" sz="2400">
                <a:ea typeface="+mn-lt"/>
                <a:cs typeface="+mn-lt"/>
              </a:rPr>
              <a:t>The Government of India has several initiatives to address the barriers to women's employment in rural areas, such as the Pradhan Mantri Matru Vandana Yojana and the </a:t>
            </a:r>
            <a:r>
              <a:rPr lang="en-US" sz="2400" err="1">
                <a:ea typeface="+mn-lt"/>
                <a:cs typeface="+mn-lt"/>
              </a:rPr>
              <a:t>Mahila</a:t>
            </a:r>
            <a:r>
              <a:rPr lang="en-US" sz="2400">
                <a:ea typeface="+mn-lt"/>
                <a:cs typeface="+mn-lt"/>
              </a:rPr>
              <a:t> Shakti Kendra scheme, aimed at improving the socio-economic status of women and promoting their participation in the workforce.</a:t>
            </a:r>
          </a:p>
          <a:p>
            <a:pPr marL="0" indent="0">
              <a:lnSpc>
                <a:spcPct val="90000"/>
              </a:lnSpc>
              <a:buNone/>
            </a:pPr>
            <a:endParaRPr lang="en-US" sz="2400">
              <a:ea typeface="+mn-lt"/>
              <a:cs typeface="+mn-lt"/>
            </a:endParaRPr>
          </a:p>
          <a:p>
            <a:pPr marL="285750" indent="-285750">
              <a:lnSpc>
                <a:spcPct val="90000"/>
              </a:lnSpc>
              <a:buFont typeface="Arial,Sans-Serif" panose="020B0504020202020204" pitchFamily="34" charset="0"/>
              <a:buChar char="•"/>
            </a:pPr>
            <a:r>
              <a:rPr lang="en-US" sz="2400">
                <a:ea typeface="+mn-lt"/>
                <a:cs typeface="+mn-lt"/>
              </a:rPr>
              <a:t>However, the data shows that the rate of women's employment in rural India still remains low and more efforts needs to be taken to empower them with education, skills, infrastructure, and financial resources and addressing the cultural norms and household responsibilities for rural women's employment.</a:t>
            </a:r>
            <a:endParaRPr lang="en-US" sz="2400"/>
          </a:p>
        </p:txBody>
      </p:sp>
    </p:spTree>
    <p:extLst>
      <p:ext uri="{BB962C8B-B14F-4D97-AF65-F5344CB8AC3E}">
        <p14:creationId xmlns:p14="http://schemas.microsoft.com/office/powerpoint/2010/main" val="3096040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9" name="Freeform: Shape 8">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1" name="Freeform: Shape 10">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3" name="Freeform: Shape 12">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5"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6" name="Freeform: Shape 15">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24"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7"/>
            <a:chOff x="4114800" y="1423987"/>
            <a:chExt cx="3961542" cy="4007547"/>
          </a:xfrm>
          <a:noFill/>
        </p:grpSpPr>
        <p:sp>
          <p:nvSpPr>
            <p:cNvPr id="25" name="Freeform: Shape 24">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3" name="Rectangle 32">
            <a:extLst>
              <a:ext uri="{FF2B5EF4-FFF2-40B4-BE49-F238E27FC236}">
                <a16:creationId xmlns:a16="http://schemas.microsoft.com/office/drawing/2014/main" id="{3A6C273A-38F2-4D34-98BF-47B248862B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5" name="Rectangle 34">
            <a:extLst>
              <a:ext uri="{FF2B5EF4-FFF2-40B4-BE49-F238E27FC236}">
                <a16:creationId xmlns:a16="http://schemas.microsoft.com/office/drawing/2014/main" id="{2E2CF659-EE5D-432C-B47F-10AC4A48A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7" name="Footer Placeholder 42">
            <a:extLst>
              <a:ext uri="{FF2B5EF4-FFF2-40B4-BE49-F238E27FC236}">
                <a16:creationId xmlns:a16="http://schemas.microsoft.com/office/drawing/2014/main" id="{03E51277-1095-412F-913B-8FA8021AA626}"/>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cap="all" spc="200">
              <a:latin typeface="Segoe UI Semilight" panose="020B0402040204020203" pitchFamily="34" charset="0"/>
              <a:cs typeface="Segoe UI Semilight" panose="020B0402040204020203" pitchFamily="34" charset="0"/>
            </a:endParaRPr>
          </a:p>
        </p:txBody>
      </p:sp>
      <p:grpSp>
        <p:nvGrpSpPr>
          <p:cNvPr id="39" name="Top Left">
            <a:extLst>
              <a:ext uri="{FF2B5EF4-FFF2-40B4-BE49-F238E27FC236}">
                <a16:creationId xmlns:a16="http://schemas.microsoft.com/office/drawing/2014/main" id="{FC280B3D-FC68-4DDC-950C-506B5C6838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87"/>
            <a:ext cx="7921775" cy="6887020"/>
            <a:chOff x="0" y="-3087"/>
            <a:chExt cx="7921775" cy="6887020"/>
          </a:xfrm>
        </p:grpSpPr>
        <p:sp>
          <p:nvSpPr>
            <p:cNvPr id="40" name="Freeform: Shape 39">
              <a:extLst>
                <a:ext uri="{FF2B5EF4-FFF2-40B4-BE49-F238E27FC236}">
                  <a16:creationId xmlns:a16="http://schemas.microsoft.com/office/drawing/2014/main" id="{4EA2AE61-06D9-484D-8DD1-BACA157CC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1" name="Freeform: Shape 40">
              <a:extLst>
                <a:ext uri="{FF2B5EF4-FFF2-40B4-BE49-F238E27FC236}">
                  <a16:creationId xmlns:a16="http://schemas.microsoft.com/office/drawing/2014/main" id="{712269F1-E4D6-4EEB-8A0F-059FAFC40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0919" y="61392"/>
              <a:ext cx="4450856" cy="6822541"/>
            </a:xfrm>
            <a:custGeom>
              <a:avLst/>
              <a:gdLst>
                <a:gd name="connsiteX0" fmla="*/ 545711 w 2478714"/>
                <a:gd name="connsiteY0" fmla="*/ 3799523 h 3799522"/>
                <a:gd name="connsiteX1" fmla="*/ 280820 w 2478714"/>
                <a:gd name="connsiteY1" fmla="*/ 3178874 h 3799522"/>
                <a:gd name="connsiteX2" fmla="*/ 43076 w 2478714"/>
                <a:gd name="connsiteY2" fmla="*/ 2663762 h 3799522"/>
                <a:gd name="connsiteX3" fmla="*/ 3167 w 2478714"/>
                <a:gd name="connsiteY3" fmla="*/ 2344769 h 3799522"/>
                <a:gd name="connsiteX4" fmla="*/ 117943 w 2478714"/>
                <a:gd name="connsiteY4" fmla="*/ 1976723 h 3799522"/>
                <a:gd name="connsiteX5" fmla="*/ 224242 w 2478714"/>
                <a:gd name="connsiteY5" fmla="*/ 1744123 h 3799522"/>
                <a:gd name="connsiteX6" fmla="*/ 447222 w 2478714"/>
                <a:gd name="connsiteY6" fmla="*/ 1569244 h 3799522"/>
                <a:gd name="connsiteX7" fmla="*/ 708588 w 2478714"/>
                <a:gd name="connsiteY7" fmla="*/ 1598295 h 3799522"/>
                <a:gd name="connsiteX8" fmla="*/ 1024532 w 2478714"/>
                <a:gd name="connsiteY8" fmla="*/ 1741837 h 3799522"/>
                <a:gd name="connsiteX9" fmla="*/ 1538692 w 2478714"/>
                <a:gd name="connsiteY9" fmla="*/ 1773460 h 3799522"/>
                <a:gd name="connsiteX10" fmla="*/ 1869019 w 2478714"/>
                <a:gd name="connsiteY10" fmla="*/ 1650016 h 3799522"/>
                <a:gd name="connsiteX11" fmla="*/ 2124670 w 2478714"/>
                <a:gd name="connsiteY11" fmla="*/ 1515047 h 3799522"/>
                <a:gd name="connsiteX12" fmla="*/ 2334410 w 2478714"/>
                <a:gd name="connsiteY12" fmla="*/ 1305401 h 3799522"/>
                <a:gd name="connsiteX13" fmla="*/ 2430232 w 2478714"/>
                <a:gd name="connsiteY13" fmla="*/ 933164 h 3799522"/>
                <a:gd name="connsiteX14" fmla="*/ 2430232 w 2478714"/>
                <a:gd name="connsiteY14" fmla="*/ 571786 h 3799522"/>
                <a:gd name="connsiteX15" fmla="*/ 2445472 w 2478714"/>
                <a:gd name="connsiteY15" fmla="*/ 315659 h 3799522"/>
                <a:gd name="connsiteX16" fmla="*/ 2478714 w 2478714"/>
                <a:gd name="connsiteY16" fmla="*/ 0 h 3799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8714" h="3799522">
                  <a:moveTo>
                    <a:pt x="545711" y="3799523"/>
                  </a:moveTo>
                  <a:cubicBezTo>
                    <a:pt x="492847" y="3532346"/>
                    <a:pt x="330541" y="3270313"/>
                    <a:pt x="280820" y="3178874"/>
                  </a:cubicBezTo>
                  <a:cubicBezTo>
                    <a:pt x="190047" y="3012281"/>
                    <a:pt x="98988" y="2844832"/>
                    <a:pt x="43076" y="2663762"/>
                  </a:cubicBezTo>
                  <a:cubicBezTo>
                    <a:pt x="11072" y="2560130"/>
                    <a:pt x="-7882" y="2452402"/>
                    <a:pt x="3167" y="2344769"/>
                  </a:cubicBezTo>
                  <a:cubicBezTo>
                    <a:pt x="16311" y="2216468"/>
                    <a:pt x="71175" y="2097310"/>
                    <a:pt x="117943" y="1976723"/>
                  </a:cubicBezTo>
                  <a:cubicBezTo>
                    <a:pt x="148899" y="1896904"/>
                    <a:pt x="177569" y="1815751"/>
                    <a:pt x="224242" y="1744123"/>
                  </a:cubicBezTo>
                  <a:cubicBezTo>
                    <a:pt x="277677" y="1662017"/>
                    <a:pt x="352829" y="1593437"/>
                    <a:pt x="447222" y="1569244"/>
                  </a:cubicBezTo>
                  <a:cubicBezTo>
                    <a:pt x="534090" y="1547051"/>
                    <a:pt x="624387" y="1565910"/>
                    <a:pt x="708588" y="1598295"/>
                  </a:cubicBezTo>
                  <a:cubicBezTo>
                    <a:pt x="816697" y="1640015"/>
                    <a:pt x="915948" y="1701546"/>
                    <a:pt x="1024532" y="1741837"/>
                  </a:cubicBezTo>
                  <a:cubicBezTo>
                    <a:pt x="1188743" y="1802797"/>
                    <a:pt x="1367814" y="1811750"/>
                    <a:pt x="1538692" y="1773460"/>
                  </a:cubicBezTo>
                  <a:cubicBezTo>
                    <a:pt x="1653659" y="1747647"/>
                    <a:pt x="1761863" y="1699355"/>
                    <a:pt x="1869019" y="1650016"/>
                  </a:cubicBezTo>
                  <a:cubicBezTo>
                    <a:pt x="1956744" y="1609630"/>
                    <a:pt x="2044279" y="1568291"/>
                    <a:pt x="2124670" y="1515047"/>
                  </a:cubicBezTo>
                  <a:cubicBezTo>
                    <a:pt x="2208204" y="1459706"/>
                    <a:pt x="2282976" y="1391222"/>
                    <a:pt x="2334410" y="1305401"/>
                  </a:cubicBezTo>
                  <a:cubicBezTo>
                    <a:pt x="2401181" y="1194054"/>
                    <a:pt x="2423565" y="1063276"/>
                    <a:pt x="2430232" y="933164"/>
                  </a:cubicBezTo>
                  <a:cubicBezTo>
                    <a:pt x="2436423" y="812864"/>
                    <a:pt x="2428517" y="692277"/>
                    <a:pt x="2430232" y="571786"/>
                  </a:cubicBezTo>
                  <a:cubicBezTo>
                    <a:pt x="2431470" y="486251"/>
                    <a:pt x="2438233" y="400907"/>
                    <a:pt x="2445472" y="315659"/>
                  </a:cubicBezTo>
                  <a:cubicBezTo>
                    <a:pt x="2454426" y="210217"/>
                    <a:pt x="2463284" y="104680"/>
                    <a:pt x="247871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088D87B2-D2A4-4577-89DC-7AF275C017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274" y="1582560"/>
              <a:ext cx="4133888" cy="5301373"/>
            </a:xfrm>
            <a:custGeom>
              <a:avLst/>
              <a:gdLst>
                <a:gd name="connsiteX0" fmla="*/ 2302193 w 2302192"/>
                <a:gd name="connsiteY0" fmla="*/ 2952373 h 2952373"/>
                <a:gd name="connsiteX1" fmla="*/ 2022729 w 2302192"/>
                <a:gd name="connsiteY1" fmla="*/ 2442309 h 2952373"/>
                <a:gd name="connsiteX2" fmla="*/ 1834039 w 2302192"/>
                <a:gd name="connsiteY2" fmla="*/ 1937199 h 2952373"/>
                <a:gd name="connsiteX3" fmla="*/ 1789748 w 2302192"/>
                <a:gd name="connsiteY3" fmla="*/ 1609063 h 2952373"/>
                <a:gd name="connsiteX4" fmla="*/ 1870139 w 2302192"/>
                <a:gd name="connsiteY4" fmla="*/ 1183962 h 2952373"/>
                <a:gd name="connsiteX5" fmla="*/ 2021110 w 2302192"/>
                <a:gd name="connsiteY5" fmla="*/ 743621 h 2952373"/>
                <a:gd name="connsiteX6" fmla="*/ 2010061 w 2302192"/>
                <a:gd name="connsiteY6" fmla="*/ 342047 h 2952373"/>
                <a:gd name="connsiteX7" fmla="*/ 1867376 w 2302192"/>
                <a:gd name="connsiteY7" fmla="*/ 55440 h 2952373"/>
                <a:gd name="connsiteX8" fmla="*/ 1652683 w 2302192"/>
                <a:gd name="connsiteY8" fmla="*/ 2862 h 2952373"/>
                <a:gd name="connsiteX9" fmla="*/ 1295305 w 2302192"/>
                <a:gd name="connsiteY9" fmla="*/ 234129 h 2952373"/>
                <a:gd name="connsiteX10" fmla="*/ 812101 w 2302192"/>
                <a:gd name="connsiteY10" fmla="*/ 886401 h 2952373"/>
                <a:gd name="connsiteX11" fmla="*/ 668846 w 2302192"/>
                <a:gd name="connsiteY11" fmla="*/ 1126145 h 2952373"/>
                <a:gd name="connsiteX12" fmla="*/ 498443 w 2302192"/>
                <a:gd name="connsiteY12" fmla="*/ 1405799 h 2952373"/>
                <a:gd name="connsiteX13" fmla="*/ 355759 w 2302192"/>
                <a:gd name="connsiteY13" fmla="*/ 1634304 h 2952373"/>
                <a:gd name="connsiteX14" fmla="*/ 161449 w 2302192"/>
                <a:gd name="connsiteY14" fmla="*/ 1913576 h 2952373"/>
                <a:gd name="connsiteX15" fmla="*/ 0 w 2302192"/>
                <a:gd name="connsiteY15" fmla="*/ 2189802 h 295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02192" h="2952373">
                  <a:moveTo>
                    <a:pt x="2302193" y="2952373"/>
                  </a:moveTo>
                  <a:cubicBezTo>
                    <a:pt x="2141125" y="2809308"/>
                    <a:pt x="2070068" y="2504603"/>
                    <a:pt x="2022729" y="2442309"/>
                  </a:cubicBezTo>
                  <a:cubicBezTo>
                    <a:pt x="1884140" y="2259810"/>
                    <a:pt x="1887760" y="2160274"/>
                    <a:pt x="1834039" y="1937199"/>
                  </a:cubicBezTo>
                  <a:cubicBezTo>
                    <a:pt x="1808131" y="1829376"/>
                    <a:pt x="1789367" y="1719838"/>
                    <a:pt x="1789748" y="1609063"/>
                  </a:cubicBezTo>
                  <a:cubicBezTo>
                    <a:pt x="1790224" y="1464092"/>
                    <a:pt x="1822418" y="1321122"/>
                    <a:pt x="1870139" y="1183962"/>
                  </a:cubicBezTo>
                  <a:cubicBezTo>
                    <a:pt x="1921288" y="1036896"/>
                    <a:pt x="1991868" y="896307"/>
                    <a:pt x="2021110" y="743621"/>
                  </a:cubicBezTo>
                  <a:cubicBezTo>
                    <a:pt x="2046637" y="610842"/>
                    <a:pt x="2036921" y="474730"/>
                    <a:pt x="2010061" y="342047"/>
                  </a:cubicBezTo>
                  <a:cubicBezTo>
                    <a:pt x="1988058" y="233367"/>
                    <a:pt x="1954340" y="122210"/>
                    <a:pt x="1867376" y="55440"/>
                  </a:cubicBezTo>
                  <a:cubicBezTo>
                    <a:pt x="1806512" y="8767"/>
                    <a:pt x="1728883" y="-7140"/>
                    <a:pt x="1652683" y="2862"/>
                  </a:cubicBezTo>
                  <a:cubicBezTo>
                    <a:pt x="1508474" y="21816"/>
                    <a:pt x="1395984" y="127068"/>
                    <a:pt x="1295305" y="234129"/>
                  </a:cubicBezTo>
                  <a:cubicBezTo>
                    <a:pt x="1109377" y="431772"/>
                    <a:pt x="953453" y="654657"/>
                    <a:pt x="812101" y="886401"/>
                  </a:cubicBezTo>
                  <a:cubicBezTo>
                    <a:pt x="763619" y="965934"/>
                    <a:pt x="716566" y="1046230"/>
                    <a:pt x="668846" y="1126145"/>
                  </a:cubicBezTo>
                  <a:cubicBezTo>
                    <a:pt x="612839" y="1219871"/>
                    <a:pt x="555308" y="1312644"/>
                    <a:pt x="498443" y="1405799"/>
                  </a:cubicBezTo>
                  <a:cubicBezTo>
                    <a:pt x="451676" y="1482475"/>
                    <a:pt x="405289" y="1559342"/>
                    <a:pt x="355759" y="1634304"/>
                  </a:cubicBezTo>
                  <a:cubicBezTo>
                    <a:pt x="293275" y="1728887"/>
                    <a:pt x="225362" y="1819946"/>
                    <a:pt x="161449" y="1913576"/>
                  </a:cubicBezTo>
                  <a:cubicBezTo>
                    <a:pt x="86487" y="2023495"/>
                    <a:pt x="0" y="2189802"/>
                    <a:pt x="0" y="2189802"/>
                  </a:cubicBezTo>
                </a:path>
              </a:pathLst>
            </a:custGeom>
            <a:noFill/>
            <a:ln w="9525" cap="rnd">
              <a:solidFill>
                <a:schemeClr val="accent2">
                  <a:alpha val="35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ACCB55F8-F950-431F-9B90-688950D9F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087"/>
              <a:ext cx="17103" cy="17103"/>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27D0AA11-2E4E-479C-B953-547285E724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087"/>
              <a:ext cx="17103" cy="17103"/>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90D86C66-EDF0-4ABB-87F4-A2882A2E0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931" y="3518322"/>
              <a:ext cx="2880722" cy="3317378"/>
            </a:xfrm>
            <a:custGeom>
              <a:avLst/>
              <a:gdLst>
                <a:gd name="connsiteX0" fmla="*/ 1604296 w 1604295"/>
                <a:gd name="connsiteY0" fmla="*/ 1847472 h 1847472"/>
                <a:gd name="connsiteX1" fmla="*/ 1517809 w 1604295"/>
                <a:gd name="connsiteY1" fmla="*/ 1544292 h 1847472"/>
                <a:gd name="connsiteX2" fmla="*/ 1394841 w 1604295"/>
                <a:gd name="connsiteY2" fmla="*/ 1183771 h 1847472"/>
                <a:gd name="connsiteX3" fmla="*/ 1318355 w 1604295"/>
                <a:gd name="connsiteY3" fmla="*/ 695233 h 1847472"/>
                <a:gd name="connsiteX4" fmla="*/ 1359884 w 1604295"/>
                <a:gd name="connsiteY4" fmla="*/ 397863 h 1847472"/>
                <a:gd name="connsiteX5" fmla="*/ 1359884 w 1604295"/>
                <a:gd name="connsiteY5" fmla="*/ 236700 h 1847472"/>
                <a:gd name="connsiteX6" fmla="*/ 1351598 w 1604295"/>
                <a:gd name="connsiteY6" fmla="*/ 67250 h 1847472"/>
                <a:gd name="connsiteX7" fmla="*/ 1316641 w 1604295"/>
                <a:gd name="connsiteY7" fmla="*/ 10767 h 1847472"/>
                <a:gd name="connsiteX8" fmla="*/ 1195292 w 1604295"/>
                <a:gd name="connsiteY8" fmla="*/ 34008 h 1847472"/>
                <a:gd name="connsiteX9" fmla="*/ 1005745 w 1604295"/>
                <a:gd name="connsiteY9" fmla="*/ 254988 h 1847472"/>
                <a:gd name="connsiteX10" fmla="*/ 763048 w 1604295"/>
                <a:gd name="connsiteY10" fmla="*/ 587315 h 1847472"/>
                <a:gd name="connsiteX11" fmla="*/ 548640 w 1604295"/>
                <a:gd name="connsiteY11" fmla="*/ 861444 h 1847472"/>
                <a:gd name="connsiteX12" fmla="*/ 328803 w 1604295"/>
                <a:gd name="connsiteY12" fmla="*/ 1145480 h 1847472"/>
                <a:gd name="connsiteX13" fmla="*/ 0 w 1604295"/>
                <a:gd name="connsiteY13" fmla="*/ 1607157 h 1847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04295" h="1847472">
                  <a:moveTo>
                    <a:pt x="1604296" y="1847472"/>
                  </a:moveTo>
                  <a:cubicBezTo>
                    <a:pt x="1573721" y="1753270"/>
                    <a:pt x="1548479" y="1638399"/>
                    <a:pt x="1517809" y="1544292"/>
                  </a:cubicBezTo>
                  <a:cubicBezTo>
                    <a:pt x="1478471" y="1423515"/>
                    <a:pt x="1432846" y="1304929"/>
                    <a:pt x="1394841" y="1183771"/>
                  </a:cubicBezTo>
                  <a:cubicBezTo>
                    <a:pt x="1345025" y="1024893"/>
                    <a:pt x="1305497" y="860778"/>
                    <a:pt x="1318355" y="695233"/>
                  </a:cubicBezTo>
                  <a:cubicBezTo>
                    <a:pt x="1326071" y="595316"/>
                    <a:pt x="1353312" y="497780"/>
                    <a:pt x="1359884" y="397863"/>
                  </a:cubicBezTo>
                  <a:cubicBezTo>
                    <a:pt x="1363409" y="344237"/>
                    <a:pt x="1359503" y="290421"/>
                    <a:pt x="1359884" y="236700"/>
                  </a:cubicBezTo>
                  <a:cubicBezTo>
                    <a:pt x="1360265" y="179740"/>
                    <a:pt x="1366076" y="122114"/>
                    <a:pt x="1351598" y="67250"/>
                  </a:cubicBezTo>
                  <a:cubicBezTo>
                    <a:pt x="1345692" y="44866"/>
                    <a:pt x="1335691" y="23530"/>
                    <a:pt x="1316641" y="10767"/>
                  </a:cubicBezTo>
                  <a:cubicBezTo>
                    <a:pt x="1279874" y="-13998"/>
                    <a:pt x="1233202" y="8290"/>
                    <a:pt x="1195292" y="34008"/>
                  </a:cubicBezTo>
                  <a:cubicBezTo>
                    <a:pt x="1114330" y="89062"/>
                    <a:pt x="1060990" y="173644"/>
                    <a:pt x="1005745" y="254988"/>
                  </a:cubicBezTo>
                  <a:cubicBezTo>
                    <a:pt x="928688" y="368526"/>
                    <a:pt x="847058" y="478825"/>
                    <a:pt x="763048" y="587315"/>
                  </a:cubicBezTo>
                  <a:cubicBezTo>
                    <a:pt x="691991" y="679041"/>
                    <a:pt x="621697" y="771338"/>
                    <a:pt x="548640" y="861444"/>
                  </a:cubicBezTo>
                  <a:cubicBezTo>
                    <a:pt x="425672" y="1012987"/>
                    <a:pt x="453866" y="995747"/>
                    <a:pt x="328803" y="1145480"/>
                  </a:cubicBezTo>
                  <a:cubicBezTo>
                    <a:pt x="294418" y="1186628"/>
                    <a:pt x="21146" y="1558103"/>
                    <a:pt x="0" y="1607157"/>
                  </a:cubicBezTo>
                </a:path>
              </a:pathLst>
            </a:custGeom>
            <a:noFill/>
            <a:ln w="9525" cap="rnd">
              <a:solidFill>
                <a:schemeClr val="accent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D026082B-E695-4987-8C03-332366C6C9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69" y="2957679"/>
              <a:ext cx="2196245" cy="3010367"/>
            </a:xfrm>
            <a:custGeom>
              <a:avLst/>
              <a:gdLst>
                <a:gd name="connsiteX0" fmla="*/ 1223105 w 1223105"/>
                <a:gd name="connsiteY0" fmla="*/ 0 h 1676495"/>
                <a:gd name="connsiteX1" fmla="*/ 1000792 w 1223105"/>
                <a:gd name="connsiteY1" fmla="*/ 254794 h 1676495"/>
                <a:gd name="connsiteX2" fmla="*/ 744760 w 1223105"/>
                <a:gd name="connsiteY2" fmla="*/ 651891 h 1676495"/>
                <a:gd name="connsiteX3" fmla="*/ 345758 w 1223105"/>
                <a:gd name="connsiteY3" fmla="*/ 1231773 h 1676495"/>
                <a:gd name="connsiteX4" fmla="*/ 0 w 1223105"/>
                <a:gd name="connsiteY4" fmla="*/ 1676495 h 1676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1676495">
                  <a:moveTo>
                    <a:pt x="1223105" y="0"/>
                  </a:moveTo>
                  <a:cubicBezTo>
                    <a:pt x="1136523" y="72771"/>
                    <a:pt x="1066324" y="162401"/>
                    <a:pt x="1000792" y="254794"/>
                  </a:cubicBezTo>
                  <a:cubicBezTo>
                    <a:pt x="909733" y="383286"/>
                    <a:pt x="827723" y="517970"/>
                    <a:pt x="744760" y="651891"/>
                  </a:cubicBezTo>
                  <a:cubicBezTo>
                    <a:pt x="621030" y="851726"/>
                    <a:pt x="497777" y="1052608"/>
                    <a:pt x="345758" y="1231773"/>
                  </a:cubicBezTo>
                  <a:cubicBezTo>
                    <a:pt x="248888" y="1345978"/>
                    <a:pt x="61722" y="1540764"/>
                    <a:pt x="0" y="1676495"/>
                  </a:cubicBezTo>
                </a:path>
              </a:pathLst>
            </a:custGeom>
            <a:noFill/>
            <a:ln w="9525" cap="rnd">
              <a:solidFill>
                <a:schemeClr val="accent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461A8835-D9FC-4CAB-AF19-A5513B17BA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34043" y="2855696"/>
              <a:ext cx="1200999" cy="3994030"/>
            </a:xfrm>
            <a:custGeom>
              <a:avLst/>
              <a:gdLst>
                <a:gd name="connsiteX0" fmla="*/ 668846 w 668845"/>
                <a:gd name="connsiteY0" fmla="*/ 2224305 h 2224304"/>
                <a:gd name="connsiteX1" fmla="*/ 486918 w 668845"/>
                <a:gd name="connsiteY1" fmla="*/ 1944365 h 2224304"/>
                <a:gd name="connsiteX2" fmla="*/ 376809 w 668845"/>
                <a:gd name="connsiteY2" fmla="*/ 1659663 h 2224304"/>
                <a:gd name="connsiteX3" fmla="*/ 319373 w 668845"/>
                <a:gd name="connsiteY3" fmla="*/ 1425157 h 2224304"/>
                <a:gd name="connsiteX4" fmla="*/ 264319 w 668845"/>
                <a:gd name="connsiteY4" fmla="*/ 1130834 h 2224304"/>
                <a:gd name="connsiteX5" fmla="*/ 278702 w 668845"/>
                <a:gd name="connsiteY5" fmla="*/ 882041 h 2224304"/>
                <a:gd name="connsiteX6" fmla="*/ 302609 w 668845"/>
                <a:gd name="connsiteY6" fmla="*/ 736118 h 2224304"/>
                <a:gd name="connsiteX7" fmla="*/ 360045 w 668845"/>
                <a:gd name="connsiteY7" fmla="*/ 444177 h 2224304"/>
                <a:gd name="connsiteX8" fmla="*/ 386334 w 668845"/>
                <a:gd name="connsiteY8" fmla="*/ 233675 h 2224304"/>
                <a:gd name="connsiteX9" fmla="*/ 0 w 668845"/>
                <a:gd name="connsiteY9" fmla="*/ 56795 h 222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8845" h="2224304">
                  <a:moveTo>
                    <a:pt x="668846" y="2224305"/>
                  </a:moveTo>
                  <a:cubicBezTo>
                    <a:pt x="599218" y="2137151"/>
                    <a:pt x="537210" y="2043996"/>
                    <a:pt x="486918" y="1944365"/>
                  </a:cubicBezTo>
                  <a:cubicBezTo>
                    <a:pt x="441008" y="1853306"/>
                    <a:pt x="404717" y="1757770"/>
                    <a:pt x="376809" y="1659663"/>
                  </a:cubicBezTo>
                  <a:cubicBezTo>
                    <a:pt x="354806" y="1582224"/>
                    <a:pt x="337757" y="1503548"/>
                    <a:pt x="319373" y="1425157"/>
                  </a:cubicBezTo>
                  <a:cubicBezTo>
                    <a:pt x="296418" y="1327811"/>
                    <a:pt x="270510" y="1230657"/>
                    <a:pt x="264319" y="1130834"/>
                  </a:cubicBezTo>
                  <a:cubicBezTo>
                    <a:pt x="259080" y="1047681"/>
                    <a:pt x="266891" y="964528"/>
                    <a:pt x="278702" y="882041"/>
                  </a:cubicBezTo>
                  <a:cubicBezTo>
                    <a:pt x="285655" y="833274"/>
                    <a:pt x="293751" y="784601"/>
                    <a:pt x="302609" y="736118"/>
                  </a:cubicBezTo>
                  <a:cubicBezTo>
                    <a:pt x="320516" y="638582"/>
                    <a:pt x="339471" y="541237"/>
                    <a:pt x="360045" y="444177"/>
                  </a:cubicBezTo>
                  <a:cubicBezTo>
                    <a:pt x="374809" y="374549"/>
                    <a:pt x="389763" y="304541"/>
                    <a:pt x="386334" y="233675"/>
                  </a:cubicBezTo>
                  <a:cubicBezTo>
                    <a:pt x="383191" y="168809"/>
                    <a:pt x="391287" y="-120751"/>
                    <a:pt x="0" y="56795"/>
                  </a:cubicBezTo>
                </a:path>
              </a:pathLst>
            </a:custGeom>
            <a:noFill/>
            <a:ln w="9525" cap="rnd">
              <a:solidFill>
                <a:schemeClr val="accent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54E6BA76-9515-415F-BAC9-76958DA6E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7437" y="5668418"/>
              <a:ext cx="1982111" cy="1181308"/>
            </a:xfrm>
            <a:custGeom>
              <a:avLst/>
              <a:gdLst>
                <a:gd name="connsiteX0" fmla="*/ 1103852 w 1103852"/>
                <a:gd name="connsiteY0" fmla="*/ 657879 h 657879"/>
                <a:gd name="connsiteX1" fmla="*/ 883063 w 1103852"/>
                <a:gd name="connsiteY1" fmla="*/ 177724 h 657879"/>
                <a:gd name="connsiteX2" fmla="*/ 678085 w 1103852"/>
                <a:gd name="connsiteY2" fmla="*/ 17132 h 657879"/>
                <a:gd name="connsiteX3" fmla="*/ 461962 w 1103852"/>
                <a:gd name="connsiteY3" fmla="*/ 17132 h 657879"/>
                <a:gd name="connsiteX4" fmla="*/ 136398 w 1103852"/>
                <a:gd name="connsiteY4" fmla="*/ 267735 h 657879"/>
                <a:gd name="connsiteX5" fmla="*/ 0 w 1103852"/>
                <a:gd name="connsiteY5" fmla="*/ 650830 h 65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3852" h="657879">
                  <a:moveTo>
                    <a:pt x="1103852" y="657879"/>
                  </a:moveTo>
                  <a:cubicBezTo>
                    <a:pt x="1071563" y="576250"/>
                    <a:pt x="937546" y="246494"/>
                    <a:pt x="883063" y="177724"/>
                  </a:cubicBezTo>
                  <a:cubicBezTo>
                    <a:pt x="828104" y="108382"/>
                    <a:pt x="761238" y="46279"/>
                    <a:pt x="678085" y="17132"/>
                  </a:cubicBezTo>
                  <a:cubicBezTo>
                    <a:pt x="608171" y="-7347"/>
                    <a:pt x="533210" y="-4013"/>
                    <a:pt x="461962" y="17132"/>
                  </a:cubicBezTo>
                  <a:cubicBezTo>
                    <a:pt x="326898" y="57137"/>
                    <a:pt x="214027" y="150101"/>
                    <a:pt x="136398" y="267735"/>
                  </a:cubicBezTo>
                  <a:cubicBezTo>
                    <a:pt x="86773" y="343078"/>
                    <a:pt x="16764" y="562153"/>
                    <a:pt x="0" y="650830"/>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4C120B3D-CF1C-49AE-B5B4-6BF589737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25817"/>
              <a:ext cx="2282549" cy="5138883"/>
            </a:xfrm>
            <a:custGeom>
              <a:avLst/>
              <a:gdLst>
                <a:gd name="connsiteX0" fmla="*/ 0 w 1271168"/>
                <a:gd name="connsiteY0" fmla="*/ 2861882 h 2861881"/>
                <a:gd name="connsiteX1" fmla="*/ 115157 w 1271168"/>
                <a:gd name="connsiteY1" fmla="*/ 2685002 h 2861881"/>
                <a:gd name="connsiteX2" fmla="*/ 277178 w 1271168"/>
                <a:gd name="connsiteY2" fmla="*/ 2461070 h 2861881"/>
                <a:gd name="connsiteX3" fmla="*/ 421958 w 1271168"/>
                <a:gd name="connsiteY3" fmla="*/ 2209514 h 2861881"/>
                <a:gd name="connsiteX4" fmla="*/ 690848 w 1271168"/>
                <a:gd name="connsiteY4" fmla="*/ 1751267 h 2861881"/>
                <a:gd name="connsiteX5" fmla="*/ 830580 w 1271168"/>
                <a:gd name="connsiteY5" fmla="*/ 1451039 h 2861881"/>
                <a:gd name="connsiteX6" fmla="*/ 917067 w 1271168"/>
                <a:gd name="connsiteY6" fmla="*/ 1276541 h 2861881"/>
                <a:gd name="connsiteX7" fmla="*/ 1114901 w 1271168"/>
                <a:gd name="connsiteY7" fmla="*/ 965835 h 2861881"/>
                <a:gd name="connsiteX8" fmla="*/ 1204627 w 1271168"/>
                <a:gd name="connsiteY8" fmla="*/ 819626 h 2861881"/>
                <a:gd name="connsiteX9" fmla="*/ 1271111 w 1271168"/>
                <a:gd name="connsiteY9" fmla="*/ 585311 h 2861881"/>
                <a:gd name="connsiteX10" fmla="*/ 1128141 w 1271168"/>
                <a:gd name="connsiteY10" fmla="*/ 292894 h 2861881"/>
                <a:gd name="connsiteX11" fmla="*/ 882110 w 1271168"/>
                <a:gd name="connsiteY11" fmla="*/ 135065 h 2861881"/>
                <a:gd name="connsiteX12" fmla="*/ 574929 w 1271168"/>
                <a:gd name="connsiteY12" fmla="*/ 0 h 286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1168" h="2861881">
                  <a:moveTo>
                    <a:pt x="0" y="2861882"/>
                  </a:moveTo>
                  <a:cubicBezTo>
                    <a:pt x="0" y="2861882"/>
                    <a:pt x="67151" y="2751201"/>
                    <a:pt x="115157" y="2685002"/>
                  </a:cubicBezTo>
                  <a:cubicBezTo>
                    <a:pt x="169259" y="2610326"/>
                    <a:pt x="226981" y="2538317"/>
                    <a:pt x="277178" y="2461070"/>
                  </a:cubicBezTo>
                  <a:cubicBezTo>
                    <a:pt x="329946" y="2379917"/>
                    <a:pt x="374142" y="2293715"/>
                    <a:pt x="421958" y="2209514"/>
                  </a:cubicBezTo>
                  <a:cubicBezTo>
                    <a:pt x="509492" y="2055495"/>
                    <a:pt x="609695" y="1908715"/>
                    <a:pt x="690848" y="1751267"/>
                  </a:cubicBezTo>
                  <a:cubicBezTo>
                    <a:pt x="741426" y="1653159"/>
                    <a:pt x="784670" y="1551432"/>
                    <a:pt x="830580" y="1451039"/>
                  </a:cubicBezTo>
                  <a:cubicBezTo>
                    <a:pt x="857631" y="1391984"/>
                    <a:pt x="885635" y="1333405"/>
                    <a:pt x="917067" y="1276541"/>
                  </a:cubicBezTo>
                  <a:cubicBezTo>
                    <a:pt x="976408" y="1169003"/>
                    <a:pt x="1046417" y="1067848"/>
                    <a:pt x="1114901" y="965835"/>
                  </a:cubicBezTo>
                  <a:cubicBezTo>
                    <a:pt x="1146810" y="918305"/>
                    <a:pt x="1177671" y="870109"/>
                    <a:pt x="1204627" y="819626"/>
                  </a:cubicBezTo>
                  <a:cubicBezTo>
                    <a:pt x="1243679" y="746665"/>
                    <a:pt x="1272635" y="667703"/>
                    <a:pt x="1271111" y="585311"/>
                  </a:cubicBezTo>
                  <a:cubicBezTo>
                    <a:pt x="1269111" y="473012"/>
                    <a:pt x="1209485" y="371284"/>
                    <a:pt x="1128141" y="292894"/>
                  </a:cubicBezTo>
                  <a:cubicBezTo>
                    <a:pt x="1057561" y="224790"/>
                    <a:pt x="971836" y="175260"/>
                    <a:pt x="882110" y="135065"/>
                  </a:cubicBezTo>
                  <a:cubicBezTo>
                    <a:pt x="779907" y="89249"/>
                    <a:pt x="672560" y="54673"/>
                    <a:pt x="574929" y="0"/>
                  </a:cubicBezTo>
                </a:path>
              </a:pathLst>
            </a:custGeom>
            <a:noFill/>
            <a:ln w="9525" cap="rnd">
              <a:solidFill>
                <a:schemeClr val="accent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5F7B6392-DF04-4EF6-A433-4A7A757D65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53524"/>
              <a:ext cx="1650357" cy="4733534"/>
            </a:xfrm>
            <a:custGeom>
              <a:avLst/>
              <a:gdLst>
                <a:gd name="connsiteX0" fmla="*/ 0 w 919096"/>
                <a:gd name="connsiteY0" fmla="*/ 2636139 h 2636139"/>
                <a:gd name="connsiteX1" fmla="*/ 274415 w 919096"/>
                <a:gd name="connsiteY1" fmla="*/ 2218277 h 2636139"/>
                <a:gd name="connsiteX2" fmla="*/ 607981 w 919096"/>
                <a:gd name="connsiteY2" fmla="*/ 1655921 h 2636139"/>
                <a:gd name="connsiteX3" fmla="*/ 792290 w 919096"/>
                <a:gd name="connsiteY3" fmla="*/ 1163003 h 2636139"/>
                <a:gd name="connsiteX4" fmla="*/ 914400 w 919096"/>
                <a:gd name="connsiteY4" fmla="*/ 808863 h 2636139"/>
                <a:gd name="connsiteX5" fmla="*/ 847344 w 919096"/>
                <a:gd name="connsiteY5" fmla="*/ 516922 h 2636139"/>
                <a:gd name="connsiteX6" fmla="*/ 610362 w 919096"/>
                <a:gd name="connsiteY6" fmla="*/ 366141 h 2636139"/>
                <a:gd name="connsiteX7" fmla="*/ 361379 w 919096"/>
                <a:gd name="connsiteY7" fmla="*/ 222599 h 2636139"/>
                <a:gd name="connsiteX8" fmla="*/ 67056 w 919096"/>
                <a:gd name="connsiteY8" fmla="*/ 0 h 263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9096" h="2636139">
                  <a:moveTo>
                    <a:pt x="0" y="2636139"/>
                  </a:moveTo>
                  <a:cubicBezTo>
                    <a:pt x="0" y="2636139"/>
                    <a:pt x="162020" y="2392394"/>
                    <a:pt x="274415" y="2218277"/>
                  </a:cubicBezTo>
                  <a:cubicBezTo>
                    <a:pt x="392906" y="2034730"/>
                    <a:pt x="518732" y="1854994"/>
                    <a:pt x="607981" y="1655921"/>
                  </a:cubicBezTo>
                  <a:cubicBezTo>
                    <a:pt x="679799" y="1495806"/>
                    <a:pt x="726091" y="1325594"/>
                    <a:pt x="792290" y="1163003"/>
                  </a:cubicBezTo>
                  <a:cubicBezTo>
                    <a:pt x="839724" y="1046607"/>
                    <a:pt x="897922" y="933164"/>
                    <a:pt x="914400" y="808863"/>
                  </a:cubicBezTo>
                  <a:cubicBezTo>
                    <a:pt x="928116" y="705326"/>
                    <a:pt x="913543" y="596932"/>
                    <a:pt x="847344" y="516922"/>
                  </a:cubicBezTo>
                  <a:cubicBezTo>
                    <a:pt x="786956" y="444056"/>
                    <a:pt x="696087" y="407956"/>
                    <a:pt x="610362" y="366141"/>
                  </a:cubicBezTo>
                  <a:cubicBezTo>
                    <a:pt x="524161" y="324136"/>
                    <a:pt x="442722" y="273272"/>
                    <a:pt x="361379" y="222599"/>
                  </a:cubicBezTo>
                  <a:cubicBezTo>
                    <a:pt x="245459" y="150400"/>
                    <a:pt x="126968" y="121348"/>
                    <a:pt x="6705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CFB987BC-4338-4C63-8DB9-5CB9DC489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379002"/>
              <a:ext cx="1123546" cy="4116271"/>
            </a:xfrm>
            <a:custGeom>
              <a:avLst/>
              <a:gdLst>
                <a:gd name="connsiteX0" fmla="*/ 0 w 625711"/>
                <a:gd name="connsiteY0" fmla="*/ 2292382 h 2292381"/>
                <a:gd name="connsiteX1" fmla="*/ 181070 w 625711"/>
                <a:gd name="connsiteY1" fmla="*/ 2019967 h 2292381"/>
                <a:gd name="connsiteX2" fmla="*/ 385000 w 625711"/>
                <a:gd name="connsiteY2" fmla="*/ 1640967 h 2292381"/>
                <a:gd name="connsiteX3" fmla="*/ 514255 w 625711"/>
                <a:gd name="connsiteY3" fmla="*/ 1376839 h 2292381"/>
                <a:gd name="connsiteX4" fmla="*/ 606171 w 625711"/>
                <a:gd name="connsiteY4" fmla="*/ 1015079 h 2292381"/>
                <a:gd name="connsiteX5" fmla="*/ 606171 w 625711"/>
                <a:gd name="connsiteY5" fmla="*/ 673418 h 2292381"/>
                <a:gd name="connsiteX6" fmla="*/ 485489 w 625711"/>
                <a:gd name="connsiteY6" fmla="*/ 475297 h 2292381"/>
                <a:gd name="connsiteX7" fmla="*/ 313182 w 625711"/>
                <a:gd name="connsiteY7" fmla="*/ 328898 h 2292381"/>
                <a:gd name="connsiteX8" fmla="*/ 173831 w 625711"/>
                <a:gd name="connsiteY8" fmla="*/ 189643 h 2292381"/>
                <a:gd name="connsiteX9" fmla="*/ 0 w 625711"/>
                <a:gd name="connsiteY9" fmla="*/ 0 h 229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5711" h="2292381">
                  <a:moveTo>
                    <a:pt x="0" y="2292382"/>
                  </a:moveTo>
                  <a:cubicBezTo>
                    <a:pt x="0" y="2292382"/>
                    <a:pt x="110776" y="2140363"/>
                    <a:pt x="181070" y="2019967"/>
                  </a:cubicBezTo>
                  <a:cubicBezTo>
                    <a:pt x="253460" y="1896047"/>
                    <a:pt x="318325" y="1768031"/>
                    <a:pt x="385000" y="1640967"/>
                  </a:cubicBezTo>
                  <a:cubicBezTo>
                    <a:pt x="430625" y="1554099"/>
                    <a:pt x="478536" y="1468184"/>
                    <a:pt x="514255" y="1376839"/>
                  </a:cubicBezTo>
                  <a:cubicBezTo>
                    <a:pt x="559689" y="1260634"/>
                    <a:pt x="585788" y="1138333"/>
                    <a:pt x="606171" y="1015079"/>
                  </a:cubicBezTo>
                  <a:cubicBezTo>
                    <a:pt x="625031" y="900779"/>
                    <a:pt x="638556" y="784003"/>
                    <a:pt x="606171" y="673418"/>
                  </a:cubicBezTo>
                  <a:cubicBezTo>
                    <a:pt x="584168" y="598075"/>
                    <a:pt x="540258" y="531590"/>
                    <a:pt x="485489" y="475297"/>
                  </a:cubicBezTo>
                  <a:cubicBezTo>
                    <a:pt x="432911" y="421195"/>
                    <a:pt x="369475" y="379095"/>
                    <a:pt x="313182" y="328898"/>
                  </a:cubicBezTo>
                  <a:cubicBezTo>
                    <a:pt x="264128" y="285179"/>
                    <a:pt x="219361" y="237077"/>
                    <a:pt x="173831" y="189643"/>
                  </a:cubicBezTo>
                  <a:cubicBezTo>
                    <a:pt x="109347" y="122111"/>
                    <a:pt x="0" y="0"/>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F0B5029E-655F-4CB5-BCA2-B62400CE7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798206"/>
              <a:ext cx="756945" cy="3350210"/>
            </a:xfrm>
            <a:custGeom>
              <a:avLst/>
              <a:gdLst>
                <a:gd name="connsiteX0" fmla="*/ 0 w 421548"/>
                <a:gd name="connsiteY0" fmla="*/ 0 h 1865756"/>
                <a:gd name="connsiteX1" fmla="*/ 258699 w 421548"/>
                <a:gd name="connsiteY1" fmla="*/ 330803 h 1865756"/>
                <a:gd name="connsiteX2" fmla="*/ 408051 w 421548"/>
                <a:gd name="connsiteY2" fmla="*/ 617887 h 1865756"/>
                <a:gd name="connsiteX3" fmla="*/ 408051 w 421548"/>
                <a:gd name="connsiteY3" fmla="*/ 910781 h 1865756"/>
                <a:gd name="connsiteX4" fmla="*/ 336233 w 421548"/>
                <a:gd name="connsiteY4" fmla="*/ 1269683 h 1865756"/>
                <a:gd name="connsiteX5" fmla="*/ 186881 w 421548"/>
                <a:gd name="connsiteY5" fmla="*/ 1582674 h 1865756"/>
                <a:gd name="connsiteX6" fmla="*/ 0 w 421548"/>
                <a:gd name="connsiteY6" fmla="*/ 1865757 h 1865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548" h="1865756">
                  <a:moveTo>
                    <a:pt x="0" y="0"/>
                  </a:moveTo>
                  <a:cubicBezTo>
                    <a:pt x="0" y="0"/>
                    <a:pt x="155734" y="188309"/>
                    <a:pt x="258699" y="330803"/>
                  </a:cubicBezTo>
                  <a:cubicBezTo>
                    <a:pt x="322517" y="419100"/>
                    <a:pt x="383096" y="512255"/>
                    <a:pt x="408051" y="617887"/>
                  </a:cubicBezTo>
                  <a:cubicBezTo>
                    <a:pt x="430625" y="713613"/>
                    <a:pt x="420815" y="812768"/>
                    <a:pt x="408051" y="910781"/>
                  </a:cubicBezTo>
                  <a:cubicBezTo>
                    <a:pt x="392240" y="1032129"/>
                    <a:pt x="376142" y="1154049"/>
                    <a:pt x="336233" y="1269683"/>
                  </a:cubicBezTo>
                  <a:cubicBezTo>
                    <a:pt x="298418" y="1379125"/>
                    <a:pt x="246412" y="1483138"/>
                    <a:pt x="186881" y="1582674"/>
                  </a:cubicBezTo>
                  <a:cubicBezTo>
                    <a:pt x="122777" y="1689640"/>
                    <a:pt x="0" y="1865757"/>
                    <a:pt x="0" y="1865757"/>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966F436B-D502-4927-A05D-0691A99F65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1247513"/>
              <a:ext cx="515229" cy="2438941"/>
            </a:xfrm>
            <a:custGeom>
              <a:avLst/>
              <a:gdLst>
                <a:gd name="connsiteX0" fmla="*/ 11621 w 286935"/>
                <a:gd name="connsiteY0" fmla="*/ 1358265 h 1358264"/>
                <a:gd name="connsiteX1" fmla="*/ 163830 w 286935"/>
                <a:gd name="connsiteY1" fmla="*/ 1157287 h 1358264"/>
                <a:gd name="connsiteX2" fmla="*/ 258604 w 286935"/>
                <a:gd name="connsiteY2" fmla="*/ 858679 h 1358264"/>
                <a:gd name="connsiteX3" fmla="*/ 284417 w 286935"/>
                <a:gd name="connsiteY3" fmla="*/ 577310 h 1358264"/>
                <a:gd name="connsiteX4" fmla="*/ 215456 w 286935"/>
                <a:gd name="connsiteY4" fmla="*/ 330422 h 1358264"/>
                <a:gd name="connsiteX5" fmla="*/ 0 w 286935"/>
                <a:gd name="connsiteY5" fmla="*/ 0 h 135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935" h="1358264">
                  <a:moveTo>
                    <a:pt x="11621" y="1358265"/>
                  </a:moveTo>
                  <a:cubicBezTo>
                    <a:pt x="11621" y="1358265"/>
                    <a:pt x="104299" y="1269016"/>
                    <a:pt x="163830" y="1157287"/>
                  </a:cubicBezTo>
                  <a:cubicBezTo>
                    <a:pt x="213074" y="1064800"/>
                    <a:pt x="237458" y="961453"/>
                    <a:pt x="258604" y="858679"/>
                  </a:cubicBezTo>
                  <a:cubicBezTo>
                    <a:pt x="277749" y="765905"/>
                    <a:pt x="293180" y="671512"/>
                    <a:pt x="284417" y="577310"/>
                  </a:cubicBezTo>
                  <a:cubicBezTo>
                    <a:pt x="276511" y="491680"/>
                    <a:pt x="250412" y="409099"/>
                    <a:pt x="215456" y="330422"/>
                  </a:cubicBezTo>
                  <a:cubicBezTo>
                    <a:pt x="153353" y="190405"/>
                    <a:pt x="0" y="0"/>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63D19BC0-342A-4662-8B01-078F5BC25F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1752232"/>
              <a:ext cx="300409" cy="1599679"/>
            </a:xfrm>
            <a:custGeom>
              <a:avLst/>
              <a:gdLst>
                <a:gd name="connsiteX0" fmla="*/ 0 w 167300"/>
                <a:gd name="connsiteY0" fmla="*/ 0 h 890873"/>
                <a:gd name="connsiteX1" fmla="*/ 143732 w 167300"/>
                <a:gd name="connsiteY1" fmla="*/ 233077 h 890873"/>
                <a:gd name="connsiteX2" fmla="*/ 160973 w 167300"/>
                <a:gd name="connsiteY2" fmla="*/ 482822 h 890873"/>
                <a:gd name="connsiteX3" fmla="*/ 0 w 167300"/>
                <a:gd name="connsiteY3" fmla="*/ 890873 h 890873"/>
              </a:gdLst>
              <a:ahLst/>
              <a:cxnLst>
                <a:cxn ang="0">
                  <a:pos x="connsiteX0" y="connsiteY0"/>
                </a:cxn>
                <a:cxn ang="0">
                  <a:pos x="connsiteX1" y="connsiteY1"/>
                </a:cxn>
                <a:cxn ang="0">
                  <a:pos x="connsiteX2" y="connsiteY2"/>
                </a:cxn>
                <a:cxn ang="0">
                  <a:pos x="connsiteX3" y="connsiteY3"/>
                </a:cxn>
              </a:cxnLst>
              <a:rect l="l" t="t" r="r" b="b"/>
              <a:pathLst>
                <a:path w="167300" h="890873">
                  <a:moveTo>
                    <a:pt x="0" y="0"/>
                  </a:moveTo>
                  <a:cubicBezTo>
                    <a:pt x="0" y="0"/>
                    <a:pt x="110585" y="127254"/>
                    <a:pt x="143732" y="233077"/>
                  </a:cubicBezTo>
                  <a:cubicBezTo>
                    <a:pt x="168974" y="313563"/>
                    <a:pt x="172593" y="399098"/>
                    <a:pt x="160973" y="482822"/>
                  </a:cubicBezTo>
                  <a:cubicBezTo>
                    <a:pt x="136970" y="655892"/>
                    <a:pt x="0" y="890873"/>
                    <a:pt x="0" y="890873"/>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DF32521F-B67B-4D14-BB6E-0DD27E1C70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131253" y="14016"/>
              <a:ext cx="5523537" cy="3012568"/>
            </a:xfrm>
            <a:custGeom>
              <a:avLst/>
              <a:gdLst>
                <a:gd name="connsiteX0" fmla="*/ 3076099 w 3076098"/>
                <a:gd name="connsiteY0" fmla="*/ 12287 h 1677721"/>
                <a:gd name="connsiteX1" fmla="*/ 3054287 w 3076098"/>
                <a:gd name="connsiteY1" fmla="*/ 609029 h 1677721"/>
                <a:gd name="connsiteX2" fmla="*/ 3054287 w 3076098"/>
                <a:gd name="connsiteY2" fmla="*/ 824770 h 1677721"/>
                <a:gd name="connsiteX3" fmla="*/ 3002375 w 3076098"/>
                <a:gd name="connsiteY3" fmla="*/ 1158240 h 1677721"/>
                <a:gd name="connsiteX4" fmla="*/ 2945797 w 3076098"/>
                <a:gd name="connsiteY4" fmla="*/ 1277112 h 1677721"/>
                <a:gd name="connsiteX5" fmla="*/ 2706815 w 3076098"/>
                <a:gd name="connsiteY5" fmla="*/ 1492853 h 1677721"/>
                <a:gd name="connsiteX6" fmla="*/ 2451735 w 3076098"/>
                <a:gd name="connsiteY6" fmla="*/ 1618583 h 1677721"/>
                <a:gd name="connsiteX7" fmla="*/ 2128457 w 3076098"/>
                <a:gd name="connsiteY7" fmla="*/ 1677448 h 1677721"/>
                <a:gd name="connsiteX8" fmla="*/ 1672495 w 3076098"/>
                <a:gd name="connsiteY8" fmla="*/ 1505522 h 1677721"/>
                <a:gd name="connsiteX9" fmla="*/ 1445038 w 3076098"/>
                <a:gd name="connsiteY9" fmla="*/ 1230916 h 1677721"/>
                <a:gd name="connsiteX10" fmla="*/ 1381506 w 3076098"/>
                <a:gd name="connsiteY10" fmla="*/ 1044035 h 1677721"/>
                <a:gd name="connsiteX11" fmla="*/ 1260253 w 3076098"/>
                <a:gd name="connsiteY11" fmla="*/ 837533 h 1677721"/>
                <a:gd name="connsiteX12" fmla="*/ 1108520 w 3076098"/>
                <a:gd name="connsiteY12" fmla="*/ 772954 h 1677721"/>
                <a:gd name="connsiteX13" fmla="*/ 955358 w 3076098"/>
                <a:gd name="connsiteY13" fmla="*/ 751427 h 1677721"/>
                <a:gd name="connsiteX14" fmla="*/ 763810 w 3076098"/>
                <a:gd name="connsiteY14" fmla="*/ 764762 h 1677721"/>
                <a:gd name="connsiteX15" fmla="*/ 651224 w 3076098"/>
                <a:gd name="connsiteY15" fmla="*/ 728186 h 1677721"/>
                <a:gd name="connsiteX16" fmla="*/ 510730 w 3076098"/>
                <a:gd name="connsiteY16" fmla="*/ 587788 h 1677721"/>
                <a:gd name="connsiteX17" fmla="*/ 323183 w 3076098"/>
                <a:gd name="connsiteY17" fmla="*/ 353187 h 1677721"/>
                <a:gd name="connsiteX18" fmla="*/ 0 w 3076098"/>
                <a:gd name="connsiteY18" fmla="*/ 0 h 167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76098" h="1677721">
                  <a:moveTo>
                    <a:pt x="3076099" y="12287"/>
                  </a:moveTo>
                  <a:cubicBezTo>
                    <a:pt x="3069336" y="183071"/>
                    <a:pt x="3053525" y="438150"/>
                    <a:pt x="3054287" y="609029"/>
                  </a:cubicBezTo>
                  <a:cubicBezTo>
                    <a:pt x="3054572" y="680942"/>
                    <a:pt x="3056477" y="752856"/>
                    <a:pt x="3054287" y="824770"/>
                  </a:cubicBezTo>
                  <a:cubicBezTo>
                    <a:pt x="3050858" y="937832"/>
                    <a:pt x="3038285" y="1051084"/>
                    <a:pt x="3002375" y="1158240"/>
                  </a:cubicBezTo>
                  <a:cubicBezTo>
                    <a:pt x="2988374" y="1200055"/>
                    <a:pt x="2969895" y="1240155"/>
                    <a:pt x="2945797" y="1277112"/>
                  </a:cubicBezTo>
                  <a:cubicBezTo>
                    <a:pt x="2886742" y="1367885"/>
                    <a:pt x="2798636" y="1434846"/>
                    <a:pt x="2706815" y="1492853"/>
                  </a:cubicBezTo>
                  <a:cubicBezTo>
                    <a:pt x="2626424" y="1543717"/>
                    <a:pt x="2541080" y="1586103"/>
                    <a:pt x="2451735" y="1618583"/>
                  </a:cubicBezTo>
                  <a:cubicBezTo>
                    <a:pt x="2347817" y="1656398"/>
                    <a:pt x="2238851" y="1680591"/>
                    <a:pt x="2128457" y="1677448"/>
                  </a:cubicBezTo>
                  <a:cubicBezTo>
                    <a:pt x="1962436" y="1672781"/>
                    <a:pt x="1804702" y="1606677"/>
                    <a:pt x="1672495" y="1505522"/>
                  </a:cubicBezTo>
                  <a:cubicBezTo>
                    <a:pt x="1576483" y="1432084"/>
                    <a:pt x="1493520" y="1341501"/>
                    <a:pt x="1445038" y="1230916"/>
                  </a:cubicBezTo>
                  <a:cubicBezTo>
                    <a:pt x="1418653" y="1170623"/>
                    <a:pt x="1401794" y="1106710"/>
                    <a:pt x="1381506" y="1044035"/>
                  </a:cubicBezTo>
                  <a:cubicBezTo>
                    <a:pt x="1356360" y="966026"/>
                    <a:pt x="1324261" y="887730"/>
                    <a:pt x="1260253" y="837533"/>
                  </a:cubicBezTo>
                  <a:cubicBezTo>
                    <a:pt x="1216628" y="803243"/>
                    <a:pt x="1162717" y="786194"/>
                    <a:pt x="1108520" y="772954"/>
                  </a:cubicBezTo>
                  <a:cubicBezTo>
                    <a:pt x="1058228" y="760667"/>
                    <a:pt x="1007078" y="750570"/>
                    <a:pt x="955358" y="751427"/>
                  </a:cubicBezTo>
                  <a:cubicBezTo>
                    <a:pt x="891064" y="752475"/>
                    <a:pt x="827818" y="770001"/>
                    <a:pt x="763810" y="764762"/>
                  </a:cubicBezTo>
                  <a:cubicBezTo>
                    <a:pt x="723995" y="761524"/>
                    <a:pt x="685514" y="748760"/>
                    <a:pt x="651224" y="728186"/>
                  </a:cubicBezTo>
                  <a:cubicBezTo>
                    <a:pt x="594074" y="693896"/>
                    <a:pt x="552545" y="639985"/>
                    <a:pt x="510730" y="587788"/>
                  </a:cubicBezTo>
                  <a:cubicBezTo>
                    <a:pt x="448151" y="509683"/>
                    <a:pt x="384524" y="432245"/>
                    <a:pt x="323183" y="353187"/>
                  </a:cubicBezTo>
                  <a:cubicBezTo>
                    <a:pt x="246221" y="253937"/>
                    <a:pt x="94202" y="82868"/>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56F73602-5ACB-4102-894B-D140E71E67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7455" y="75587"/>
              <a:ext cx="4681672" cy="2637228"/>
            </a:xfrm>
            <a:custGeom>
              <a:avLst/>
              <a:gdLst>
                <a:gd name="connsiteX0" fmla="*/ 2568321 w 2607257"/>
                <a:gd name="connsiteY0" fmla="*/ 18002 h 1468691"/>
                <a:gd name="connsiteX1" fmla="*/ 2590609 w 2607257"/>
                <a:gd name="connsiteY1" fmla="*/ 258509 h 1468691"/>
                <a:gd name="connsiteX2" fmla="*/ 2606802 w 2607257"/>
                <a:gd name="connsiteY2" fmla="*/ 563118 h 1468691"/>
                <a:gd name="connsiteX3" fmla="*/ 2587181 w 2607257"/>
                <a:gd name="connsiteY3" fmla="*/ 910400 h 1468691"/>
                <a:gd name="connsiteX4" fmla="*/ 2568702 w 2607257"/>
                <a:gd name="connsiteY4" fmla="*/ 1001554 h 1468691"/>
                <a:gd name="connsiteX5" fmla="*/ 2407063 w 2607257"/>
                <a:gd name="connsiteY5" fmla="*/ 1262348 h 1468691"/>
                <a:gd name="connsiteX6" fmla="*/ 2211896 w 2607257"/>
                <a:gd name="connsiteY6" fmla="*/ 1390078 h 1468691"/>
                <a:gd name="connsiteX7" fmla="*/ 1936623 w 2607257"/>
                <a:gd name="connsiteY7" fmla="*/ 1466660 h 1468691"/>
                <a:gd name="connsiteX8" fmla="*/ 1749933 w 2607257"/>
                <a:gd name="connsiteY8" fmla="*/ 1447514 h 1468691"/>
                <a:gd name="connsiteX9" fmla="*/ 1594295 w 2607257"/>
                <a:gd name="connsiteY9" fmla="*/ 1351788 h 1468691"/>
                <a:gd name="connsiteX10" fmla="*/ 1512951 w 2607257"/>
                <a:gd name="connsiteY10" fmla="*/ 1227392 h 1468691"/>
                <a:gd name="connsiteX11" fmla="*/ 1500949 w 2607257"/>
                <a:gd name="connsiteY11" fmla="*/ 992886 h 1468691"/>
                <a:gd name="connsiteX12" fmla="*/ 1541621 w 2607257"/>
                <a:gd name="connsiteY12" fmla="*/ 803910 h 1468691"/>
                <a:gd name="connsiteX13" fmla="*/ 1541621 w 2607257"/>
                <a:gd name="connsiteY13" fmla="*/ 665131 h 1468691"/>
                <a:gd name="connsiteX14" fmla="*/ 1429131 w 2607257"/>
                <a:gd name="connsiteY14" fmla="*/ 526352 h 1468691"/>
                <a:gd name="connsiteX15" fmla="*/ 1163383 w 2607257"/>
                <a:gd name="connsiteY15" fmla="*/ 449771 h 1468691"/>
                <a:gd name="connsiteX16" fmla="*/ 811530 w 2607257"/>
                <a:gd name="connsiteY16" fmla="*/ 406718 h 1468691"/>
                <a:gd name="connsiteX17" fmla="*/ 574548 w 2607257"/>
                <a:gd name="connsiteY17" fmla="*/ 354044 h 1468691"/>
                <a:gd name="connsiteX18" fmla="*/ 284893 w 2607257"/>
                <a:gd name="connsiteY18" fmla="*/ 224885 h 1468691"/>
                <a:gd name="connsiteX19" fmla="*/ 0 w 2607257"/>
                <a:gd name="connsiteY19" fmla="*/ 0 h 146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07257" h="1468691">
                  <a:moveTo>
                    <a:pt x="2568321" y="18002"/>
                  </a:moveTo>
                  <a:cubicBezTo>
                    <a:pt x="2574989" y="70009"/>
                    <a:pt x="2587752" y="206121"/>
                    <a:pt x="2590609" y="258509"/>
                  </a:cubicBezTo>
                  <a:cubicBezTo>
                    <a:pt x="2596134" y="360045"/>
                    <a:pt x="2604707" y="461486"/>
                    <a:pt x="2606802" y="563118"/>
                  </a:cubicBezTo>
                  <a:cubicBezTo>
                    <a:pt x="2609088" y="679228"/>
                    <a:pt x="2602802" y="795338"/>
                    <a:pt x="2587181" y="910400"/>
                  </a:cubicBezTo>
                  <a:cubicBezTo>
                    <a:pt x="2582990" y="941165"/>
                    <a:pt x="2577274" y="971645"/>
                    <a:pt x="2568702" y="1001554"/>
                  </a:cubicBezTo>
                  <a:cubicBezTo>
                    <a:pt x="2540222" y="1101471"/>
                    <a:pt x="2482501" y="1190816"/>
                    <a:pt x="2407063" y="1262348"/>
                  </a:cubicBezTo>
                  <a:cubicBezTo>
                    <a:pt x="2350294" y="1316165"/>
                    <a:pt x="2283047" y="1357313"/>
                    <a:pt x="2211896" y="1390078"/>
                  </a:cubicBezTo>
                  <a:cubicBezTo>
                    <a:pt x="2124742" y="1430179"/>
                    <a:pt x="2032159" y="1458754"/>
                    <a:pt x="1936623" y="1466660"/>
                  </a:cubicBezTo>
                  <a:cubicBezTo>
                    <a:pt x="1873567" y="1471898"/>
                    <a:pt x="1809845" y="1467517"/>
                    <a:pt x="1749933" y="1447514"/>
                  </a:cubicBezTo>
                  <a:cubicBezTo>
                    <a:pt x="1691449" y="1428083"/>
                    <a:pt x="1638109" y="1395222"/>
                    <a:pt x="1594295" y="1351788"/>
                  </a:cubicBezTo>
                  <a:cubicBezTo>
                    <a:pt x="1558576" y="1316450"/>
                    <a:pt x="1530001" y="1274540"/>
                    <a:pt x="1512951" y="1227392"/>
                  </a:cubicBezTo>
                  <a:cubicBezTo>
                    <a:pt x="1485900" y="1152811"/>
                    <a:pt x="1487519" y="1071467"/>
                    <a:pt x="1500949" y="992886"/>
                  </a:cubicBezTo>
                  <a:cubicBezTo>
                    <a:pt x="1511808" y="929354"/>
                    <a:pt x="1529810" y="867251"/>
                    <a:pt x="1541621" y="803910"/>
                  </a:cubicBezTo>
                  <a:cubicBezTo>
                    <a:pt x="1550194" y="757714"/>
                    <a:pt x="1554194" y="710279"/>
                    <a:pt x="1541621" y="665131"/>
                  </a:cubicBezTo>
                  <a:cubicBezTo>
                    <a:pt x="1525143" y="605981"/>
                    <a:pt x="1481233" y="559403"/>
                    <a:pt x="1429131" y="526352"/>
                  </a:cubicBezTo>
                  <a:cubicBezTo>
                    <a:pt x="1350455" y="476536"/>
                    <a:pt x="1256157" y="461772"/>
                    <a:pt x="1163383" y="449771"/>
                  </a:cubicBezTo>
                  <a:cubicBezTo>
                    <a:pt x="1046131" y="434626"/>
                    <a:pt x="928306" y="424720"/>
                    <a:pt x="811530" y="406718"/>
                  </a:cubicBezTo>
                  <a:cubicBezTo>
                    <a:pt x="731425" y="394335"/>
                    <a:pt x="652081" y="377571"/>
                    <a:pt x="574548" y="354044"/>
                  </a:cubicBezTo>
                  <a:cubicBezTo>
                    <a:pt x="472916" y="323279"/>
                    <a:pt x="375094" y="280702"/>
                    <a:pt x="284893" y="224885"/>
                  </a:cubicBezTo>
                  <a:cubicBezTo>
                    <a:pt x="181832" y="161068"/>
                    <a:pt x="90868" y="80296"/>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E87FA368-45DC-4276-A257-F67A12B2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0305" y="31802"/>
              <a:ext cx="3763077" cy="2110194"/>
            </a:xfrm>
            <a:custGeom>
              <a:avLst/>
              <a:gdLst>
                <a:gd name="connsiteX0" fmla="*/ 1950434 w 2095685"/>
                <a:gd name="connsiteY0" fmla="*/ 0 h 1175182"/>
                <a:gd name="connsiteX1" fmla="*/ 2077307 w 2095685"/>
                <a:gd name="connsiteY1" fmla="*/ 479108 h 1175182"/>
                <a:gd name="connsiteX2" fmla="*/ 2089309 w 2095685"/>
                <a:gd name="connsiteY2" fmla="*/ 826008 h 1175182"/>
                <a:gd name="connsiteX3" fmla="*/ 1987582 w 2095685"/>
                <a:gd name="connsiteY3" fmla="*/ 1101185 h 1175182"/>
                <a:gd name="connsiteX4" fmla="*/ 1818037 w 2095685"/>
                <a:gd name="connsiteY4" fmla="*/ 1173004 h 1175182"/>
                <a:gd name="connsiteX5" fmla="*/ 1694402 w 2095685"/>
                <a:gd name="connsiteY5" fmla="*/ 1157097 h 1175182"/>
                <a:gd name="connsiteX6" fmla="*/ 1594676 w 2095685"/>
                <a:gd name="connsiteY6" fmla="*/ 1013555 h 1175182"/>
                <a:gd name="connsiteX7" fmla="*/ 1664494 w 2095685"/>
                <a:gd name="connsiteY7" fmla="*/ 790289 h 1175182"/>
                <a:gd name="connsiteX8" fmla="*/ 1684401 w 2095685"/>
                <a:gd name="connsiteY8" fmla="*/ 527114 h 1175182"/>
                <a:gd name="connsiteX9" fmla="*/ 1550765 w 2095685"/>
                <a:gd name="connsiteY9" fmla="*/ 343662 h 1175182"/>
                <a:gd name="connsiteX10" fmla="*/ 1315402 w 2095685"/>
                <a:gd name="connsiteY10" fmla="*/ 265938 h 1175182"/>
                <a:gd name="connsiteX11" fmla="*/ 876586 w 2095685"/>
                <a:gd name="connsiteY11" fmla="*/ 200120 h 1175182"/>
                <a:gd name="connsiteX12" fmla="*/ 591312 w 2095685"/>
                <a:gd name="connsiteY12" fmla="*/ 186119 h 1175182"/>
                <a:gd name="connsiteX13" fmla="*/ 0 w 2095685"/>
                <a:gd name="connsiteY13" fmla="*/ 16669 h 117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95685" h="1175182">
                  <a:moveTo>
                    <a:pt x="1950434" y="0"/>
                  </a:moveTo>
                  <a:cubicBezTo>
                    <a:pt x="1973485" y="77629"/>
                    <a:pt x="2063115" y="399383"/>
                    <a:pt x="2077307" y="479108"/>
                  </a:cubicBezTo>
                  <a:cubicBezTo>
                    <a:pt x="2097786" y="593693"/>
                    <a:pt x="2100167" y="710089"/>
                    <a:pt x="2089309" y="826008"/>
                  </a:cubicBezTo>
                  <a:cubicBezTo>
                    <a:pt x="2079784" y="927545"/>
                    <a:pt x="2061401" y="1032891"/>
                    <a:pt x="1987582" y="1101185"/>
                  </a:cubicBezTo>
                  <a:cubicBezTo>
                    <a:pt x="1941481" y="1143762"/>
                    <a:pt x="1880616" y="1165670"/>
                    <a:pt x="1818037" y="1173004"/>
                  </a:cubicBezTo>
                  <a:cubicBezTo>
                    <a:pt x="1775746" y="1177957"/>
                    <a:pt x="1732693" y="1175195"/>
                    <a:pt x="1694402" y="1157097"/>
                  </a:cubicBezTo>
                  <a:cubicBezTo>
                    <a:pt x="1638110" y="1130427"/>
                    <a:pt x="1600295" y="1075373"/>
                    <a:pt x="1594676" y="1013555"/>
                  </a:cubicBezTo>
                  <a:cubicBezTo>
                    <a:pt x="1587532" y="934879"/>
                    <a:pt x="1635633" y="864870"/>
                    <a:pt x="1664494" y="790289"/>
                  </a:cubicBezTo>
                  <a:cubicBezTo>
                    <a:pt x="1696974" y="706279"/>
                    <a:pt x="1708594" y="613791"/>
                    <a:pt x="1684401" y="527114"/>
                  </a:cubicBezTo>
                  <a:cubicBezTo>
                    <a:pt x="1663351" y="451580"/>
                    <a:pt x="1616488" y="386620"/>
                    <a:pt x="1550765" y="343662"/>
                  </a:cubicBezTo>
                  <a:cubicBezTo>
                    <a:pt x="1480947" y="298133"/>
                    <a:pt x="1397508" y="282131"/>
                    <a:pt x="1315402" y="265938"/>
                  </a:cubicBezTo>
                  <a:cubicBezTo>
                    <a:pt x="1170051" y="237173"/>
                    <a:pt x="1024128" y="212027"/>
                    <a:pt x="876586" y="200120"/>
                  </a:cubicBezTo>
                  <a:cubicBezTo>
                    <a:pt x="781717" y="192500"/>
                    <a:pt x="686276" y="193643"/>
                    <a:pt x="591312" y="186119"/>
                  </a:cubicBezTo>
                  <a:cubicBezTo>
                    <a:pt x="465296" y="176213"/>
                    <a:pt x="160211" y="193453"/>
                    <a:pt x="0" y="16669"/>
                  </a:cubicBezTo>
                </a:path>
              </a:pathLst>
            </a:custGeom>
            <a:noFill/>
            <a:ln w="9525" cap="rnd">
              <a:solidFill>
                <a:schemeClr val="accent2">
                  <a:alpha val="35000"/>
                </a:schemeClr>
              </a:solidFill>
              <a:prstDash val="lgDash"/>
              <a:round/>
            </a:ln>
          </p:spPr>
          <p:txBody>
            <a:bodyPr rtlCol="0" anchor="ctr"/>
            <a:lstStyle/>
            <a:p>
              <a:endParaRPr lang="en-US"/>
            </a:p>
          </p:txBody>
        </p:sp>
      </p:grpSp>
      <p:grpSp>
        <p:nvGrpSpPr>
          <p:cNvPr id="59" name="Bottom Right">
            <a:extLst>
              <a:ext uri="{FF2B5EF4-FFF2-40B4-BE49-F238E27FC236}">
                <a16:creationId xmlns:a16="http://schemas.microsoft.com/office/drawing/2014/main" id="{88540B56-6256-419C-AC81-7B56D0DD72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0" name="Freeform: Shape 59">
              <a:extLst>
                <a:ext uri="{FF2B5EF4-FFF2-40B4-BE49-F238E27FC236}">
                  <a16:creationId xmlns:a16="http://schemas.microsoft.com/office/drawing/2014/main" id="{EB5E9C2F-6749-4023-8E94-45C1C3FC6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1" name="Graphic 157">
              <a:extLst>
                <a:ext uri="{FF2B5EF4-FFF2-40B4-BE49-F238E27FC236}">
                  <a16:creationId xmlns:a16="http://schemas.microsoft.com/office/drawing/2014/main" id="{D87C11F9-4A6E-44BC-BF6C-0468EFD71B2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7"/>
              <a:chOff x="4114800" y="1423987"/>
              <a:chExt cx="3961542" cy="4007547"/>
            </a:xfrm>
            <a:noFill/>
          </p:grpSpPr>
          <p:sp>
            <p:nvSpPr>
              <p:cNvPr id="63" name="Freeform: Shape 62">
                <a:extLst>
                  <a:ext uri="{FF2B5EF4-FFF2-40B4-BE49-F238E27FC236}">
                    <a16:creationId xmlns:a16="http://schemas.microsoft.com/office/drawing/2014/main" id="{2B1B9F72-6727-48A7-A229-1B9E8620C6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F112D38F-1CDF-4293-96FC-2190D0395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CF3E4DE9-57D9-4C4C-BE4E-7F081A1B3B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6BB673C9-C994-4CA3-B78E-F65C5F8C61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9B6FF51D-0B4A-4C30-AEC8-D66E88C98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DCF516A0-FBBD-4A87-9E93-708625DE5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9" name="Freeform: Shape 68">
                <a:extLst>
                  <a:ext uri="{FF2B5EF4-FFF2-40B4-BE49-F238E27FC236}">
                    <a16:creationId xmlns:a16="http://schemas.microsoft.com/office/drawing/2014/main" id="{6F1EDD83-3119-40A9-B093-626EB1B12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2" name="Freeform: Shape 61">
              <a:extLst>
                <a:ext uri="{FF2B5EF4-FFF2-40B4-BE49-F238E27FC236}">
                  <a16:creationId xmlns:a16="http://schemas.microsoft.com/office/drawing/2014/main" id="{BA5F46DB-9B25-49AD-BC98-191E88919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72EFE60F-9444-C080-1325-C46E42AAC0C0}"/>
              </a:ext>
            </a:extLst>
          </p:cNvPr>
          <p:cNvSpPr>
            <a:spLocks noGrp="1"/>
          </p:cNvSpPr>
          <p:nvPr>
            <p:ph type="title"/>
          </p:nvPr>
        </p:nvSpPr>
        <p:spPr>
          <a:xfrm>
            <a:off x="1916616" y="53524"/>
            <a:ext cx="8144131" cy="3204066"/>
          </a:xfrm>
        </p:spPr>
        <p:txBody>
          <a:bodyPr vert="horz" lIns="91440" tIns="45720" rIns="91440" bIns="45720" rtlCol="0" anchor="b">
            <a:noAutofit/>
          </a:bodyPr>
          <a:lstStyle/>
          <a:p>
            <a:pPr algn="ctr"/>
            <a:br>
              <a:rPr lang="en-US" sz="8000" u="sng" kern="1200" dirty="0">
                <a:solidFill>
                  <a:schemeClr val="tx2"/>
                </a:solidFill>
                <a:latin typeface="Algerian" panose="04020705040A02060702" pitchFamily="82" charset="0"/>
              </a:rPr>
            </a:br>
            <a:br>
              <a:rPr lang="en-US" sz="8000" u="sng" kern="1200" dirty="0">
                <a:solidFill>
                  <a:schemeClr val="tx2"/>
                </a:solidFill>
                <a:latin typeface="Algerian" panose="04020705040A02060702" pitchFamily="82" charset="0"/>
              </a:rPr>
            </a:br>
            <a:br>
              <a:rPr lang="en-US" sz="8000" u="sng" kern="1200" dirty="0">
                <a:solidFill>
                  <a:schemeClr val="tx2"/>
                </a:solidFill>
                <a:latin typeface="Algerian" panose="04020705040A02060702" pitchFamily="82" charset="0"/>
              </a:rPr>
            </a:br>
            <a:r>
              <a:rPr lang="en-US" sz="8000" u="sng" kern="1200" dirty="0">
                <a:solidFill>
                  <a:schemeClr val="tx2"/>
                </a:solidFill>
                <a:latin typeface="Algerian" panose="04020705040A02060702" pitchFamily="82" charset="0"/>
              </a:rPr>
              <a:t>Thank You </a:t>
            </a:r>
            <a:br>
              <a:rPr lang="en-US" sz="8000" u="sng" kern="1200" dirty="0">
                <a:solidFill>
                  <a:schemeClr val="tx2"/>
                </a:solidFill>
                <a:latin typeface="Algerian" panose="04020705040A02060702" pitchFamily="82" charset="0"/>
              </a:rPr>
            </a:br>
            <a:endParaRPr lang="en-US" sz="8000" u="sng" kern="1200" dirty="0">
              <a:solidFill>
                <a:schemeClr val="tx2"/>
              </a:solidFill>
              <a:latin typeface="Algerian" panose="04020705040A02060702" pitchFamily="82" charset="0"/>
            </a:endParaRPr>
          </a:p>
        </p:txBody>
      </p:sp>
      <p:grpSp>
        <p:nvGrpSpPr>
          <p:cNvPr id="71" name="Cross">
            <a:extLst>
              <a:ext uri="{FF2B5EF4-FFF2-40B4-BE49-F238E27FC236}">
                <a16:creationId xmlns:a16="http://schemas.microsoft.com/office/drawing/2014/main" id="{DDB99EF5-8801-40E2-83D3-196FADCBBA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30939" y="3874229"/>
            <a:ext cx="118872" cy="118872"/>
            <a:chOff x="1175347" y="3733800"/>
            <a:chExt cx="118872" cy="118872"/>
          </a:xfrm>
        </p:grpSpPr>
        <p:cxnSp>
          <p:nvCxnSpPr>
            <p:cNvPr id="72" name="Straight Connector 71">
              <a:extLst>
                <a:ext uri="{FF2B5EF4-FFF2-40B4-BE49-F238E27FC236}">
                  <a16:creationId xmlns:a16="http://schemas.microsoft.com/office/drawing/2014/main" id="{50FE3A76-C0EC-41F2-92AD-1A75BA3771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73" name="Straight Connector 72">
              <a:extLst>
                <a:ext uri="{FF2B5EF4-FFF2-40B4-BE49-F238E27FC236}">
                  <a16:creationId xmlns:a16="http://schemas.microsoft.com/office/drawing/2014/main" id="{C22AF00A-AACB-4D06-A706-4231FD4EC6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
        <p:nvSpPr>
          <p:cNvPr id="3" name="TextBox 2">
            <a:extLst>
              <a:ext uri="{FF2B5EF4-FFF2-40B4-BE49-F238E27FC236}">
                <a16:creationId xmlns:a16="http://schemas.microsoft.com/office/drawing/2014/main" id="{3C7E0A56-3A06-CEFA-C4D5-922A1A1A637E}"/>
              </a:ext>
            </a:extLst>
          </p:cNvPr>
          <p:cNvSpPr txBox="1"/>
          <p:nvPr/>
        </p:nvSpPr>
        <p:spPr>
          <a:xfrm>
            <a:off x="174170" y="3600411"/>
            <a:ext cx="6435847" cy="2862322"/>
          </a:xfrm>
          <a:prstGeom prst="rect">
            <a:avLst/>
          </a:prstGeom>
          <a:noFill/>
        </p:spPr>
        <p:txBody>
          <a:bodyPr wrap="square" rtlCol="0">
            <a:spAutoFit/>
          </a:bodyPr>
          <a:lstStyle/>
          <a:p>
            <a:r>
              <a:rPr lang="en-IN" dirty="0"/>
              <a:t>Submitted by:</a:t>
            </a:r>
          </a:p>
          <a:p>
            <a:endParaRPr lang="en-IN" dirty="0"/>
          </a:p>
          <a:p>
            <a:r>
              <a:rPr lang="en-IN" dirty="0"/>
              <a:t>Harpreet Kaur Khalsa          90</a:t>
            </a:r>
          </a:p>
          <a:p>
            <a:r>
              <a:rPr lang="en-IN" dirty="0" err="1"/>
              <a:t>Harshal</a:t>
            </a:r>
            <a:r>
              <a:rPr lang="en-IN" dirty="0"/>
              <a:t> </a:t>
            </a:r>
            <a:r>
              <a:rPr lang="en-IN" dirty="0" err="1"/>
              <a:t>Malode</a:t>
            </a:r>
            <a:r>
              <a:rPr lang="en-IN" dirty="0"/>
              <a:t>                   94</a:t>
            </a:r>
          </a:p>
          <a:p>
            <a:r>
              <a:rPr lang="en-IN" dirty="0" err="1"/>
              <a:t>Navil</a:t>
            </a:r>
            <a:r>
              <a:rPr lang="en-IN" dirty="0"/>
              <a:t> Bordia                        102</a:t>
            </a:r>
          </a:p>
          <a:p>
            <a:r>
              <a:rPr lang="en-IN" dirty="0" err="1"/>
              <a:t>Priyanshi</a:t>
            </a:r>
            <a:r>
              <a:rPr lang="en-IN" dirty="0"/>
              <a:t> </a:t>
            </a:r>
            <a:r>
              <a:rPr lang="en-IN" dirty="0" err="1"/>
              <a:t>Avatani</a:t>
            </a:r>
            <a:r>
              <a:rPr lang="en-IN" dirty="0"/>
              <a:t>                108</a:t>
            </a:r>
          </a:p>
          <a:p>
            <a:r>
              <a:rPr lang="en-IN" dirty="0"/>
              <a:t>Rahul </a:t>
            </a:r>
            <a:r>
              <a:rPr lang="en-IN" dirty="0" err="1"/>
              <a:t>Bhujade</a:t>
            </a:r>
            <a:r>
              <a:rPr lang="en-IN" dirty="0"/>
              <a:t>                    109</a:t>
            </a:r>
          </a:p>
          <a:p>
            <a:r>
              <a:rPr lang="en-IN" dirty="0"/>
              <a:t>Zaid </a:t>
            </a:r>
            <a:r>
              <a:rPr lang="en-IN" dirty="0" err="1"/>
              <a:t>Panhalkar</a:t>
            </a:r>
            <a:r>
              <a:rPr lang="en-IN" dirty="0"/>
              <a:t>                   130          </a:t>
            </a:r>
          </a:p>
          <a:p>
            <a:endParaRPr lang="en-IN" dirty="0"/>
          </a:p>
          <a:p>
            <a:endParaRPr lang="en-IN" dirty="0"/>
          </a:p>
        </p:txBody>
      </p:sp>
    </p:spTree>
    <p:extLst>
      <p:ext uri="{BB962C8B-B14F-4D97-AF65-F5344CB8AC3E}">
        <p14:creationId xmlns:p14="http://schemas.microsoft.com/office/powerpoint/2010/main" val="367982482"/>
      </p:ext>
    </p:extLst>
  </p:cSld>
  <p:clrMapOvr>
    <a:masterClrMapping/>
  </p:clrMapOvr>
</p:sld>
</file>

<file path=ppt/theme/theme1.xml><?xml version="1.0" encoding="utf-8"?>
<a:theme xmlns:a="http://schemas.openxmlformats.org/drawingml/2006/main" name="ExploreVTI">
  <a:themeElements>
    <a:clrScheme name="AnalogousFromLightSeed_2SEEDS">
      <a:dk1>
        <a:srgbClr val="000000"/>
      </a:dk1>
      <a:lt1>
        <a:srgbClr val="FFFFFF"/>
      </a:lt1>
      <a:dk2>
        <a:srgbClr val="3C3122"/>
      </a:dk2>
      <a:lt2>
        <a:srgbClr val="E2E5E8"/>
      </a:lt2>
      <a:accent1>
        <a:srgbClr val="B79D7A"/>
      </a:accent1>
      <a:accent2>
        <a:srgbClr val="C3988F"/>
      </a:accent2>
      <a:accent3>
        <a:srgbClr val="A3A37B"/>
      </a:accent3>
      <a:accent4>
        <a:srgbClr val="7CA8B8"/>
      </a:accent4>
      <a:accent5>
        <a:srgbClr val="91A1C4"/>
      </a:accent5>
      <a:accent6>
        <a:srgbClr val="857FBA"/>
      </a:accent6>
      <a:hlink>
        <a:srgbClr val="6582AC"/>
      </a:hlink>
      <a:folHlink>
        <a:srgbClr val="7F7F7F"/>
      </a:folHlink>
    </a:clrScheme>
    <a:fontScheme name="Custom 23">
      <a:majorFont>
        <a:latin typeface="Sagona Boo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2523</Words>
  <Application>Microsoft Office PowerPoint</Application>
  <PresentationFormat>Widescreen</PresentationFormat>
  <Paragraphs>146</Paragraphs>
  <Slides>25</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25</vt:i4>
      </vt:variant>
    </vt:vector>
  </HeadingPairs>
  <TitlesOfParts>
    <vt:vector size="36" baseType="lpstr">
      <vt:lpstr>Algerian</vt:lpstr>
      <vt:lpstr>Arial</vt:lpstr>
      <vt:lpstr>Arial,Sans-Serif</vt:lpstr>
      <vt:lpstr>Avenir Next LT Pro</vt:lpstr>
      <vt:lpstr>AvenirNext LT Pro Medium</vt:lpstr>
      <vt:lpstr>Calibri</vt:lpstr>
      <vt:lpstr>Calibri Light</vt:lpstr>
      <vt:lpstr>Sagona Book</vt:lpstr>
      <vt:lpstr>Segoe UI Semilight</vt:lpstr>
      <vt:lpstr>ExploreVTI</vt:lpstr>
      <vt:lpstr>Office Theme</vt:lpstr>
      <vt:lpstr>GLOBAL CITIZEN LEADERSHIP</vt:lpstr>
      <vt:lpstr>PowerPoint Presentation</vt:lpstr>
      <vt:lpstr>PowerPoint Presentation</vt:lpstr>
      <vt:lpstr>Problem Statement : Analyse What are the barriers of  Women Employment in Rural India ( Team Mejora )</vt:lpstr>
      <vt:lpstr>Barriers of women employment in rural India</vt:lpstr>
      <vt:lpstr>THE BARRIERS TO WOMEN’S EMPLOYMENT IN RURAL INDIA</vt:lpstr>
      <vt:lpstr>THE BARRIERS TO WOMEN’S EMPLOYMENT IN RURAL INDIA</vt:lpstr>
      <vt:lpstr>LINKAGE TO SUSTAINABLE DEVELOPMENT GOALS</vt:lpstr>
      <vt:lpstr>STAKE HOLDER MAPPING</vt:lpstr>
      <vt:lpstr>STAKE HOLDER MAPPING</vt:lpstr>
      <vt:lpstr>Stakeholder  Mapping </vt:lpstr>
      <vt:lpstr>USER JOURNEY MAP</vt:lpstr>
      <vt:lpstr>USER JOURNEY MAP</vt:lpstr>
      <vt:lpstr>PRIMARY RESEARCH PLAN</vt:lpstr>
      <vt:lpstr>RESEARCH OBJECTIVES </vt:lpstr>
      <vt:lpstr>RESEARCH METHOD</vt:lpstr>
      <vt:lpstr>SAMPLE SELECTION</vt:lpstr>
      <vt:lpstr>Areas with employment opportunities for rural women</vt:lpstr>
      <vt:lpstr>QUESTIONAIRES</vt:lpstr>
      <vt:lpstr>QUESTIONAIRE</vt:lpstr>
      <vt:lpstr>DATA COLLECTION </vt:lpstr>
      <vt:lpstr>DATA ANALYSIS</vt:lpstr>
      <vt:lpstr>INTERPRETATION AND REPORTING</vt:lpstr>
      <vt:lpstr>Various Initiatives taken to overcome the barriers</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harpreet khalsa</cp:lastModifiedBy>
  <cp:revision>85</cp:revision>
  <dcterms:created xsi:type="dcterms:W3CDTF">2023-01-30T16:25:47Z</dcterms:created>
  <dcterms:modified xsi:type="dcterms:W3CDTF">2023-02-07T18:35:58Z</dcterms:modified>
</cp:coreProperties>
</file>